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60" r:id="rId12"/>
    <p:sldId id="271" r:id="rId23"/>
    <p:sldId id="261" r:id="rId13"/>
    <p:sldId id="272" r:id="rId24"/>
    <p:sldId id="273" r:id="rId25"/>
    <p:sldId id="262" r:id="rId14"/>
    <p:sldId id="263" r:id="rId15"/>
    <p:sldId id="274" r:id="rId26"/>
    <p:sldId id="265" r:id="rId17"/>
    <p:sldId id="264" r:id="rId16"/>
    <p:sldId id="259" r:id="rId11"/>
    <p:sldId id="268" r:id="rId20"/>
    <p:sldId id="267" r:id="rId19"/>
    <p:sldId id="275" r:id="rId27"/>
    <p:sldId id="276" r:id="rId28"/>
    <p:sldId id="269" r:id="rId21"/>
    <p:sldId id="270" r:id="rId22"/>
    <p:sldId id="266" r:id="rId18"/>
    <p:sldId id="277" r:id="rId29"/>
    <p:sldId id="278" r:id="rId30"/>
    <p:sldId id="279" r:id="rId31"/>
    <p:sldId id="280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第1页 · 烟花秀 AI 全流程</a:t>
            </a:r>
          </a:p>
          <a:p>
            <a:r>
              <a:t>建议20秒；累计0:20</a:t>
            </a:r>
          </a:p>
          <a:p/>
          <a:p>
            <a:r>
              <a:t>大家好，我是____。今天分享我这一个多月做跨年烟花秀的过程。从做效果、进引擎到排节目，这三段我都请AI写了工具。我会先讲制作与编排遇到的问题，再讲工具设计、实践成果，以及最后沉淀下来的工作方法。</a:t>
            </a:r>
          </a:p>
          <a:p/>
          <a:p>
            <a:r>
              <a:t>【核验依据】</a:t>
            </a:r>
          </a:p>
          <a:p>
            <a:r>
              <a:t>交付/采访记录与需求梳理.md；用户第二版12条修改</a:t>
            </a:r>
          </a:p>
          <a:p>
            <a:r>
              <a:t>第二版逐页文稿_云端.md（3c929305；叙事参考，经本机核验后合稿）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第2页 · 资源规模与重复接入</a:t>
            </a:r>
          </a:p>
          <a:p>
            <a:r>
              <a:t>建议45秒；累计1:05</a:t>
            </a:r>
          </a:p>
          <a:p/>
          <a:p>
            <a:r>
              <a:t>先说资源量。这次跨年烟花3.0，按名称合并尺寸和分段后有26种开花花型，另有6档升空尾缀和一套窜天猴部件。手游包含其中12种开花，资源再按高配、中低配及部件分别组织。这批资源直接引用212张贴图和115个材质实例。每个版本都要走制作、两端导出、合入、创建和设置。重复操作多了，漏项和版本不一致也会增加，因此我把这一整段作为需要成批处理的问题。</a:t>
            </a:r>
          </a:p>
          <a:p/>
          <a:p>
            <a:r>
              <a:t>【核验依据】</a:t>
            </a:r>
          </a:p>
          <a:p>
            <a:r>
              <a:t>analysis/local/20261028_LiteHDR_手游贴图Mip/inventory.json</a:t>
            </a:r>
          </a:p>
          <a:p>
            <a:r>
              <a:t>reports/verify_A1_A2.md；A1库存口径复算</a:t>
            </a:r>
          </a:p>
          <a:p>
            <a:r>
              <a:t>analysis/local/_tmp/ppt2/me/tex_left.jpg；cas_emitters.jpg</a:t>
            </a:r>
          </a:p>
          <a:p>
            <a:r>
              <a:t>第二版逐页文稿_云端.md（3c929305；叙事参考，经本机核验后合稿）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第13页 · 复杂火星与仙女棒</a:t>
            </a:r>
          </a:p>
          <a:p>
            <a:r>
              <a:t>建议55秒；累计10:35</a:t>
            </a:r>
          </a:p>
          <a:p/>
          <a:p>
            <a:r>
              <a:t>复杂火星放到经验沉淀里讲，更能看清思路的变化。仙女棒13类火星的基础来自我原来的Blender V05，AI把它迁入通用亲子粒子图，再按参考和运动分析修订。子粒在母粒事件发生的位置出生，继承一部分速度，形成一级、延迟与二级分叉；快门积分与深度散焦共同形成清晰和模糊的层次。这些复杂度在烘焙时合成。核对当前候选实包，PC和手游各一张64帧主序列、一个CPU面片发射器，此外仍有Ramp和Cutout。图上是导出包回放和运动修订对照，还不能称为UE实机效果。</a:t>
            </a:r>
          </a:p>
          <a:p/>
          <a:p>
            <a:r>
              <a:t>【核验依据】</a:t>
            </a:r>
          </a:p>
          <a:p>
            <a:r>
              <a:t>analysis/原理/窜天猴与仙女棒.md</a:t>
            </a:r>
          </a:p>
          <a:p>
            <a:r>
              <a:t>analysis/results/SparkGraph/来源.json</a:t>
            </a:r>
          </a:p>
          <a:p>
            <a:r>
              <a:t>analysis/results/GraphFraming/SGS1/candidate/Sparkler_Graph.zip</a:t>
            </a:r>
          </a:p>
          <a:p>
            <a:r>
              <a:t>analysis/results/SparklerControls/看法.md；reports/verify_A4.md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第3页 · 从手工排轨到可视化编排</a:t>
            </a:r>
          </a:p>
          <a:p>
            <a:r>
              <a:t>建议55秒；累计2:00</a:t>
            </a:r>
          </a:p>
          <a:p/>
          <a:p>
            <a:r>
              <a:t>第二个问题是编排。去年是在定序器里手工拼，每发烟花都带着粒子、附加、位移和声音等轨道。现有工程里有12条子序列、2726条轨道，改一处节奏就要重新匹配多条。性能组也反馈过PC与手游的内存占用过高。今年希望做更大的一场秀，候选节目达到219.5秒、24个点位，还要按两个平台分档。版本时间又紧，我和程序更新了导演蓝图，但直接维护三张表仍不直观，于是继续开发可视化、程序化的编排工作台。</a:t>
            </a:r>
          </a:p>
          <a:p/>
          <a:p>
            <a:r>
              <a:t>【核验依据】</a:t>
            </a:r>
          </a:p>
          <a:p>
            <a:r>
              <a:t>analysis/local/20261029_分享PPT-本机_UE截图/q_seq.json</a:t>
            </a:r>
          </a:p>
          <a:p>
            <a:r>
              <a:t>交付/采访记录与需求梳理.md 采访2/6/10</a:t>
            </a:r>
          </a:p>
          <a:p>
            <a:r>
              <a:t>FXtools/节目/NewYearFireWorks_v01/NewYearFireWorks_v01-B11修订3-收尾金垂柳.dfshow；B11修订3-收尾金垂柳编排检查.json</a:t>
            </a:r>
          </a:p>
          <a:p>
            <a:r>
              <a:t>第二版逐页文稿_云端.md（3c929305；叙事参考，经本机核验后合稿）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第5页 · 三段工具流水线</a:t>
            </a:r>
          </a:p>
          <a:p>
            <a:r>
              <a:t>建议45秒；累计3:40</a:t>
            </a:r>
          </a:p>
          <a:p/>
          <a:p>
            <a:r>
              <a:t>我把一场秀拆成做效果、进引擎和排节目三段。烘焙器模拟并导出PC与手游素材；导入器的灵感来自之前特效工作台的配表入口，读取素材包后检查、创建和设置资源；编排工作台把音乐、点位和模板组织成导演表。UE里的导演蓝图由我和程序共同设计，按子模板、模板与时序三组数据播放。三段用固定格式衔接，改动后可以重新生成相关环节，问题也能具体定位到模拟、导出、导入或编排。</a:t>
            </a:r>
          </a:p>
          <a:p/>
          <a:p>
            <a:r>
              <a:t>【核验依据】</a:t>
            </a:r>
          </a:p>
          <a:p>
            <a:r>
              <a:t>对话记录/对话框点位架构.md</a:t>
            </a:r>
          </a:p>
          <a:p>
            <a:r>
              <a:t>spec/cascade_params_v1.md</a:t>
            </a:r>
          </a:p>
          <a:p>
            <a:r>
              <a:t>spec/workspace_resource_v1.md</a:t>
            </a:r>
          </a:p>
          <a:p>
            <a:r>
              <a:t>第二版考证/A3_编排推导链.md</a:t>
            </a:r>
          </a:p>
          <a:p>
            <a:r>
              <a:t>第二版逐页文稿_云端.md（3c929305；叙事参考，经本机核验后合稿）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第8页 · 个人角色与AI负责人体系</a:t>
            </a:r>
          </a:p>
          <a:p>
            <a:r>
              <a:t>建议65秒；累计6:35</a:t>
            </a:r>
          </a:p>
          <a:p/>
          <a:p>
            <a:r>
              <a:t>这次我一个人贯穿了需求、制作、美术判断、资产验证、编排和工具产品这些角色。我的重点是确定方向、协调约束、判断质量和接续结果。AI负责人按效果、工具底层和编排分工，总管汇总进度，本机执行者与显卡后台完成导出和重计算。会话中断就写交接，多负责人状态对不上就统一状态清单，共享文件先认领。这一版累计约2200次项目提交，其中352次是显卡后台自动回传；烘焙器接近200个版本号，覆盖功能、配方与修复。导演蓝图由我和程序共同设计，贴图规范与性能组共同确定。</a:t>
            </a:r>
          </a:p>
          <a:p/>
          <a:p>
            <a:r>
              <a:t>【核验依据】</a:t>
            </a:r>
          </a:p>
          <a:p>
            <a:r>
              <a:t>git log 基线 fffafe28；reports/verify_A1_A2.md</a:t>
            </a:r>
          </a:p>
          <a:p>
            <a:r>
              <a:t>协作/状态清单.json；CLAUDE.md 分工与同步</a:t>
            </a:r>
          </a:p>
          <a:p>
            <a:r>
              <a:t>交付/采访记录与需求梳理.md</a:t>
            </a:r>
          </a:p>
          <a:p>
            <a:r>
              <a:t>第二版逐页文稿_云端.md（3c929305；叙事参考，经本机核验后合稿）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第9页 · 效果与铺量</a:t>
            </a:r>
          </a:p>
          <a:p>
            <a:r>
              <a:t>建议40秒；累计7:15</a:t>
            </a:r>
          </a:p>
          <a:p/>
          <a:p>
            <a:r>
              <a:t>先看已有画面。上面是UE里的金色扇面，下面是导出贴图的引擎回放。26种库存开花里，20种保留了烘焙器导出材料，其中19种有回执或不可变修订，另一种保留了旧导出包。这里按库存花型统计，包含素材复用。资源量产的价值在于留下完整配方，能反复调整并输出两端素材。单独效果与整场构图分别查看，仙女棒当前展示仍是包回放，UE观感还待验收。</a:t>
            </a:r>
          </a:p>
          <a:p/>
          <a:p>
            <a:r>
              <a:t>【核验依据】</a:t>
            </a:r>
          </a:p>
          <a:p>
            <a:r>
              <a:t>素材/03_UE跨年秀_金色扇面.jpg</a:t>
            </a:r>
          </a:p>
          <a:p>
            <a:r>
              <a:t>交付/img/p08_row.jpg</a:t>
            </a:r>
          </a:p>
          <a:p>
            <a:r>
              <a:t>reports/verify_A1_A2.md；verify_A3_A5_A6.md；verify_A4.md</a:t>
            </a:r>
          </a:p>
          <a:p>
            <a:r>
              <a:t>第二版逐页文稿_云端.md（3c929305；叙事参考，经本机核验后合稿）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第12页 · 批量接入与规范化</a:t>
            </a:r>
          </a:p>
          <a:p>
            <a:r>
              <a:t>建议45秒；累计9:40</a:t>
            </a:r>
          </a:p>
          <a:p/>
          <a:p>
            <a:r>
              <a:t>资源接入这一段，重点是省去反复创建和逐项设置。已有批量修正记录中，149张贴图按规范重设后读回一致；另外115个包，包含48个粒子系统和67个材质实例，修正后读回没有错误。共用资源单独核对，避免影响其他内容。导入器先检查素材包，再按平台创建和设置，最后读回核对。资源修改后可以沿相同流程重新接入，结果按批次留下记录，再进入实际画面验收。</a:t>
            </a:r>
          </a:p>
          <a:p/>
          <a:p>
            <a:r>
              <a:t>【核验依据】</a:t>
            </a:r>
          </a:p>
          <a:p>
            <a:r>
              <a:t>analysis/results/TEX_SPEC_20261018/verify.json</a:t>
            </a:r>
          </a:p>
          <a:p>
            <a:r>
              <a:t>analysis/results/资源规范统一_20261016/改后读回.json</a:t>
            </a:r>
          </a:p>
          <a:p>
            <a:r>
              <a:t>交付/img/p09_importer.jpg；spec/cascade_params_v1.md</a:t>
            </a:r>
          </a:p>
          <a:p>
            <a:r>
              <a:t>第二版逐页文稿_云端.md（3c929305；叙事参考，经本机核验后合稿）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第11页 · 程序化可视编排</a:t>
            </a:r>
          </a:p>
          <a:p>
            <a:r>
              <a:t>建议55秒；累计8:55</a:t>
            </a:r>
          </a:p>
          <a:p/>
          <a:p>
            <a:r>
              <a:t>编排工作台把音乐、点位、模板和时序放进同一个可视入口，导出导演蓝图需要的三张表。B系列经历11个大版本、38份存档和37次云端发布。同一份编排按平台和高、中、低档筛选，PC播放次数是1145、852和438，手游是448、349和181。这样修改节奏、替换资源和分档输出都有了共同入口。每一版还检查资源引用、档位嵌套、重叠、节拍和预算，检查结果为继续调整提供依据；当前候选仍有节拍指标需要改进。</a:t>
            </a:r>
          </a:p>
          <a:p/>
          <a:p>
            <a:r>
              <a:t>【核验依据】</a:t>
            </a:r>
          </a:p>
          <a:p>
            <a:r>
              <a:t>FXtools/节目/NewYearFireWorks_v01/B11修订3-收尾金垂柳编排检查.json</a:t>
            </a:r>
          </a:p>
          <a:p>
            <a:r>
              <a:t>协作/编排B01/体检_B11r3.json</a:t>
            </a:r>
          </a:p>
          <a:p>
            <a:r>
              <a:t>reports/verify_A3_A5_A6.md</a:t>
            </a:r>
          </a:p>
          <a:p>
            <a:r>
              <a:t>第二版逐页文稿_云端.md（3c929305；叙事参考，经本机核验后合稿）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第20页 · 可选录屏插入页</a:t>
            </a:r>
          </a:p>
          <a:p>
            <a:r>
              <a:t>附录</a:t>
            </a:r>
          </a:p>
          <a:p/>
          <a:p>
            <a:r>
              <a:t>本页默认隐藏。录屏待提供后插入原有区域，按选案例调参、引擎回放、导出两端、检查导入和UE播放五步展示。实际用时根据录像填写。主线当前不包含这段时长；若加入两分钟录像，总时长仍控制在二十分钟以内。</a:t>
            </a:r>
          </a:p>
          <a:p/>
          <a:p>
            <a:r>
              <a:t>【核验依据】</a:t>
            </a:r>
          </a:p>
          <a:p>
            <a:r>
              <a:t>交付/采访记录与需求梳理.md 第八节录屏分镜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第15页 · 模糊与方头的受控对比</a:t>
            </a:r>
          </a:p>
          <a:p>
            <a:r>
              <a:t>建议60秒；累计12:30</a:t>
            </a:r>
          </a:p>
          <a:p/>
          <a:p>
            <a:r>
              <a:t>模糊和方头一开始很容易混在一起。我和AI用了多轮排查，把相同机位、相同档位、同时播放的对比留下来。长条格在压扁后可能按压缩方向选择较低Mip，星头就出现方头；另一个问题是首次激活时贴图分辨率还没到位，开花先糊后清。图中是已有UE受控对比，能看到现状与NoMip的差别。最后的规则要按平台区分：PC主序列NoMip；手游收到内存反馈后保留常规Mip和流送，最大1024。这里讲的是画质和资源管理的取舍，没有据此宣称所有设备的性能都通过。</a:t>
            </a:r>
          </a:p>
          <a:p/>
          <a:p>
            <a:r>
              <a:t>【核验依据】</a:t>
            </a:r>
          </a:p>
          <a:p>
            <a:r>
              <a:t>analysis/results/LOWQ_FIX_20261018/方案与对比.md</a:t>
            </a:r>
          </a:p>
          <a:p>
            <a:r>
              <a:t>analysis/results/LOWQ_FIX_20261018/升空_现状对NoMip_低档.jpg</a:t>
            </a:r>
          </a:p>
          <a:p>
            <a:r>
              <a:t>analysis/results/LOWQ_FIX_20261018/金芒菊_绽放局部放大_低档.jpg</a:t>
            </a:r>
          </a:p>
          <a:p>
            <a:r>
              <a:t>CLAUDE.md 引擎硬约束；reports/verify_A4.md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第14页 · 尾缀近远段与帧预算</a:t>
            </a:r>
          </a:p>
          <a:p>
            <a:r>
              <a:t>建议55秒；累计11:30</a:t>
            </a:r>
          </a:p>
          <a:p/>
          <a:p>
            <a:r>
              <a:t>尾缀的近段和远段，指火星离开弹体后的不同年龄，不是相机远近的LOD切换。近段随弹体循环，远段用一次性序列表现老火星在世界中的运动，原方案另外还有GPU火花。实际历史快照里，PC的S、M、L和主角档启用了两个发射器，不能把它说成一个层。卡顿的判断也从感觉转成量化：用游戏视距把星速换算成屏幕位移，在30fps整数tick上分配帧数。0.77像素来自项目里看过流畅的样本，是经验标定。近看更容易看到有限帧数与长条格清晰度的代价，因此还要按真实观看条件验收。</a:t>
            </a:r>
          </a:p>
          <a:p/>
          <a:p>
            <a:r>
              <a:t>【核验依据】</a:t>
            </a:r>
          </a:p>
          <a:p>
            <a:r>
              <a:t>analysis/原理/升空尾缀.md §RT6</a:t>
            </a:r>
          </a:p>
          <a:p>
            <a:r>
              <a:t>tool/CHANGELOG.md 4.9.26/4.9.31</a:t>
            </a:r>
          </a:p>
          <a:p>
            <a:r>
              <a:t>tool/src/js/31_plan40.js</a:t>
            </a:r>
          </a:p>
          <a:p>
            <a:r>
              <a:t>FXtools/节目/NewYearFireWorks_v01/资源发射器数.json；reports/verify_A4.md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第18页 · 可复用的方法</a:t>
            </a:r>
          </a:p>
          <a:p>
            <a:r>
              <a:t>建议50秒；累计15:20</a:t>
            </a:r>
          </a:p>
          <a:p/>
          <a:p>
            <a:r>
              <a:t>把这些经验收拢起来，我保留了五步方法。第一，规则成文，先写目标、限制和验收。第二，原理先行，把视觉特征拆成模拟结构与引擎输出要求。第三，机器检查，标准检查、回放检查与合入门禁分别把关。第四，状态分开，执行结束、AI自检和用户通过分别记录。第五，锁版本复用，通过的资源保留配方与不可变修订，后续派生继续沿用同一套规则。同事可以先从一件重复设置开始，把输入、标准和检查结果写清楚，再逐步扩展到效果制作或编排。</a:t>
            </a:r>
          </a:p>
          <a:p/>
          <a:p>
            <a:r>
              <a:t>【核验依据】</a:t>
            </a:r>
          </a:p>
          <a:p>
            <a:r>
              <a:t>CLAUDE.md 做效果/记录/锁版本</a:t>
            </a:r>
          </a:p>
          <a:p>
            <a:r>
              <a:t>协作/标准.md</a:t>
            </a:r>
          </a:p>
          <a:p>
            <a:r>
              <a:t>spec/workspace_resource_v1.md</a:t>
            </a:r>
          </a:p>
          <a:p>
            <a:r>
              <a:t>第二版逐页文稿_云端.md（3c929305；叙事参考，经本机核验后合稿）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第19页 · 工具使用与获取</a:t>
            </a:r>
          </a:p>
          <a:p>
            <a:r>
              <a:t>建议40秒；累计16:00</a:t>
            </a:r>
          </a:p>
          <a:p/>
          <a:p>
            <a:r>
              <a:t>三个工具分别对应效果制作、资源接入和节目编排。烘焙器从案例开始修改，导入器需要UE插件和本机交付服务，编排工作台用离线页面维护节目。工具包我会放在xx处，第一次导入请在测试工程进行。现有对外包包含烘焙器和案例，导入器与编排工作台需要补齐后再一并分享。可选操作录屏的分镜与插入位保留在附录。这次的案例主要是想分享一种工作方式：从具体问题出发，让AI参与实现，再把可检查、可复用的结果留下来。谢谢大家。</a:t>
            </a:r>
          </a:p>
          <a:p/>
          <a:p>
            <a:r>
              <a:t>【核验依据】</a:t>
            </a:r>
          </a:p>
          <a:p>
            <a:r>
              <a:t>交付/采访记录与需求梳理.md 工具包现状</a:t>
            </a:r>
          </a:p>
          <a:p>
            <a:r>
              <a:t>协作/派活队列.json T24</a:t>
            </a:r>
          </a:p>
          <a:p>
            <a:r>
              <a:t>第二版进度与Claude-Codex分工.md</a:t>
            </a:r>
          </a:p>
          <a:p>
            <a:r>
              <a:t>第二版逐页文稿_云端.md（3c929305；叙事参考，经本机核验后合稿）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第4页 · Blender到专用烘焙器</a:t>
            </a:r>
          </a:p>
          <a:p>
            <a:r>
              <a:t>建议55秒；累计2:55</a:t>
            </a:r>
          </a:p>
          <a:p/>
          <a:p>
            <a:r>
              <a:t>我的起点是之前的Blender烟花工程。那里已经积累了素材、分层结构和物理运动经验，也暴露出一些交付问题：改一轮要等待渲染，视口与最终输出有差异，规格和容量还要反复确认。后来我重新聚焦这次需求：游戏最终播放的是朝向镜头的面片，重点是从舞台与视距出发交付可用素材。我把制作入口收束成面向二维游戏视角的烘焙器，同时保留粒子空间与深度信息，让实时模拟、取帧、实际导出包回放和输出规格能在一个入口中核对。</a:t>
            </a:r>
          </a:p>
          <a:p/>
          <a:p>
            <a:r>
              <a:t>【核验依据】</a:t>
            </a:r>
          </a:p>
          <a:p>
            <a:r>
              <a:t>D:/Blender/Firework_FX_Lab/work/material_library/18_雏形FireWorksLab对照与根因.md</a:t>
            </a:r>
          </a:p>
          <a:p>
            <a:r>
              <a:t>D:/Blender/Firework_FX_Lab/work/material_library/18_雏形FireWorksLab对照与根因.md</a:t>
            </a:r>
          </a:p>
          <a:p>
            <a:r>
              <a:t>reports/verify_A1_A2.md；第二版考证/A2_Blender起点与协作.md</a:t>
            </a:r>
          </a:p>
          <a:p>
            <a:r>
              <a:t>第二版逐页文稿_云端.md（3c929305；叙事参考，经本机核验后合稿）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第6页 · 舞台与点位</a:t>
            </a:r>
          </a:p>
          <a:p>
            <a:r>
              <a:t>建议50秒；累计4:30</a:t>
            </a:r>
          </a:p>
          <a:p/>
          <a:p>
            <a:r>
              <a:t>编排先从舞台开始。我给出的初始设计约800米宽、150米高，按100米左右的点距，先设9个主点，再补8个中间点和7个前台点。花型大小并不是凭贴图尺寸猜，而是按花径与点距的关系判断构图。游戏视距800到1200米、四尺玉约占屏高三分之一，则用于贴图分辨率与画面大小的校准。这是两套相关但用途不同的约束。后来的UE记录发现实机点距和机位与设计不同，大花可能碰到画面上沿，因此规范需要有实机校正，不能把设计示意当成测量结果。</a:t>
            </a:r>
          </a:p>
          <a:p/>
          <a:p>
            <a:r>
              <a:t>【核验依据】</a:t>
            </a:r>
          </a:p>
          <a:p>
            <a:r>
              <a:t>对话记录/对话框22.md</a:t>
            </a:r>
          </a:p>
          <a:p>
            <a:r>
              <a:t>协作/跨年秀编排宪章.md</a:t>
            </a:r>
          </a:p>
          <a:p>
            <a:r>
              <a:t>协作/标准.md §2.1</a:t>
            </a:r>
          </a:p>
          <a:p>
            <a:r>
              <a:t>reports/verify_A3_A5_A6.md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第7页 · 构图推导与宪章</a:t>
            </a:r>
          </a:p>
          <a:p>
            <a:r>
              <a:t>建议60秒；累计5:30</a:t>
            </a:r>
          </a:p>
          <a:p/>
          <a:p>
            <a:r>
              <a:t>有了点距，就能讨论花在画面里的相互关系。参考量比里，花径与点距约一点五倍时仍分得清，两倍多可以形成花墙，继续扩大就容易糊。结合整体缩放和舞台容纳范围，方案采用S、M、L与主角分级，并给出对应开花高度。这里的90、150、230与280米是构图目标，不能理解成所有资源天然等大。再按高度输出尾缀档位、维护尺寸表，把重叠、同刻发射和GPU预算写入编排宪章。这样后续更改有共同依据。但宪章目标不等于全部达成，候选版的节拍指标仍有差距，完整性能也需要目标机验证。</a:t>
            </a:r>
          </a:p>
          <a:p/>
          <a:p>
            <a:r>
              <a:t>【核验依据】</a:t>
            </a:r>
          </a:p>
          <a:p>
            <a:r>
              <a:t>协作/跨年秀编排宪章.md v2.15</a:t>
            </a:r>
          </a:p>
          <a:p>
            <a:r>
              <a:t>对话记录/对话框22.md；第二版考证/A3_编排推导链.md</a:t>
            </a:r>
          </a:p>
          <a:p>
            <a:r>
              <a:t>协作/编排B01/体检_B11r3.json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第10页 · 输出数量与统计边界</a:t>
            </a:r>
          </a:p>
          <a:p>
            <a:r>
              <a:t>建议45秒；累计8:00</a:t>
            </a:r>
          </a:p>
          <a:p/>
          <a:p>
            <a:r>
              <a:t>现有结果目录能找到466份导出清单。按这些记录累计，PC主序列输出952次，手游1019次，合计1971次；另有852次Ramp、1196次Cutout和3次单帧，共4022次素材PNG输出，155张检查图另外统计。这些数量覆盖多个修改版本，反映反复制作与输出的过程；最终独立资产按库存另计。当前UE引用的212张贴图和这里的累计产出，分别回答最后留下多少资源、过程中输出了多少内容。</a:t>
            </a:r>
          </a:p>
          <a:p/>
          <a:p>
            <a:r>
              <a:t>【核验依据】</a:t>
            </a:r>
          </a:p>
          <a:p>
            <a:r>
              <a:t>analysis/local/_tmp/ppt2/a1/exp/manrows.json</a:t>
            </a:r>
          </a:p>
          <a:p>
            <a:r>
              <a:t>analysis/local/_tmp/ppt2/a1/exp/all_tex_names.json</a:t>
            </a:r>
          </a:p>
          <a:p>
            <a:r>
              <a:t>reports/verify_A1_A2.md；466清单与4177PNG复核</a:t>
            </a:r>
          </a:p>
          <a:p>
            <a:r>
              <a:t>第二版逐页文稿_云端.md（3c929305；叙事参考，经本机核验后合稿）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第16页 · 黑点与Ramp末格黑块</a:t>
            </a:r>
          </a:p>
          <a:p>
            <a:r>
              <a:t>建议65秒；累计13:35</a:t>
            </a:r>
          </a:p>
          <a:p/>
          <a:p>
            <a:r>
              <a:t>黑点和末格黑块需要分别处理。黑点的旧导出把淡出写在RGB，Alpha仍为一，颜色变黑后仍会遮挡。新导出保持RGB色相与亮度，把淡出和闪烁写进Alpha，再增加Scale Color/Life。左侧是两版真实导出参数，现有材料没有UE成对图。另一类是Ramp末格黑块：最亮采样触到黑末格可以解释其形成机制，用户确认EmissiveDissolve设为零点九八后有效，导出和导入都已写入这条规则。右侧分别展示诊断机制图和单侧修后UE画面。</a:t>
            </a:r>
          </a:p>
          <a:p/>
          <a:p>
            <a:r>
              <a:t>【核验依据】</a:t>
            </a:r>
          </a:p>
          <a:p>
            <a:r>
              <a:t>analysis/results/RT6LE3/RiseTailL_cascade.json</a:t>
            </a:r>
          </a:p>
          <a:p>
            <a:r>
              <a:t>analysis/results/RT6LE4/RiseTailL_cascade.json</a:t>
            </a:r>
          </a:p>
          <a:p>
            <a:r>
              <a:t>analysis/results/UE_READBACK_20261015/看法.md</a:t>
            </a:r>
          </a:p>
          <a:p>
            <a:r>
              <a:t>对话记录/对话框23.md:507/511/515</a:t>
            </a:r>
          </a:p>
          <a:p>
            <a:r>
              <a:t>tool/src/js/62_resource_rules.js；reports/verify_A4.md</a:t>
            </a:r>
          </a:p>
          <a:p>
            <a:r>
              <a:t>第二版逐页文稿_云端.md（3c929305；叙事参考，经本机核验后合稿）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第17页 · 参数体验与设计系统</a:t>
            </a:r>
          </a:p>
          <a:p>
            <a:r>
              <a:t>建议55秒；累计14:30</a:t>
            </a:r>
          </a:p>
          <a:p/>
          <a:p>
            <a:r>
              <a:t>参数多以后，界面本身也成了制作问题。我希望它延续已有DF特效工作台的风格，并且能真正使用。参数宪章先明确每个参数是在表达物理量、引擎字段还是预览设置，交互宪章再约束入口、状态和反馈。调了不生效的参数要变灰并说明原因。设计令牌则从已有生产界面反推颜色等基础值，再同步到编排工作台和导入器。当前落地程度需要如实说：配色已经共享，组件、字阶与形状还在逐步收口，V5隔离稿不当作正式版本。这些规则让多位AI继续工作时有共同依据。</a:t>
            </a:r>
          </a:p>
          <a:p/>
          <a:p>
            <a:r>
              <a:t>【核验依据】</a:t>
            </a:r>
          </a:p>
          <a:p>
            <a:r>
              <a:t>协作/参数宪章.md；协作/交互宪章.md</a:t>
            </a:r>
          </a:p>
          <a:p>
            <a:r>
              <a:t>tool/design-system/tokens.json v0.1.1</a:t>
            </a:r>
          </a:p>
          <a:p>
            <a:r>
              <a:t>analysis/results/20261028_V5视觉交互复核/看法.md</a:t>
            </a:r>
          </a:p>
          <a:p>
            <a:r>
              <a:t>reports/verify_A3_A5_A6.md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第21页 · 尾缀计算与版本依据</a:t>
            </a:r>
          </a:p>
          <a:p>
            <a:r>
              <a:t>附录</a:t>
            </a:r>
          </a:p>
          <a:p/>
          <a:p>
            <a:r>
              <a:t>0.77像素是本项目通过既有样本得到的经验线，不是普适视觉阈值。屏幕位移积分中的速度来自模型；不同距离、分辨率、画面比例要重新换算。4.9.26和4.9.31是两轮不同的帧分配，不能混成一组数据。帧数增加也伴随单格高度变化，需要保留近看更软的代价。近远段是火星年龄与表示方式的拆分，GPU火花按独立预算管理。</a:t>
            </a:r>
          </a:p>
          <a:p/>
          <a:p>
            <a:r>
              <a:t>【核验依据】</a:t>
            </a:r>
          </a:p>
          <a:p>
            <a:r>
              <a:t>tool/src/js/31_plan40.js:366-392</a:t>
            </a:r>
          </a:p>
          <a:p>
            <a:r>
              <a:t>tool/CHANGELOG.md 4.9.26/4.9.31</a:t>
            </a:r>
          </a:p>
          <a:p>
            <a:r>
              <a:t>analysis/原理/升空尾缀.md；reports/verify_A4.md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第22页 · 仙女棒结构与导出实包</a:t>
            </a:r>
          </a:p>
          <a:p>
            <a:r>
              <a:t>附录</a:t>
            </a:r>
          </a:p>
          <a:p/>
          <a:p>
            <a:r>
              <a:t>13层来源是Blender V05。母粒与子粒通过事件位置和部分速度继承保持关联；模糊、清晰的层次来自粒子深度与成像。快门积分和景深按资源例外烘入，默认关闭。当前候选包PC与手游各一个CPU发射器和一张64帧主序列；“一张”不包含Ramp、Cutout。此结构已经直接读包核实，UE朝向、Bloom、压缩和审美仍待验证。</a:t>
            </a:r>
          </a:p>
          <a:p/>
          <a:p>
            <a:r>
              <a:t>【核验依据】</a:t>
            </a:r>
          </a:p>
          <a:p>
            <a:r>
              <a:t>D:/Blender/Firework_FX_Lab/assets/Sparkler/V05/parameters.json</a:t>
            </a:r>
          </a:p>
          <a:p>
            <a:r>
              <a:t>analysis/results/GraphFraming/SGS1/candidate/Sparkler_Graph.zip</a:t>
            </a:r>
          </a:p>
          <a:p>
            <a:r>
              <a:t>analysis/results/SparkGraph/来源.json</a:t>
            </a:r>
          </a:p>
          <a:p>
            <a:r>
              <a:t>reports/verify_A4.md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第23页 · 答疑证据边界</a:t>
            </a:r>
          </a:p>
          <a:p>
            <a:r>
              <a:t>附录</a:t>
            </a:r>
          </a:p>
          <a:p/>
          <a:p>
            <a:r>
              <a:t>本页用于答疑。库存与过程输出不能相加，重复版本不能当成独立效果。B11r3节拍目标尚有差距，预算检查不等于实机性能测试。黑点与黑块没有UE成对截图，缺证据部分已经说明。工具包和录屏是演讲前需要讲者处理的实际事项。</a:t>
            </a:r>
          </a:p>
          <a:p/>
          <a:p>
            <a:r>
              <a:t>【核验依据】</a:t>
            </a:r>
          </a:p>
          <a:p>
            <a:r>
              <a:t>reports/verify_A1_A2.md</a:t>
            </a:r>
          </a:p>
          <a:p>
            <a:r>
              <a:t>reports/verify_A3_A5_A6.md</a:t>
            </a:r>
          </a:p>
          <a:p>
            <a:r>
              <a:t>reports/verify_A4.md</a:t>
            </a:r>
          </a:p>
          <a:p>
            <a:r>
              <a:t>交付/采访记录与需求梳理.md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第24页 · 模糊与方头排查经过</a:t>
            </a:r>
          </a:p>
          <a:p>
            <a:r>
              <a:t>附录</a:t>
            </a:r>
          </a:p>
          <a:p/>
          <a:p>
            <a:r>
              <a:t>早期轮次曾强调半透明降分辨率，但这不能解释全部现象。后续轮次分别隔离各向异性、主序列Mip与Ramp，最终使用实际PerfGear低档同机位同时播放现状和NoMip，分别定位形状采样和初次流送。各轮设置不同，因此不能把早期默认低档和后续实际低档的数据拼成同一次测试。当前PC、手游的规则又因内存取舍分开，必须以现行规范说明。</a:t>
            </a:r>
          </a:p>
          <a:p/>
          <a:p>
            <a:r>
              <a:t>【核验依据】</a:t>
            </a:r>
          </a:p>
          <a:p>
            <a:r>
              <a:t>analysis/results/LOWQ_FIX_20261018/方案与对比.md</a:t>
            </a:r>
          </a:p>
          <a:p>
            <a:r>
              <a:t>analysis/results/QUALITY_BLUR_20261016/看法.md</a:t>
            </a:r>
          </a:p>
          <a:p>
            <a:r>
              <a:t>analysis/results/QUALITY_BLUR_20261017/修复与影响.md</a:t>
            </a:r>
          </a:p>
          <a:p>
            <a:r>
              <a:t>reports/verify_A4.md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0.jpg"/><Relationship Id="rId5" Type="http://schemas.openxmlformats.org/officeDocument/2006/relationships/image" Target="../media/image2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notesSlide" Target="../notesSlides/notesSlide4.xml"/><Relationship Id="rId6" Type="http://schemas.openxmlformats.org/officeDocument/2006/relationships/image" Target="../media/image27.jpg"/><Relationship Id="rId7" Type="http://schemas.openxmlformats.org/officeDocument/2006/relationships/image" Target="../media/image28.jpg"/><Relationship Id="rId8" Type="http://schemas.openxmlformats.org/officeDocument/2006/relationships/image" Target="../media/image2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2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notesSlide" Target="../notesSlides/notesSlide8.xml"/><Relationship Id="rId5" Type="http://schemas.openxmlformats.org/officeDocument/2006/relationships/image" Target="../media/image25.jpg"/><Relationship Id="rId6" Type="http://schemas.openxmlformats.org/officeDocument/2006/relationships/image" Target="../media/image2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notesSlide" Target="../notesSlides/notesSlide12.xml"/><Relationship Id="rId5" Type="http://schemas.openxmlformats.org/officeDocument/2006/relationships/image" Target="../media/image31.jpg"/><Relationship Id="rId6" Type="http://schemas.openxmlformats.org/officeDocument/2006/relationships/image" Target="../media/image32.jpg"/><Relationship Id="rId7" Type="http://schemas.openxmlformats.org/officeDocument/2006/relationships/image" Target="../media/image33.jpg"/><Relationship Id="rId8" Type="http://schemas.openxmlformats.org/officeDocument/2006/relationships/image" Target="../media/image3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3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 descr="p01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55400" y="6527800"/>
            <a:ext cx="6604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ource_tag"/>
          <p:cNvSpPr txBox="1"/>
          <p:nvPr/>
        </p:nvSpPr>
        <p:spPr>
          <a:xfrm>
            <a:off x="11455400" y="6527800"/>
            <a:ext cx="6604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示意图</a:t>
            </a:r>
          </a:p>
        </p:txBody>
      </p:sp>
      <p:sp>
        <p:nvSpPr>
          <p:cNvPr id="7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76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VFX 组内分享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435100"/>
            <a:ext cx="8255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439"/>
              </a:lnSpc>
            </a:pPr>
            <a:r>
              <a:rPr sz="5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烟花秀</a:t>
            </a:r>
            <a:r>
              <a:rPr sz="5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5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5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5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全流程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451100"/>
            <a:ext cx="6985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烟花烘焙器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导入器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烟花编排工作台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819400"/>
            <a:ext cx="6985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</a:pPr>
            <a:r>
              <a:rPr sz="14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从素材制作、资源交付到整场编排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3327400"/>
            <a:ext cx="457200" cy="38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4546600"/>
            <a:ext cx="2032000" cy="6350"/>
          </a:xfrm>
          <a:prstGeom prst="rect">
            <a:avLst/>
          </a:prstGeom>
          <a:solidFill>
            <a:srgbClr val="F5F5F5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4673600"/>
            <a:ext cx="279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736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问题与约束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965700"/>
            <a:ext cx="279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800" y="49657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5257800"/>
            <a:ext cx="279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52578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实践成果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5549900"/>
            <a:ext cx="279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800" y="55499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经验沉淀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5842000"/>
            <a:ext cx="279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800" y="58420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复用与分享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问题与约束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资源量上来后，制作与接入都要成批处理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3619500" cy="1001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300"/>
              </a:lnSpc>
            </a:pPr>
            <a:r>
              <a:rPr sz="7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378710"/>
            <a:ext cx="3619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种开花花型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合并尺寸后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717800"/>
            <a:ext cx="5461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1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6</a:t>
            </a:r>
            <a:r>
              <a:rPr sz="1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档升空尾缀</a:t>
            </a:r>
            <a:r>
              <a:rPr sz="1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+</a:t>
            </a:r>
            <a:r>
              <a:rPr sz="1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</a:t>
            </a:r>
            <a:r>
              <a:rPr sz="1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套窜天猴部件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302000"/>
            <a:ext cx="5715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5"/>
              </a:lnSpc>
            </a:pP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手游包含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12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种开花；高、中低档与部件</a:t>
            </a:r>
            <a:br/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分别记资源，不能当成花型数。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4102100"/>
            <a:ext cx="5905500" cy="6350"/>
          </a:xfrm>
          <a:prstGeom prst="rect">
            <a:avLst/>
          </a:prstGeom>
          <a:solidFill>
            <a:srgbClr val="F5F5F5">
              <a:alpha val="1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4318000"/>
            <a:ext cx="5842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20"/>
              </a:lnSpc>
            </a:pPr>
            <a:r>
              <a:rPr sz="3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212</a:t>
            </a:r>
            <a:r>
              <a:rPr sz="15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张引用贴图</a:t>
            </a:r>
            <a:r>
              <a:rPr sz="15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  </a:t>
            </a:r>
            <a:r>
              <a:rPr sz="3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115</a:t>
            </a:r>
            <a:r>
              <a:rPr sz="15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个材质实例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105400"/>
            <a:ext cx="5778500" cy="774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制作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两端导出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合入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创建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规范设置</a:t>
            </a:r>
            <a:br/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每次重复都会带来漏项和版本不一致。</a:t>
            </a:r>
          </a:p>
        </p:txBody>
      </p:sp>
      <p:pic>
        <p:nvPicPr>
          <p:cNvPr id="13" name="Picture 12" descr="97fa1eed869393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1358900"/>
            <a:ext cx="4533900" cy="2222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124700" y="3251200"/>
            <a:ext cx="165862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ource_tag"/>
          <p:cNvSpPr txBox="1"/>
          <p:nvPr/>
        </p:nvSpPr>
        <p:spPr>
          <a:xfrm>
            <a:off x="7124700" y="3251200"/>
            <a:ext cx="165862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编辑器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序列贴图</a:t>
            </a:r>
          </a:p>
        </p:txBody>
      </p:sp>
      <p:pic>
        <p:nvPicPr>
          <p:cNvPr id="16" name="Picture 15" descr="21afd3556d6dc5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0" y="3708400"/>
            <a:ext cx="4533900" cy="21336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124700" y="5511800"/>
            <a:ext cx="150622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ource_tag"/>
          <p:cNvSpPr txBox="1"/>
          <p:nvPr/>
        </p:nvSpPr>
        <p:spPr>
          <a:xfrm>
            <a:off x="7124700" y="5511800"/>
            <a:ext cx="150622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编辑器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发射器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8500" y="5930900"/>
            <a:ext cx="45339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范围：ResourcesFX「跨年烟花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3.0」库存快照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经验沉淀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仙女棒：13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类火星合成为一张序列播放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435100"/>
            <a:ext cx="3492500" cy="8092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900"/>
              </a:lnSpc>
            </a:pPr>
            <a:r>
              <a:rPr sz="59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13</a:t>
            </a:r>
            <a:r>
              <a:rPr sz="59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59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59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59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59330"/>
            <a:ext cx="3492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模拟分层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每平台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个发射器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844800"/>
            <a:ext cx="3492500" cy="876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5"/>
              </a:lnSpc>
            </a:pPr>
            <a:r>
              <a:rPr sz="1500" b="0" lang="zh-CN" altLang="en-US">
                <a:solidFill>
                  <a:srgbClr val="F5F5F5">
                    <a:alpha val="77000"/>
                  </a:srgbClr>
                </a:solidFill>
                <a:latin typeface="Consolas"/>
                <a:ea typeface="微软雅黑"/>
                <a:cs typeface="微软雅黑"/>
              </a:rPr>
              <a:t>13</a:t>
            </a:r>
            <a:r>
              <a:rPr sz="1500" b="0" lang="zh-CN" altLang="en-US">
                <a:solidFill>
                  <a:srgbClr val="F5F5F5">
                    <a:alpha val="77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7000"/>
                  </a:srgbClr>
                </a:solidFill>
                <a:latin typeface="Consolas"/>
                <a:ea typeface="微软雅黑"/>
                <a:cs typeface="微软雅黑"/>
              </a:rPr>
              <a:t>类结构沿用</a:t>
            </a:r>
            <a:r>
              <a:rPr sz="1500" b="0" lang="zh-CN" altLang="en-US">
                <a:solidFill>
                  <a:srgbClr val="F5F5F5">
                    <a:alpha val="77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7000"/>
                  </a:srgbClr>
                </a:solidFill>
                <a:latin typeface="Consolas"/>
                <a:ea typeface="微软雅黑"/>
                <a:cs typeface="微软雅黑"/>
              </a:rPr>
              <a:t>Blender</a:t>
            </a:r>
            <a:r>
              <a:rPr sz="1500" b="0" lang="zh-CN" altLang="en-US">
                <a:solidFill>
                  <a:srgbClr val="F5F5F5">
                    <a:alpha val="77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7000"/>
                  </a:srgbClr>
                </a:solidFill>
                <a:latin typeface="Consolas"/>
                <a:ea typeface="微软雅黑"/>
                <a:cs typeface="微软雅黑"/>
              </a:rPr>
              <a:t>V05；</a:t>
            </a:r>
            <a:br/>
            <a:r>
              <a:rPr sz="1500" b="0" lang="zh-CN" altLang="en-US">
                <a:solidFill>
                  <a:srgbClr val="F5F5F5">
                    <a:alpha val="77000"/>
                  </a:srgbClr>
                </a:solidFill>
                <a:latin typeface="Consolas"/>
                <a:ea typeface="微软雅黑"/>
                <a:cs typeface="微软雅黑"/>
              </a:rPr>
              <a:t>迁入通用亲子粒子图，</a:t>
            </a:r>
            <a:br/>
            <a:r>
              <a:rPr sz="1500" b="0" lang="zh-CN" altLang="en-US">
                <a:solidFill>
                  <a:srgbClr val="F5F5F5">
                    <a:alpha val="77000"/>
                  </a:srgbClr>
                </a:solidFill>
                <a:latin typeface="Consolas"/>
                <a:ea typeface="微软雅黑"/>
                <a:cs typeface="微软雅黑"/>
              </a:rPr>
              <a:t>继续修订运动与成像。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191000"/>
            <a:ext cx="3492500" cy="1206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2"/>
              </a:lnSpc>
            </a:pPr>
            <a:r>
              <a:rPr sz="1450" b="0" lang="zh-CN" altLang="en-US">
                <a:solidFill>
                  <a:srgbClr val="F5F5F5">
                    <a:alpha val="77000"/>
                  </a:srgbClr>
                </a:solidFill>
                <a:latin typeface="Consolas"/>
                <a:ea typeface="微软雅黑"/>
                <a:cs typeface="微软雅黑"/>
              </a:rPr>
              <a:t>母粒</a:t>
            </a:r>
            <a:r>
              <a:rPr sz="1450" b="0" lang="zh-CN" altLang="en-US">
                <a:solidFill>
                  <a:srgbClr val="F5F5F5">
                    <a:alpha val="77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77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450" b="0" lang="zh-CN" altLang="en-US">
                <a:solidFill>
                  <a:srgbClr val="F5F5F5">
                    <a:alpha val="77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77000"/>
                  </a:srgbClr>
                </a:solidFill>
                <a:latin typeface="Consolas"/>
                <a:ea typeface="微软雅黑"/>
                <a:cs typeface="微软雅黑"/>
              </a:rPr>
              <a:t>一级分叉</a:t>
            </a:r>
            <a:r>
              <a:rPr sz="1450" b="0" lang="zh-CN" altLang="en-US">
                <a:solidFill>
                  <a:srgbClr val="F5F5F5">
                    <a:alpha val="77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77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450" b="0" lang="zh-CN" altLang="en-US">
                <a:solidFill>
                  <a:srgbClr val="F5F5F5">
                    <a:alpha val="77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77000"/>
                  </a:srgbClr>
                </a:solidFill>
                <a:latin typeface="Consolas"/>
                <a:ea typeface="微软雅黑"/>
                <a:cs typeface="微软雅黑"/>
              </a:rPr>
              <a:t>二级碎火星</a:t>
            </a:r>
            <a:br/>
            <a:r>
              <a:rPr sz="1450" b="0" lang="zh-CN" altLang="en-US">
                <a:solidFill>
                  <a:srgbClr val="F5F5F5">
                    <a:alpha val="77000"/>
                  </a:srgbClr>
                </a:solidFill>
                <a:latin typeface="Consolas"/>
                <a:ea typeface="微软雅黑"/>
                <a:cs typeface="微软雅黑"/>
              </a:rPr>
              <a:t>快门积分、深度与散焦形成层次。</a:t>
            </a:r>
            <a:br/>
            <a:r>
              <a:rPr sz="1450" b="0" lang="zh-CN" altLang="en-US">
                <a:solidFill>
                  <a:srgbClr val="F5F5F5">
                    <a:alpha val="77000"/>
                  </a:srgbClr>
                </a:solidFill>
                <a:latin typeface="Consolas"/>
                <a:ea typeface="微软雅黑"/>
                <a:cs typeface="微软雅黑"/>
              </a:rPr>
              <a:t>64</a:t>
            </a:r>
            <a:r>
              <a:rPr sz="1450" b="0" lang="zh-CN" altLang="en-US">
                <a:solidFill>
                  <a:srgbClr val="F5F5F5">
                    <a:alpha val="77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77000"/>
                  </a:srgbClr>
                </a:solidFill>
                <a:latin typeface="Consolas"/>
                <a:ea typeface="微软雅黑"/>
                <a:cs typeface="微软雅黑"/>
              </a:rPr>
              <a:t>帧主序列，另有</a:t>
            </a:r>
            <a:r>
              <a:rPr sz="1450" b="0" lang="zh-CN" altLang="en-US">
                <a:solidFill>
                  <a:srgbClr val="F5F5F5">
                    <a:alpha val="77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77000"/>
                  </a:srgbClr>
                </a:solidFill>
                <a:latin typeface="Consolas"/>
                <a:ea typeface="微软雅黑"/>
                <a:cs typeface="微软雅黑"/>
              </a:rPr>
              <a:t>Ramp</a:t>
            </a:r>
            <a:r>
              <a:rPr sz="1450" b="0" lang="zh-CN" altLang="en-US">
                <a:solidFill>
                  <a:srgbClr val="F5F5F5">
                    <a:alpha val="77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77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450" b="0" lang="zh-CN" altLang="en-US">
                <a:solidFill>
                  <a:srgbClr val="F5F5F5">
                    <a:alpha val="77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77000"/>
                  </a:srgbClr>
                </a:solidFill>
                <a:latin typeface="Consolas"/>
                <a:ea typeface="微软雅黑"/>
                <a:cs typeface="微软雅黑"/>
              </a:rPr>
              <a:t>Cutout。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664200"/>
            <a:ext cx="34925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7"/>
              </a:lnSpc>
            </a:pPr>
            <a:r>
              <a:rPr sz="135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当前候选仍待</a:t>
            </a:r>
            <a:r>
              <a:rPr sz="1350" b="0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5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350" b="0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5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观感验收。</a:t>
            </a:r>
          </a:p>
        </p:txBody>
      </p:sp>
      <p:pic>
        <p:nvPicPr>
          <p:cNvPr id="11" name="Picture 10" descr="71fb6e470ab625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5000" y="1358900"/>
            <a:ext cx="7137400" cy="28575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21200" y="3886200"/>
            <a:ext cx="17272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ource_tag"/>
          <p:cNvSpPr txBox="1"/>
          <p:nvPr/>
        </p:nvSpPr>
        <p:spPr>
          <a:xfrm>
            <a:off x="4521200" y="3886200"/>
            <a:ext cx="17272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导出包回放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4.9.118</a:t>
            </a:r>
          </a:p>
        </p:txBody>
      </p:sp>
      <p:pic>
        <p:nvPicPr>
          <p:cNvPr id="14" name="Picture 13" descr="416a80b0528d02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5000" y="4508500"/>
            <a:ext cx="3302000" cy="14351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21200" y="5613400"/>
            <a:ext cx="159766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ource_tag"/>
          <p:cNvSpPr txBox="1"/>
          <p:nvPr/>
        </p:nvSpPr>
        <p:spPr>
          <a:xfrm>
            <a:off x="4521200" y="5613400"/>
            <a:ext cx="159766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运动修订前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烘焙器</a:t>
            </a:r>
          </a:p>
        </p:txBody>
      </p:sp>
      <p:pic>
        <p:nvPicPr>
          <p:cNvPr id="17" name="Picture 16" descr="779a2be7be7893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4508500"/>
            <a:ext cx="3581400" cy="14351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077200" y="5613400"/>
            <a:ext cx="159766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ource_tag"/>
          <p:cNvSpPr txBox="1"/>
          <p:nvPr/>
        </p:nvSpPr>
        <p:spPr>
          <a:xfrm>
            <a:off x="8077200" y="5613400"/>
            <a:ext cx="159766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运动修订后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烘焙器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问题与约束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节目规模扩大，手工匹配音乐已难以维护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f1e395ca1d329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58900"/>
            <a:ext cx="6400800" cy="4508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5537200"/>
            <a:ext cx="165862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ource_tag"/>
          <p:cNvSpPr txBox="1"/>
          <p:nvPr/>
        </p:nvSpPr>
        <p:spPr>
          <a:xfrm>
            <a:off x="685800" y="5537200"/>
            <a:ext cx="165862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编辑器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去年方案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358900"/>
            <a:ext cx="42672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65"/>
              </a:lnSpc>
            </a:pP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去年：逐发组织轨道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752600"/>
            <a:ext cx="426720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200"/>
              </a:lnSpc>
            </a:pPr>
            <a:r>
              <a:rPr sz="5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2726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479040"/>
            <a:ext cx="42672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条轨道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12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条子序列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844800"/>
            <a:ext cx="4267200" cy="74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2"/>
              </a:lnSpc>
            </a:pPr>
            <a:r>
              <a:rPr sz="1450" b="0" lang="zh-CN" altLang="en-US">
                <a:solidFill>
                  <a:srgbClr val="F5F5F5">
                    <a:alpha val="75000"/>
                  </a:srgbClr>
                </a:solidFill>
                <a:latin typeface="Consolas"/>
                <a:ea typeface="微软雅黑"/>
                <a:cs typeface="微软雅黑"/>
              </a:rPr>
              <a:t>每发烟花带动多条轨道；</a:t>
            </a:r>
            <a:br/>
            <a:r>
              <a:rPr sz="1450" b="0" lang="zh-CN" altLang="en-US">
                <a:solidFill>
                  <a:srgbClr val="F5F5F5">
                    <a:alpha val="75000"/>
                  </a:srgbClr>
                </a:solidFill>
                <a:latin typeface="Consolas"/>
                <a:ea typeface="微软雅黑"/>
                <a:cs typeface="微软雅黑"/>
              </a:rPr>
              <a:t>调整节奏时要逐一重新匹配。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708400"/>
            <a:ext cx="4267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12"/>
              </a:lnSpc>
            </a:pPr>
            <a:r>
              <a:rPr sz="1250" b="0" lang="zh-CN" altLang="en-US">
                <a:solidFill>
                  <a:srgbClr val="F5F5F5">
                    <a:alpha val="60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50" b="0" lang="zh-CN" altLang="en-US">
                <a:solidFill>
                  <a:srgbClr val="F5F5F5">
                    <a:alpha val="6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60000"/>
                  </a:srgbClr>
                </a:solidFill>
                <a:latin typeface="Consolas"/>
                <a:ea typeface="微软雅黑"/>
                <a:cs typeface="微软雅黑"/>
              </a:rPr>
              <a:t>与手游内存占用过高</a:t>
            </a:r>
            <a:br/>
            <a:r>
              <a:rPr sz="1250" b="0" lang="zh-CN" altLang="en-US">
                <a:solidFill>
                  <a:srgbClr val="F5F5F5">
                    <a:alpha val="60000"/>
                  </a:srgbClr>
                </a:solidFill>
                <a:latin typeface="Consolas"/>
                <a:ea typeface="微软雅黑"/>
                <a:cs typeface="微软雅黑"/>
              </a:rPr>
              <a:t>依据：讲者转述性能组反馈，无对比数值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4470400"/>
            <a:ext cx="4267200" cy="6350"/>
          </a:xfrm>
          <a:prstGeom prst="rect">
            <a:avLst/>
          </a:prstGeom>
          <a:solidFill>
            <a:srgbClr val="F5F5F5">
              <a:alpha val="1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4660900"/>
            <a:ext cx="4267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5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今年：219.5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秒、24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个点位</a:t>
            </a:r>
            <a:br/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492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个时序槽、1570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次事件播放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5435600"/>
            <a:ext cx="42672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2"/>
              </a:lnSpc>
            </a:pPr>
            <a:r>
              <a:rPr sz="1450" b="0" lang="zh-CN" altLang="en-US">
                <a:solidFill>
                  <a:srgbClr val="F5F5F5">
                    <a:alpha val="75000"/>
                  </a:srgbClr>
                </a:solidFill>
                <a:latin typeface="Consolas"/>
                <a:ea typeface="微软雅黑"/>
                <a:cs typeface="微软雅黑"/>
              </a:rPr>
              <a:t>版本时间紧；导演蓝图已更新，</a:t>
            </a:r>
            <a:br/>
            <a:r>
              <a:rPr sz="1450" b="0" lang="zh-CN" altLang="en-US">
                <a:solidFill>
                  <a:srgbClr val="F5F5F5">
                    <a:alpha val="75000"/>
                  </a:srgbClr>
                </a:solidFill>
                <a:latin typeface="Consolas"/>
                <a:ea typeface="微软雅黑"/>
                <a:cs typeface="微软雅黑"/>
              </a:rPr>
              <a:t>仍需要可视化、程序化的编排入口。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 · 方案设计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/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三段工具衔接素材、资源与整场节目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58900"/>
            <a:ext cx="2286000" cy="302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358900"/>
            <a:ext cx="38100" cy="30226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p06_bak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50" y="1365250"/>
            <a:ext cx="2273300" cy="12827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92150" y="231775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urce_tag"/>
          <p:cNvSpPr txBox="1"/>
          <p:nvPr/>
        </p:nvSpPr>
        <p:spPr>
          <a:xfrm>
            <a:off x="692150" y="231775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工具界面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819400"/>
            <a:ext cx="1968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  <a:r>
              <a:rPr sz="12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做效果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30861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烟花烘焙器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3479800"/>
            <a:ext cx="20066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模拟火星，烘焙序列贴图，</a:t>
            </a:r>
          </a:p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一次导出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与手游两套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59100" y="2006600"/>
            <a:ext cx="482600" cy="0"/>
          </a:xfrm>
          <a:prstGeom prst="line">
            <a:avLst/>
          </a:prstGeom>
          <a:ln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2895600" y="20828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素材包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05200" y="1358900"/>
            <a:ext cx="2286000" cy="302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05200" y="1358900"/>
            <a:ext cx="38100" cy="30226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p06_impor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550" y="1365250"/>
            <a:ext cx="2273300" cy="12827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587750" y="231775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ource_tag"/>
          <p:cNvSpPr txBox="1"/>
          <p:nvPr/>
        </p:nvSpPr>
        <p:spPr>
          <a:xfrm>
            <a:off x="3587750" y="231775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工具界面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8400" y="2819400"/>
            <a:ext cx="1968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进引擎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8400" y="30861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导入器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8400" y="3479800"/>
            <a:ext cx="20066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读取素材包，按规范设置，</a:t>
            </a:r>
          </a:p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检查后写入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854700" y="2006600"/>
            <a:ext cx="482600" cy="0"/>
          </a:xfrm>
          <a:prstGeom prst="line">
            <a:avLst/>
          </a:prstGeom>
          <a:ln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cxnSp>
      <p:sp>
        <p:nvSpPr>
          <p:cNvPr id="25" name="TextBox 24"/>
          <p:cNvSpPr txBox="1"/>
          <p:nvPr/>
        </p:nvSpPr>
        <p:spPr>
          <a:xfrm>
            <a:off x="5791200" y="20828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资产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358900"/>
            <a:ext cx="2286000" cy="302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358900"/>
            <a:ext cx="38100" cy="30226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p06_workbenc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150" y="1365250"/>
            <a:ext cx="2273300" cy="12827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6483350" y="231775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ource_tag"/>
          <p:cNvSpPr txBox="1"/>
          <p:nvPr/>
        </p:nvSpPr>
        <p:spPr>
          <a:xfrm>
            <a:off x="6483350" y="231775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工具界面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4000" y="2819400"/>
            <a:ext cx="1968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2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排节目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4000" y="30861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烟花编排工作台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4000" y="3479800"/>
            <a:ext cx="20066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按音乐时间线排布烟花，</a:t>
            </a:r>
          </a:p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生成导演表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750300" y="2006600"/>
            <a:ext cx="482600" cy="0"/>
          </a:xfrm>
          <a:prstGeom prst="line">
            <a:avLst/>
          </a:prstGeom>
          <a:ln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cxnSp>
      <p:sp>
        <p:nvSpPr>
          <p:cNvPr id="35" name="TextBox 34"/>
          <p:cNvSpPr txBox="1"/>
          <p:nvPr/>
        </p:nvSpPr>
        <p:spPr>
          <a:xfrm>
            <a:off x="8686800" y="20828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导演表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96400" y="1358900"/>
            <a:ext cx="2286000" cy="302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p06_u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2750" y="1365250"/>
            <a:ext cx="2273300" cy="128270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9378950" y="2317750"/>
            <a:ext cx="72136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ource_tag"/>
          <p:cNvSpPr txBox="1"/>
          <p:nvPr/>
        </p:nvSpPr>
        <p:spPr>
          <a:xfrm>
            <a:off x="9378950" y="2317750"/>
            <a:ext cx="72136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99600" y="2819400"/>
            <a:ext cx="1968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  <a:r>
              <a:rPr sz="12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播放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99600" y="30861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导演蓝图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99600" y="3479800"/>
            <a:ext cx="20066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一个蓝图按子模板、模板、</a:t>
            </a:r>
          </a:p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时序三张表播放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" y="4635500"/>
            <a:ext cx="6400800" cy="14351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9600" y="4635500"/>
            <a:ext cx="38100" cy="1435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3600" y="4813300"/>
            <a:ext cx="5842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三段之间用固定格式衔接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3600" y="5168900"/>
            <a:ext cx="5842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素材包、导入记录、导演表都有固定格式；改了其中一处，可以整条链重跑。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3600" y="5842000"/>
            <a:ext cx="342900" cy="38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15200" y="4635500"/>
            <a:ext cx="4267200" cy="14351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69200" y="4813300"/>
            <a:ext cx="381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导演蓝图与程序共同设计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69200" y="51689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不再逐个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actor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排轨道；定序器只留给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4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盏灯。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我负责制作决策，AI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负责人按边界持续交付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71600"/>
            <a:ext cx="660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27"/>
              </a:lnSpc>
            </a:pPr>
            <a:r>
              <a:rPr sz="195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一个人串起的职责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146300"/>
            <a:ext cx="63500" cy="63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" y="2070100"/>
            <a:ext cx="64135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需求与美术验收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413000"/>
            <a:ext cx="6413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定义效果目标、审美方向和通过条件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352800"/>
            <a:ext cx="63500" cy="63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" y="3276600"/>
            <a:ext cx="64135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资产与编排导演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619500"/>
            <a:ext cx="6413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定舞台比例、资源档位与音乐结构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4559300"/>
            <a:ext cx="63500" cy="63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" y="4483100"/>
            <a:ext cx="64135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工具产品与协作管理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4826000"/>
            <a:ext cx="6413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拆任务、定参数与界面规则、统一合稿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5803900"/>
            <a:ext cx="66675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4"/>
              </a:lnSpc>
            </a:pPr>
            <a:r>
              <a:rPr sz="1300" b="0" lang="zh-CN" altLang="en-US">
                <a:solidFill>
                  <a:srgbClr val="F5F5F5">
                    <a:alpha val="58000"/>
                  </a:srgbClr>
                </a:solidFill>
                <a:latin typeface="Consolas"/>
                <a:ea typeface="微软雅黑"/>
                <a:cs typeface="微软雅黑"/>
              </a:rPr>
              <a:t>导演蓝图与程序共同设计；贴图规范与性能组共定。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0" y="1358900"/>
            <a:ext cx="3962400" cy="46482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0000" y="1358900"/>
            <a:ext cx="38100" cy="4648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74000" y="1574800"/>
            <a:ext cx="344170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800"/>
              </a:lnSpc>
            </a:pPr>
            <a:r>
              <a:rPr sz="4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48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4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2200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4000" y="2245360"/>
            <a:ext cx="34417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次项目提交（含自动回传）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4000" y="2844800"/>
            <a:ext cx="344170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800"/>
              </a:lnSpc>
            </a:pPr>
            <a:r>
              <a:rPr sz="4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352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74000" y="3515360"/>
            <a:ext cx="34417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次显卡后台自动回传提交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74000" y="4102100"/>
            <a:ext cx="344170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800"/>
              </a:lnSpc>
            </a:pPr>
            <a:r>
              <a:rPr sz="4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近</a:t>
            </a:r>
            <a:r>
              <a:rPr sz="4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4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4000" y="4772660"/>
            <a:ext cx="34417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个烘焙器版本号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4000" y="5384800"/>
            <a:ext cx="34417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4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多名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负责人：效果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底层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编排</a:t>
            </a:r>
            <a:br/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共享文件认领，避免同时写入。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实践成果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已有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画面展示花型铺量与整场构图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44b56e25745eac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358900"/>
            <a:ext cx="6985000" cy="330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4330700"/>
            <a:ext cx="150622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ource_tag"/>
          <p:cNvSpPr txBox="1"/>
          <p:nvPr/>
        </p:nvSpPr>
        <p:spPr>
          <a:xfrm>
            <a:off x="685800" y="4330700"/>
            <a:ext cx="150622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实机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已有截图</a:t>
            </a:r>
          </a:p>
        </p:txBody>
      </p:sp>
      <p:pic>
        <p:nvPicPr>
          <p:cNvPr id="9" name="Picture 8" descr="e47de75d71d38b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864100"/>
            <a:ext cx="6985000" cy="1193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85800" y="5727700"/>
            <a:ext cx="159766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urce_tag"/>
          <p:cNvSpPr txBox="1"/>
          <p:nvPr/>
        </p:nvSpPr>
        <p:spPr>
          <a:xfrm>
            <a:off x="685800" y="5727700"/>
            <a:ext cx="159766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引擎回放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效果样例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9400" y="1473200"/>
            <a:ext cx="3683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25"/>
              </a:lnSpc>
            </a:pPr>
            <a:r>
              <a:rPr sz="25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20</a:t>
            </a:r>
            <a:r>
              <a:rPr sz="25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5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25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5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26</a:t>
            </a:r>
            <a:r>
              <a:rPr sz="25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5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种花型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9400" y="2286000"/>
            <a:ext cx="3683000" cy="800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2"/>
              </a:lnSpc>
            </a:pPr>
            <a:r>
              <a:rPr sz="145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26</a:t>
            </a:r>
            <a:r>
              <a:rPr sz="145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种库存开花中，20</a:t>
            </a:r>
            <a:r>
              <a:rPr sz="145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种</a:t>
            </a:r>
            <a:br/>
            <a:r>
              <a:rPr sz="145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保留了烘焙器导出材料；</a:t>
            </a:r>
            <a:br/>
            <a:r>
              <a:rPr sz="145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19</a:t>
            </a:r>
            <a:r>
              <a:rPr sz="145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种有回执或交付修订，1</a:t>
            </a:r>
            <a:r>
              <a:rPr sz="145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种为旧包。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99400" y="3390900"/>
            <a:ext cx="3683000" cy="6350"/>
          </a:xfrm>
          <a:prstGeom prst="rect">
            <a:avLst/>
          </a:prstGeom>
          <a:solidFill>
            <a:srgbClr val="F5F5F5">
              <a:alpha val="1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99400" y="3683000"/>
            <a:ext cx="36830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65"/>
              </a:lnSpc>
            </a:pP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资源量产的价值：</a:t>
            </a:r>
            <a:br/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同一配方可反复修改和输出。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9400" y="4610100"/>
            <a:ext cx="3683000" cy="1206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2"/>
              </a:lnSpc>
            </a:pPr>
            <a:r>
              <a:rPr sz="1450" b="0" lang="zh-CN" altLang="en-US">
                <a:solidFill>
                  <a:srgbClr val="F5F5F5">
                    <a:alpha val="68000"/>
                  </a:srgbClr>
                </a:solidFill>
                <a:latin typeface="Consolas"/>
                <a:ea typeface="微软雅黑"/>
                <a:cs typeface="微软雅黑"/>
              </a:rPr>
              <a:t>本页沿用现有</a:t>
            </a:r>
            <a:r>
              <a:rPr sz="1450" b="0" lang="zh-CN" altLang="en-US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68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450" b="0" lang="zh-CN" altLang="en-US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68000"/>
                  </a:srgbClr>
                </a:solidFill>
                <a:latin typeface="Consolas"/>
                <a:ea typeface="微软雅黑"/>
                <a:cs typeface="微软雅黑"/>
              </a:rPr>
              <a:t>截图。</a:t>
            </a:r>
            <a:br/>
            <a:r>
              <a:rPr sz="1450" b="0" lang="zh-CN" altLang="en-US">
                <a:solidFill>
                  <a:srgbClr val="F5F5F5">
                    <a:alpha val="68000"/>
                  </a:srgbClr>
                </a:solidFill>
                <a:latin typeface="Consolas"/>
                <a:ea typeface="微软雅黑"/>
                <a:cs typeface="微软雅黑"/>
              </a:rPr>
              <a:t>下方样例是导出贴图回放；</a:t>
            </a:r>
            <a:br/>
            <a:r>
              <a:rPr sz="1450" b="0" lang="zh-CN" altLang="en-US">
                <a:solidFill>
                  <a:srgbClr val="F5F5F5">
                    <a:alpha val="68000"/>
                  </a:srgbClr>
                </a:solidFill>
                <a:latin typeface="Consolas"/>
                <a:ea typeface="微软雅黑"/>
                <a:cs typeface="微软雅黑"/>
              </a:rPr>
              <a:t>仙女棒仍待</a:t>
            </a:r>
            <a:r>
              <a:rPr sz="1450" b="0" lang="zh-CN" altLang="en-US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68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450" b="0" lang="zh-CN" altLang="en-US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68000"/>
                  </a:srgbClr>
                </a:solidFill>
                <a:latin typeface="Consolas"/>
                <a:ea typeface="微软雅黑"/>
                <a:cs typeface="微软雅黑"/>
              </a:rPr>
              <a:t>观感验收。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 · 实践成果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/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资源接入成批执行，设置与检查随包完成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63500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00"/>
              </a:lnSpc>
            </a:pPr>
            <a:r>
              <a:rPr sz="75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149</a:t>
            </a:r>
            <a:r>
              <a:rPr sz="4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/149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489200"/>
            <a:ext cx="635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张贴图按规范重设，读回全部一致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844800"/>
            <a:ext cx="6350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与其他项目共用的 19 张未纳入本轮修改，单独核对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530600"/>
            <a:ext cx="6350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000"/>
              </a:lnSpc>
            </a:pPr>
            <a:r>
              <a:rPr sz="6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115</a:t>
            </a:r>
            <a:r>
              <a:rPr sz="1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个包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432300"/>
            <a:ext cx="6350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批量修正：48 个粒子系统、67 个材质实例，读回无错误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5016500"/>
            <a:ext cx="64008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p09_impor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58900"/>
            <a:ext cx="4267200" cy="2667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391400" y="369570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ource_tag"/>
          <p:cNvSpPr txBox="1"/>
          <p:nvPr/>
        </p:nvSpPr>
        <p:spPr>
          <a:xfrm>
            <a:off x="7391400" y="369570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工具界面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4216400"/>
            <a:ext cx="4267200" cy="18415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4216400"/>
            <a:ext cx="38100" cy="1841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9200" y="4394200"/>
            <a:ext cx="381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同一套规则，每次导入都执行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9200" y="4737100"/>
            <a:ext cx="3810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嵌在烘焙器里的导入器按规范写入，见到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NeverStream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等违规直接拦下。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69200" y="5803900"/>
            <a:ext cx="342900" cy="38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5181600"/>
            <a:ext cx="64008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2"/>
              </a:lnSpc>
            </a:pPr>
            <a:r>
              <a:rPr sz="14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检查素材包</a:t>
            </a:r>
            <a:r>
              <a:rPr sz="14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4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创建资产</a:t>
            </a:r>
            <a:r>
              <a:rPr sz="14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4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按平台设置</a:t>
            </a:r>
            <a:r>
              <a:rPr sz="14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4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读回核对</a:t>
            </a:r>
            <a:br/>
            <a:r>
              <a:rPr sz="14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导出、导入与再次修改使用同一份资源契约。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 · 实践成果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/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编排可视化后，同一节目按平台与画质出表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/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p10_workben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10972800" cy="2794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382270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ource_tag"/>
          <p:cNvSpPr txBox="1"/>
          <p:nvPr/>
        </p:nvSpPr>
        <p:spPr>
          <a:xfrm>
            <a:off x="685800" y="382270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工具界面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4343400"/>
            <a:ext cx="6400800" cy="17272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4343400"/>
            <a:ext cx="38100" cy="1727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44704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节目迭代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600" y="472440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</a:pPr>
            <a:r>
              <a:rPr sz="3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11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个大版本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2100" y="472440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</a:pPr>
            <a:r>
              <a:rPr sz="3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38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份存档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472440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</a:pPr>
            <a:r>
              <a:rPr sz="3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37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次云端发布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00" y="5372100"/>
            <a:ext cx="5969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B01 → B11；37 次云端发布，保留候选存档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迭代数按 B 系列存档统计；不包含个人未提交节目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4343400"/>
            <a:ext cx="4267200" cy="17272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9200" y="44704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同一份编排出三档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9200" y="47752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1145</a:t>
            </a:r>
            <a:r>
              <a:rPr sz="20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20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852</a:t>
            </a:r>
            <a:r>
              <a:rPr sz="20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20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438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9200" y="51943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手游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448</a:t>
            </a:r>
            <a:r>
              <a:rPr sz="20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20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349</a:t>
            </a:r>
            <a:r>
              <a:rPr sz="20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20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9200" y="56388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高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中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低档的播放次数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附录 · 可选演示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/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操作演示：录屏待补，分镜与插入位保留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/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p11_repl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7620000" cy="42862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358900"/>
            <a:ext cx="7620000" cy="4286250"/>
          </a:xfrm>
          <a:prstGeom prst="rect">
            <a:avLst/>
          </a:prstGeom>
          <a:solidFill>
            <a:srgbClr val="0A0A0A">
              <a:alpha val="8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358900"/>
            <a:ext cx="7620000" cy="4286250"/>
          </a:xfrm>
          <a:prstGeom prst="rect">
            <a:avLst/>
          </a:prstGeom>
          <a:noFill/>
          <a:ln w="19050">
            <a:solidFill>
              <a:srgbClr val="0FF796">
                <a:alpha val="6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600" y="3057525"/>
            <a:ext cx="71120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340"/>
              </a:lnSpc>
            </a:pP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录屏待提供 · 约 2 分钟</a:t>
            </a:r>
            <a:r>
              <a:rPr sz="18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18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527425"/>
            <a:ext cx="6858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选案例调参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引擎回放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导出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与手游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导入器检查写入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中播放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314950"/>
            <a:ext cx="12700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ource_tag"/>
          <p:cNvSpPr txBox="1"/>
          <p:nvPr/>
        </p:nvSpPr>
        <p:spPr>
          <a:xfrm>
            <a:off x="685800" y="531495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底图：工具界面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0" y="13589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40800" y="13589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选案例、调参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0800" y="16256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烘焙器实时模拟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4400" y="20447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0800" y="20447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看引擎回放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0800" y="23114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按导出的贴图播放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400" y="27305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0800" y="27305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一次导出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0800" y="29972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与手游两套素材包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4400" y="34163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0800" y="34163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检查并导入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0800" y="36830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点「导入」才写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4400" y="41021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0800" y="41021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中播放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0800" y="43688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粒子系统、贴图、材质实例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34400" y="4889500"/>
            <a:ext cx="3048000" cy="7620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34400" y="4889500"/>
            <a:ext cx="38100" cy="7620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63000" y="4889500"/>
            <a:ext cx="27305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10"/>
              </a:lnSpc>
            </a:pPr>
            <a:r>
              <a:rPr sz="14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实际用时：待录屏后填写</a:t>
            </a:r>
            <a:r>
              <a:rPr sz="14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7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17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7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17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7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17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7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/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经验沉淀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方头与绽放模糊，要在相同条件下分开定位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29845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L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尾缀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6.8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s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13200" y="1358900"/>
            <a:ext cx="30734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同刻</a:t>
            </a:r>
            <a:r>
              <a:rPr sz="14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4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NoMip</a:t>
            </a:r>
          </a:p>
        </p:txBody>
      </p:sp>
      <p:pic>
        <p:nvPicPr>
          <p:cNvPr id="8" name="Picture 7" descr="3d1f832a8dbf7c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790700"/>
            <a:ext cx="3048000" cy="2984500"/>
          </a:xfrm>
          <a:prstGeom prst="rect">
            <a:avLst/>
          </a:prstGeom>
        </p:spPr>
      </p:pic>
      <p:pic>
        <p:nvPicPr>
          <p:cNvPr id="9" name="Picture 8" descr="afaee8f0159813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3200" y="1790700"/>
            <a:ext cx="3073400" cy="2984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826000"/>
            <a:ext cx="647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12"/>
              </a:lnSpc>
            </a:pPr>
            <a:r>
              <a:rPr sz="1250" b="0" lang="zh-CN" altLang="en-US">
                <a:solidFill>
                  <a:srgbClr val="F5F5F5">
                    <a:alpha val="60000"/>
                  </a:srgbClr>
                </a:solidFill>
                <a:latin typeface="Consolas"/>
                <a:ea typeface="微软雅黑"/>
                <a:cs typeface="微软雅黑"/>
              </a:rPr>
              <a:t>已有</a:t>
            </a:r>
            <a:r>
              <a:rPr sz="1250" b="0" lang="zh-CN" altLang="en-US">
                <a:solidFill>
                  <a:srgbClr val="F5F5F5">
                    <a:alpha val="6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6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50" b="0" lang="zh-CN" altLang="en-US">
                <a:solidFill>
                  <a:srgbClr val="F5F5F5">
                    <a:alpha val="6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60000"/>
                  </a:srgbClr>
                </a:solidFill>
                <a:latin typeface="Consolas"/>
                <a:ea typeface="微软雅黑"/>
                <a:cs typeface="微软雅黑"/>
              </a:rPr>
              <a:t>受控对比裁切</a:t>
            </a:r>
            <a:r>
              <a:rPr sz="1250" b="0" lang="zh-CN" altLang="en-US">
                <a:solidFill>
                  <a:srgbClr val="F5F5F5">
                    <a:alpha val="6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6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50" b="0" lang="zh-CN" altLang="en-US">
                <a:solidFill>
                  <a:srgbClr val="F5F5F5">
                    <a:alpha val="6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60000"/>
                  </a:srgbClr>
                </a:solidFill>
                <a:latin typeface="Consolas"/>
                <a:ea typeface="微软雅黑"/>
                <a:cs typeface="微软雅黑"/>
              </a:rPr>
              <a:t>同机位</a:t>
            </a:r>
            <a:r>
              <a:rPr sz="1250" b="0" lang="zh-CN" altLang="en-US">
                <a:solidFill>
                  <a:srgbClr val="F5F5F5">
                    <a:alpha val="6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60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250" b="0" lang="zh-CN" altLang="en-US">
                <a:solidFill>
                  <a:srgbClr val="F5F5F5">
                    <a:alpha val="6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60000"/>
                  </a:srgbClr>
                </a:solidFill>
                <a:latin typeface="Consolas"/>
                <a:ea typeface="微软雅黑"/>
                <a:cs typeface="微软雅黑"/>
              </a:rPr>
              <a:t>同档位</a:t>
            </a:r>
            <a:r>
              <a:rPr sz="1250" b="0" lang="zh-CN" altLang="en-US">
                <a:solidFill>
                  <a:srgbClr val="F5F5F5">
                    <a:alpha val="6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60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250" b="0" lang="zh-CN" altLang="en-US">
                <a:solidFill>
                  <a:srgbClr val="F5F5F5">
                    <a:alpha val="6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60000"/>
                  </a:srgbClr>
                </a:solidFill>
                <a:latin typeface="Consolas"/>
                <a:ea typeface="微软雅黑"/>
                <a:cs typeface="微软雅黑"/>
              </a:rPr>
              <a:t>同一时刻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0" y="1358900"/>
            <a:ext cx="20066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金芒菊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流送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8500" y="1358900"/>
            <a:ext cx="19939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同刻</a:t>
            </a:r>
            <a:r>
              <a:rPr sz="14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4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NoMip</a:t>
            </a:r>
          </a:p>
        </p:txBody>
      </p:sp>
      <p:pic>
        <p:nvPicPr>
          <p:cNvPr id="13" name="Picture 12" descr="5696e38553d0ce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0" y="1790700"/>
            <a:ext cx="2006600" cy="1625600"/>
          </a:xfrm>
          <a:prstGeom prst="rect">
            <a:avLst/>
          </a:prstGeom>
        </p:spPr>
      </p:pic>
      <p:pic>
        <p:nvPicPr>
          <p:cNvPr id="14" name="Picture 13" descr="144e793598280bb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8500" y="1790700"/>
            <a:ext cx="1993900" cy="1625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29500" y="3695700"/>
            <a:ext cx="41529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92"/>
              </a:lnSpc>
            </a:pPr>
            <a:r>
              <a:rPr sz="165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先隔离采样形状，再检查流送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0" y="4292600"/>
            <a:ext cx="4152900" cy="149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2"/>
              </a:lnSpc>
            </a:pPr>
            <a:r>
              <a:rPr sz="1450" b="0" lang="zh-CN" altLang="en-US">
                <a:solidFill>
                  <a:srgbClr val="F5F5F5">
                    <a:alpha val="74000"/>
                  </a:srgbClr>
                </a:solidFill>
                <a:latin typeface="Consolas"/>
                <a:ea typeface="微软雅黑"/>
                <a:cs typeface="微软雅黑"/>
              </a:rPr>
              <a:t>长条格压扁后取到低</a:t>
            </a:r>
            <a:r>
              <a:rPr sz="1450" b="0" lang="zh-CN" altLang="en-US">
                <a:solidFill>
                  <a:srgbClr val="F5F5F5">
                    <a:alpha val="74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74000"/>
                  </a:srgbClr>
                </a:solidFill>
                <a:latin typeface="Consolas"/>
                <a:ea typeface="微软雅黑"/>
                <a:cs typeface="微软雅黑"/>
              </a:rPr>
              <a:t>Mip，星头变方；</a:t>
            </a:r>
            <a:br/>
            <a:r>
              <a:rPr sz="1450" b="0" lang="zh-CN" altLang="en-US">
                <a:solidFill>
                  <a:srgbClr val="F5F5F5">
                    <a:alpha val="74000"/>
                  </a:srgbClr>
                </a:solidFill>
                <a:latin typeface="Consolas"/>
                <a:ea typeface="微软雅黑"/>
                <a:cs typeface="微软雅黑"/>
              </a:rPr>
              <a:t>初次播放分辨率未到位，绽放先糊后清。</a:t>
            </a:r>
            <a:br/>
            <a:r>
              <a:rPr sz="1450" b="0" lang="zh-CN" altLang="en-US">
                <a:solidFill>
                  <a:srgbClr val="F5F5F5">
                    <a:alpha val="74000"/>
                  </a:srgbClr>
                </a:solidFill>
                <a:latin typeface="Consolas"/>
                <a:ea typeface="微软雅黑"/>
                <a:cs typeface="微软雅黑"/>
              </a:rPr>
              <a:t>同机位、同档位、同时播放比较。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5118100"/>
            <a:ext cx="6477000" cy="6350"/>
          </a:xfrm>
          <a:prstGeom prst="rect">
            <a:avLst/>
          </a:prstGeom>
          <a:solidFill>
            <a:srgbClr val="F5F5F5">
              <a:alpha val="1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321300"/>
            <a:ext cx="6477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0" lang="zh-CN" altLang="en-US">
                <a:solidFill>
                  <a:srgbClr val="F5F5F5">
                    <a:alpha val="79000"/>
                  </a:srgbClr>
                </a:solidFill>
                <a:latin typeface="Consolas"/>
                <a:ea typeface="微软雅黑"/>
                <a:cs typeface="微软雅黑"/>
              </a:rPr>
              <a:t>沉淀规则：PC</a:t>
            </a:r>
            <a:r>
              <a:rPr sz="1400" b="0" lang="zh-CN" altLang="en-US">
                <a:solidFill>
                  <a:srgbClr val="F5F5F5">
                    <a:alpha val="79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9000"/>
                  </a:srgbClr>
                </a:solidFill>
                <a:latin typeface="Consolas"/>
                <a:ea typeface="微软雅黑"/>
                <a:cs typeface="微软雅黑"/>
              </a:rPr>
              <a:t>主序列</a:t>
            </a:r>
            <a:r>
              <a:rPr sz="1400" b="0" lang="zh-CN" altLang="en-US">
                <a:solidFill>
                  <a:srgbClr val="F5F5F5">
                    <a:alpha val="79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9000"/>
                  </a:srgbClr>
                </a:solidFill>
                <a:latin typeface="Consolas"/>
                <a:ea typeface="微软雅黑"/>
                <a:cs typeface="微软雅黑"/>
              </a:rPr>
              <a:t>NoMip；手游保留流送、最大</a:t>
            </a:r>
            <a:r>
              <a:rPr sz="1400" b="0" lang="zh-CN" altLang="en-US">
                <a:solidFill>
                  <a:srgbClr val="F5F5F5">
                    <a:alpha val="79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9000"/>
                  </a:srgbClr>
                </a:solidFill>
                <a:latin typeface="Consolas"/>
                <a:ea typeface="微软雅黑"/>
                <a:cs typeface="微软雅黑"/>
              </a:rPr>
              <a:t>1024。</a:t>
            </a:r>
            <a:br/>
            <a:r>
              <a:rPr sz="1400" b="0" lang="zh-CN" altLang="en-US">
                <a:solidFill>
                  <a:srgbClr val="F5F5F5">
                    <a:alpha val="79000"/>
                  </a:srgbClr>
                </a:solidFill>
                <a:latin typeface="Consolas"/>
                <a:ea typeface="微软雅黑"/>
                <a:cs typeface="微软雅黑"/>
              </a:rPr>
              <a:t>平台取舍各自记录，不能把一次修法推广到所有设备。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经验沉淀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尾缀的近、远段分别承担不同年龄的火星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a796100a054341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358900"/>
            <a:ext cx="6400800" cy="330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4330700"/>
            <a:ext cx="225298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ource_tag"/>
          <p:cNvSpPr txBox="1"/>
          <p:nvPr/>
        </p:nvSpPr>
        <p:spPr>
          <a:xfrm>
            <a:off x="685800" y="4330700"/>
            <a:ext cx="225298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既有对照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实拍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模拟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导出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889500"/>
            <a:ext cx="64008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2"/>
              </a:lnSpc>
            </a:pPr>
            <a:r>
              <a:rPr sz="185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先按游戏视距算屏幕位移，再分配序列帧。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473700"/>
            <a:ext cx="64008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7"/>
              </a:lnSpc>
            </a:pPr>
            <a:r>
              <a:rPr sz="1350" b="0" lang="zh-CN" altLang="en-US">
                <a:solidFill>
                  <a:srgbClr val="F5F5F5">
                    <a:alpha val="65000"/>
                  </a:srgbClr>
                </a:solidFill>
                <a:latin typeface="Consolas"/>
                <a:ea typeface="微软雅黑"/>
                <a:cs typeface="微软雅黑"/>
              </a:rPr>
              <a:t>距离影响清晰度与采样判断；不是按相机距离切</a:t>
            </a:r>
            <a:r>
              <a:rPr sz="1350" b="0" lang="zh-CN" altLang="en-US">
                <a:solidFill>
                  <a:srgbClr val="F5F5F5">
                    <a:alpha val="6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50" b="0" lang="zh-CN" altLang="en-US">
                <a:solidFill>
                  <a:srgbClr val="F5F5F5">
                    <a:alpha val="65000"/>
                  </a:srgbClr>
                </a:solidFill>
                <a:latin typeface="Consolas"/>
                <a:ea typeface="微软雅黑"/>
                <a:cs typeface="微软雅黑"/>
              </a:rPr>
              <a:t>LOD。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536700"/>
            <a:ext cx="63500" cy="63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05700" y="1460500"/>
            <a:ext cx="40767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近段：循环面片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5700" y="1803400"/>
            <a:ext cx="40767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跟随弹体，表达刚喷出的火星。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781300"/>
            <a:ext cx="63500" cy="63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05700" y="2705100"/>
            <a:ext cx="40767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远段：一次性序列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05700" y="3048000"/>
            <a:ext cx="40767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表达年老火星在世界中的运动。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4025900"/>
            <a:ext cx="63500" cy="63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05700" y="3949700"/>
            <a:ext cx="40767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帧预算：留给运动快的阶段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5700" y="4292600"/>
            <a:ext cx="40767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800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1080p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标定；</a:t>
            </a:r>
            <a:br/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0.77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px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是项目经验线。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397500"/>
            <a:ext cx="42672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4"/>
              </a:lnSpc>
            </a:pPr>
            <a:r>
              <a:rPr sz="1300" b="0" lang="zh-CN" altLang="en-US">
                <a:solidFill>
                  <a:srgbClr val="F5F5F5">
                    <a:alpha val="58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300" b="0" lang="zh-CN" altLang="en-US">
                <a:solidFill>
                  <a:srgbClr val="F5F5F5">
                    <a:alpha val="5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58000"/>
                  </a:srgbClr>
                </a:solidFill>
                <a:latin typeface="Consolas"/>
                <a:ea typeface="微软雅黑"/>
                <a:cs typeface="微软雅黑"/>
              </a:rPr>
              <a:t>S/M/L/Hero</a:t>
            </a:r>
            <a:r>
              <a:rPr sz="1300" b="0" lang="zh-CN" altLang="en-US">
                <a:solidFill>
                  <a:srgbClr val="F5F5F5">
                    <a:alpha val="5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58000"/>
                  </a:srgbClr>
                </a:solidFill>
                <a:latin typeface="Consolas"/>
                <a:ea typeface="微软雅黑"/>
                <a:cs typeface="微软雅黑"/>
              </a:rPr>
              <a:t>历史快照启用</a:t>
            </a:r>
            <a:r>
              <a:rPr sz="1300" b="0" lang="zh-CN" altLang="en-US">
                <a:solidFill>
                  <a:srgbClr val="F5F5F5">
                    <a:alpha val="5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58000"/>
                  </a:srgbClr>
                </a:solidFill>
                <a:latin typeface="Consolas"/>
                <a:ea typeface="微软雅黑"/>
                <a:cs typeface="微软雅黑"/>
              </a:rPr>
              <a:t>2</a:t>
            </a:r>
            <a:r>
              <a:rPr sz="1300" b="0" lang="zh-CN" altLang="en-US">
                <a:solidFill>
                  <a:srgbClr val="F5F5F5">
                    <a:alpha val="5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58000"/>
                  </a:srgbClr>
                </a:solidFill>
                <a:latin typeface="Consolas"/>
                <a:ea typeface="微软雅黑"/>
                <a:cs typeface="微软雅黑"/>
              </a:rPr>
              <a:t>个发射器；</a:t>
            </a:r>
            <a:br/>
            <a:r>
              <a:rPr sz="1300" b="0" lang="zh-CN" altLang="en-US">
                <a:solidFill>
                  <a:srgbClr val="F5F5F5">
                    <a:alpha val="58000"/>
                  </a:srgbClr>
                </a:solidFill>
                <a:latin typeface="Consolas"/>
                <a:ea typeface="微软雅黑"/>
                <a:cs typeface="微软雅黑"/>
              </a:rPr>
              <a:t>原方案另有</a:t>
            </a:r>
            <a:r>
              <a:rPr sz="1300" b="0" lang="zh-CN" altLang="en-US">
                <a:solidFill>
                  <a:srgbClr val="F5F5F5">
                    <a:alpha val="5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58000"/>
                  </a:srgbClr>
                </a:solidFill>
                <a:latin typeface="Consolas"/>
                <a:ea typeface="微软雅黑"/>
                <a:cs typeface="微软雅黑"/>
              </a:rPr>
              <a:t>GPU</a:t>
            </a:r>
            <a:r>
              <a:rPr sz="1300" b="0" lang="zh-CN" altLang="en-US">
                <a:solidFill>
                  <a:srgbClr val="F5F5F5">
                    <a:alpha val="5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58000"/>
                  </a:srgbClr>
                </a:solidFill>
                <a:latin typeface="Consolas"/>
                <a:ea typeface="微软雅黑"/>
                <a:cs typeface="微软雅黑"/>
              </a:rPr>
              <a:t>火花，不能概括为</a:t>
            </a:r>
            <a:r>
              <a:rPr sz="1300" b="0" lang="zh-CN" altLang="en-US">
                <a:solidFill>
                  <a:srgbClr val="F5F5F5">
                    <a:alpha val="5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58000"/>
                  </a:srgbClr>
                </a:solidFill>
                <a:latin typeface="Consolas"/>
                <a:ea typeface="微软雅黑"/>
                <a:cs typeface="微软雅黑"/>
              </a:rPr>
              <a:t>1</a:t>
            </a:r>
            <a:r>
              <a:rPr sz="1300" b="0" lang="zh-CN" altLang="en-US">
                <a:solidFill>
                  <a:srgbClr val="F5F5F5">
                    <a:alpha val="5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58000"/>
                  </a:srgbClr>
                </a:solidFill>
                <a:latin typeface="Consolas"/>
                <a:ea typeface="微软雅黑"/>
                <a:cs typeface="微软雅黑"/>
              </a:rPr>
              <a:t>层。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05 · 复用与分享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/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把单次制作沉淀为五步可复用的方法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/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358900"/>
            <a:ext cx="4267200" cy="4711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1358900"/>
            <a:ext cx="38100" cy="47117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94600" y="1587500"/>
            <a:ext cx="381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你们也可以这样用</a:t>
            </a:r>
            <a:r>
              <a:rPr sz="17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94600" y="23114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22225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重复的设置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5146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让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写成工具，按规范批量做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94600" y="31369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30480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难做的效果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3401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先拆层，再模拟、烘焙成序列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94600" y="39624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38735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大规模编排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1656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模板与时序分别维护，再由三表驱动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94600" y="4953000"/>
            <a:ext cx="3810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</a:pPr>
            <a:r>
              <a:rPr sz="140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从一件重复的小事开始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94600" y="5715000"/>
            <a:ext cx="342900" cy="38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600" y="1409700"/>
            <a:ext cx="6350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79"/>
              </a:lnSpc>
            </a:pPr>
            <a:r>
              <a:rPr sz="2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" y="1409700"/>
            <a:ext cx="5486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65"/>
              </a:lnSpc>
            </a:pP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规则成文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" y="1778000"/>
            <a:ext cx="5486400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目标、限制与验收写入标准和宪章。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2330450"/>
            <a:ext cx="6350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79"/>
              </a:lnSpc>
            </a:pPr>
            <a:r>
              <a:rPr sz="2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" y="2330450"/>
            <a:ext cx="5486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65"/>
              </a:lnSpc>
            </a:pP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原理先行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" y="2698750"/>
            <a:ext cx="5486400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把视觉特征拆成模拟结构与输出要求。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3251200"/>
            <a:ext cx="6350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79"/>
              </a:lnSpc>
            </a:pPr>
            <a:r>
              <a:rPr sz="2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" y="3251200"/>
            <a:ext cx="5486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65"/>
              </a:lnSpc>
            </a:pP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机器检查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" y="3619500"/>
            <a:ext cx="5486400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标准检查、回放检查、合入门禁。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4171950"/>
            <a:ext cx="6350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79"/>
              </a:lnSpc>
            </a:pPr>
            <a:r>
              <a:rPr sz="2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" y="4171950"/>
            <a:ext cx="5486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65"/>
              </a:lnSpc>
            </a:pP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状态分开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" y="4540250"/>
            <a:ext cx="5486400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执行结束、自检通过、用户通过分别记录。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600" y="5092700"/>
            <a:ext cx="6350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79"/>
              </a:lnSpc>
            </a:pPr>
            <a:r>
              <a:rPr sz="2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" y="5092700"/>
            <a:ext cx="5486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65"/>
              </a:lnSpc>
            </a:pP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锁版本复用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" y="5461000"/>
            <a:ext cx="5486400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保留配方、不可变修订和已通过版本。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05 · 复用与分享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/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三个工具与案例，会按同一套流程继续复用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/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/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317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6000" y="1358900"/>
            <a:ext cx="317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做什么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02500" y="1358900"/>
            <a:ext cx="317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怎么用</a:t>
            </a:r>
            <a:r>
              <a:rPr sz="1200" b="1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需要什么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638300"/>
            <a:ext cx="109728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790700"/>
            <a:ext cx="2794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烟花烘焙器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6000" y="1790700"/>
            <a:ext cx="3429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模拟火星、烘焙序列贴图、引擎回放，一次导出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与手游两套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2500" y="1790700"/>
            <a:ext cx="42799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双击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HTML，从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18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个案例开始改</a:t>
            </a:r>
          </a:p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Chrome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或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Edge，独立显卡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2654300"/>
            <a:ext cx="109728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2806700"/>
            <a:ext cx="2794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导入器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6000" y="2806700"/>
            <a:ext cx="3429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检查素材包，按规范设置，写入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UE；在烘焙器的「资源交付」页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02500" y="2806700"/>
            <a:ext cx="42799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导出后进导入清单，点「导入」才写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</a:p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开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GPUECli，本机交付服务（Python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3.10+）；没有就导出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ZIP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再导入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3670300"/>
            <a:ext cx="109728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3822700"/>
            <a:ext cx="2794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烟花编排工作台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6000" y="3822700"/>
            <a:ext cx="3429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按音乐时间线编排烟花，生成导演表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2500" y="3822700"/>
            <a:ext cx="42799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双击离线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HTML</a:t>
            </a:r>
          </a:p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浏览器即可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4686300"/>
            <a:ext cx="109728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4953000"/>
            <a:ext cx="6985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工具包将放在</a:t>
            </a:r>
            <a:r>
              <a:rPr sz="20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xx</a:t>
            </a:r>
            <a:r>
              <a:rPr sz="20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5372100"/>
            <a:ext cx="6985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分享包计划包含三个工具、案例和《先读我》；完整包尚待补齐。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/>
            </a:r>
          </a:p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首次导入请在测试工程中进行。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5000" y="4826000"/>
            <a:ext cx="33274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6600"/>
              </a:lnSpc>
            </a:pPr>
            <a:r>
              <a:rPr sz="6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谢谢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125200" y="5816600"/>
            <a:ext cx="457200" cy="38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从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Blender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经验转向面向游戏视角的烘焙器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460500"/>
            <a:ext cx="3302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00"/>
              </a:lnSpc>
            </a:pP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已有</a:t>
            </a:r>
            <a:r>
              <a:rPr sz="20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Blender</a:t>
            </a:r>
            <a:r>
              <a:rPr sz="20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工程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286000"/>
            <a:ext cx="63500" cy="63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" y="2209800"/>
            <a:ext cx="32385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效果与分层积累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552700"/>
            <a:ext cx="3238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保留物理运动、分叉结构</a:t>
            </a:r>
            <a:br/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与既有素材经验。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632200"/>
            <a:ext cx="63500" cy="63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" y="3556000"/>
            <a:ext cx="32385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交付过程不够直观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898900"/>
            <a:ext cx="3238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渲染等待、预览与导出差异，</a:t>
            </a:r>
            <a:br/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反复确认规格与容量。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232400"/>
            <a:ext cx="3429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7"/>
              </a:lnSpc>
            </a:pPr>
            <a:r>
              <a:rPr sz="13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工程只读复核，继续复用已有内容。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91000" y="3048000"/>
            <a:ext cx="838200" cy="0"/>
          </a:xfrm>
          <a:prstGeom prst="line">
            <a:avLst/>
          </a:prstGeom>
          <a:ln w="19050">
            <a:solidFill>
              <a:srgbClr val="0FF796"/>
            </a:solidFill>
            <a:tailEnd type="triangle" w="med" len="med"/>
          </a:ln>
        </p:spPr>
      </p:cxnSp>
      <p:pic>
        <p:nvPicPr>
          <p:cNvPr id="15" name="Picture 14" descr="0d016800fd2d3b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600" y="1358900"/>
            <a:ext cx="6273800" cy="33655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384800" y="4394200"/>
            <a:ext cx="175006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ource_tag"/>
          <p:cNvSpPr txBox="1"/>
          <p:nvPr/>
        </p:nvSpPr>
        <p:spPr>
          <a:xfrm>
            <a:off x="5384800" y="4394200"/>
            <a:ext cx="175006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工具界面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已有烘焙器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8600" y="4940300"/>
            <a:ext cx="62738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2"/>
              </a:lnSpc>
            </a:pPr>
            <a:r>
              <a:rPr sz="185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围绕面片、视距与交付规范定制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8600" y="5397500"/>
            <a:ext cx="6273800" cy="673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5"/>
              </a:lnSpc>
            </a:pPr>
            <a:r>
              <a:rPr sz="1500" b="0" lang="zh-CN" altLang="en-US">
                <a:solidFill>
                  <a:srgbClr val="F5F5F5">
                    <a:alpha val="75000"/>
                  </a:srgbClr>
                </a:solidFill>
                <a:latin typeface="Consolas"/>
                <a:ea typeface="微软雅黑"/>
                <a:cs typeface="微软雅黑"/>
              </a:rPr>
              <a:t>在固定二维视角下模拟粒子运动；</a:t>
            </a:r>
            <a:br/>
            <a:r>
              <a:rPr sz="1500" b="0" lang="zh-CN" altLang="en-US">
                <a:solidFill>
                  <a:srgbClr val="F5F5F5">
                    <a:alpha val="75000"/>
                  </a:srgbClr>
                </a:solidFill>
                <a:latin typeface="Consolas"/>
                <a:ea typeface="微软雅黑"/>
                <a:cs typeface="微软雅黑"/>
              </a:rPr>
              <a:t>导出序列、参数和按实际包播放的预览。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先确定舞台尺度，再组织发射点与花型比例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84300"/>
            <a:ext cx="66675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2"/>
              </a:lnSpc>
            </a:pPr>
            <a:r>
              <a:rPr sz="185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设计输入：舞台约</a:t>
            </a:r>
            <a:r>
              <a:rPr sz="185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5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800</a:t>
            </a:r>
            <a:r>
              <a:rPr sz="185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5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m</a:t>
            </a:r>
            <a:r>
              <a:rPr sz="185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5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宽、150</a:t>
            </a:r>
            <a:r>
              <a:rPr sz="185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5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m</a:t>
            </a:r>
            <a:r>
              <a:rPr sz="185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5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905000"/>
            <a:ext cx="66675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5"/>
              </a:lnSpc>
            </a:pP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主点间距约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100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P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点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9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个</a:t>
            </a:r>
            <a:br/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主点之间补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B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点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8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个，前台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F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点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7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794000"/>
            <a:ext cx="6667500" cy="1905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0600" y="33528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6300" y="3492500"/>
            <a:ext cx="444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P0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52550" y="3124200"/>
            <a:ext cx="50800" cy="50800"/>
          </a:xfrm>
          <a:prstGeom prst="rect">
            <a:avLst/>
          </a:prstGeom>
          <a:solidFill>
            <a:srgbClr val="F5F5F5">
              <a:alpha val="6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20850" y="33528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6550" y="3492500"/>
            <a:ext cx="444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P1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82800" y="3124200"/>
            <a:ext cx="50800" cy="50800"/>
          </a:xfrm>
          <a:prstGeom prst="rect">
            <a:avLst/>
          </a:prstGeom>
          <a:solidFill>
            <a:srgbClr val="F5F5F5">
              <a:alpha val="6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51100" y="33528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6800" y="3492500"/>
            <a:ext cx="444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P2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13050" y="3124200"/>
            <a:ext cx="50800" cy="50800"/>
          </a:xfrm>
          <a:prstGeom prst="rect">
            <a:avLst/>
          </a:prstGeom>
          <a:solidFill>
            <a:srgbClr val="F5F5F5">
              <a:alpha val="6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81350" y="33528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7050" y="3492500"/>
            <a:ext cx="444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P3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43300" y="3124200"/>
            <a:ext cx="50800" cy="50800"/>
          </a:xfrm>
          <a:prstGeom prst="rect">
            <a:avLst/>
          </a:prstGeom>
          <a:solidFill>
            <a:srgbClr val="F5F5F5">
              <a:alpha val="6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11600" y="33528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7300" y="3492500"/>
            <a:ext cx="444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P4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3550" y="3124200"/>
            <a:ext cx="50800" cy="50800"/>
          </a:xfrm>
          <a:prstGeom prst="rect">
            <a:avLst/>
          </a:prstGeom>
          <a:solidFill>
            <a:srgbClr val="F5F5F5">
              <a:alpha val="6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41850" y="33528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7550" y="3492500"/>
            <a:ext cx="444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P5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03800" y="3124200"/>
            <a:ext cx="50800" cy="50800"/>
          </a:xfrm>
          <a:prstGeom prst="rect">
            <a:avLst/>
          </a:prstGeom>
          <a:solidFill>
            <a:srgbClr val="F5F5F5">
              <a:alpha val="6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72100" y="33528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57800" y="3492500"/>
            <a:ext cx="444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P6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34050" y="3124200"/>
            <a:ext cx="50800" cy="50800"/>
          </a:xfrm>
          <a:prstGeom prst="rect">
            <a:avLst/>
          </a:prstGeom>
          <a:solidFill>
            <a:srgbClr val="F5F5F5">
              <a:alpha val="6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02350" y="33528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8050" y="3492500"/>
            <a:ext cx="444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P7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64300" y="3124200"/>
            <a:ext cx="50800" cy="50800"/>
          </a:xfrm>
          <a:prstGeom prst="rect">
            <a:avLst/>
          </a:prstGeom>
          <a:solidFill>
            <a:srgbClr val="F5F5F5">
              <a:alpha val="6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32600" y="33528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18300" y="3492500"/>
            <a:ext cx="444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P8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4114800"/>
            <a:ext cx="50800" cy="508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71700" y="4254500"/>
            <a:ext cx="3937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</a:pPr>
            <a:r>
              <a:rPr sz="1200" b="0" lang="zh-CN" altLang="en-US">
                <a:solidFill>
                  <a:srgbClr val="F5F5F5">
                    <a:alpha val="60000"/>
                  </a:srgbClr>
                </a:solidFill>
                <a:latin typeface="Consolas"/>
                <a:ea typeface="微软雅黑"/>
                <a:cs typeface="微软雅黑"/>
              </a:rPr>
              <a:t>F0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94000" y="4114800"/>
            <a:ext cx="50800" cy="508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79700" y="4254500"/>
            <a:ext cx="3937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</a:pPr>
            <a:r>
              <a:rPr sz="1200" b="0" lang="zh-CN" altLang="en-US">
                <a:solidFill>
                  <a:srgbClr val="F5F5F5">
                    <a:alpha val="60000"/>
                  </a:srgbClr>
                </a:solidFill>
                <a:latin typeface="Consolas"/>
                <a:ea typeface="微软雅黑"/>
                <a:cs typeface="微软雅黑"/>
              </a:rPr>
              <a:t>F1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02000" y="4114800"/>
            <a:ext cx="50800" cy="508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87700" y="4254500"/>
            <a:ext cx="3937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</a:pPr>
            <a:r>
              <a:rPr sz="1200" b="0" lang="zh-CN" altLang="en-US">
                <a:solidFill>
                  <a:srgbClr val="F5F5F5">
                    <a:alpha val="60000"/>
                  </a:srgbClr>
                </a:solidFill>
                <a:latin typeface="Consolas"/>
                <a:ea typeface="微软雅黑"/>
                <a:cs typeface="微软雅黑"/>
              </a:rPr>
              <a:t>F2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10000" y="4114800"/>
            <a:ext cx="50800" cy="508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95700" y="4254500"/>
            <a:ext cx="3937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</a:pPr>
            <a:r>
              <a:rPr sz="1200" b="0" lang="zh-CN" altLang="en-US">
                <a:solidFill>
                  <a:srgbClr val="F5F5F5">
                    <a:alpha val="60000"/>
                  </a:srgbClr>
                </a:solidFill>
                <a:latin typeface="Consolas"/>
                <a:ea typeface="微软雅黑"/>
                <a:cs typeface="微软雅黑"/>
              </a:rPr>
              <a:t>F3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18000" y="4114800"/>
            <a:ext cx="50800" cy="508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3700" y="4254500"/>
            <a:ext cx="3937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</a:pPr>
            <a:r>
              <a:rPr sz="1200" b="0" lang="zh-CN" altLang="en-US">
                <a:solidFill>
                  <a:srgbClr val="F5F5F5">
                    <a:alpha val="60000"/>
                  </a:srgbClr>
                </a:solidFill>
                <a:latin typeface="Consolas"/>
                <a:ea typeface="微软雅黑"/>
                <a:cs typeface="微软雅黑"/>
              </a:rPr>
              <a:t>F4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26000" y="4114800"/>
            <a:ext cx="50800" cy="508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11700" y="4254500"/>
            <a:ext cx="3937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</a:pPr>
            <a:r>
              <a:rPr sz="1200" b="0" lang="zh-CN" altLang="en-US">
                <a:solidFill>
                  <a:srgbClr val="F5F5F5">
                    <a:alpha val="60000"/>
                  </a:srgbClr>
                </a:solidFill>
                <a:latin typeface="Consolas"/>
                <a:ea typeface="微软雅黑"/>
                <a:cs typeface="微软雅黑"/>
              </a:rPr>
              <a:t>F5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34000" y="4114800"/>
            <a:ext cx="50800" cy="508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19700" y="4254500"/>
            <a:ext cx="3937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</a:pPr>
            <a:r>
              <a:rPr sz="1200" b="0" lang="zh-CN" altLang="en-US">
                <a:solidFill>
                  <a:srgbClr val="F5F5F5">
                    <a:alpha val="60000"/>
                  </a:srgbClr>
                </a:solidFill>
                <a:latin typeface="Consolas"/>
                <a:ea typeface="微软雅黑"/>
                <a:cs typeface="微软雅黑"/>
              </a:rPr>
              <a:t>F6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90600" y="3860800"/>
            <a:ext cx="5842000" cy="0"/>
          </a:xfrm>
          <a:prstGeom prst="line">
            <a:avLst/>
          </a:prstGeom>
          <a:ln w="12700">
            <a:solidFill>
              <a:srgbClr val="0FF796">
                <a:alpha val="40000"/>
              </a:srgbClr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914400" y="29210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4"/>
              </a:lnSpc>
            </a:pPr>
            <a:r>
              <a:rPr sz="1300" b="0" lang="zh-CN" altLang="en-US">
                <a:solidFill>
                  <a:srgbClr val="F5F5F5">
                    <a:alpha val="65000"/>
                  </a:srgbClr>
                </a:solidFill>
                <a:latin typeface="Consolas"/>
                <a:ea typeface="微软雅黑"/>
                <a:cs typeface="微软雅黑"/>
              </a:rPr>
              <a:t>P</a:t>
            </a:r>
            <a:r>
              <a:rPr sz="1300" b="0" lang="zh-CN" altLang="en-US">
                <a:solidFill>
                  <a:srgbClr val="F5F5F5">
                    <a:alpha val="6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65000"/>
                  </a:srgbClr>
                </a:solidFill>
                <a:latin typeface="Consolas"/>
                <a:ea typeface="微软雅黑"/>
                <a:cs typeface="微软雅黑"/>
              </a:rPr>
              <a:t>主点</a:t>
            </a:r>
            <a:r>
              <a:rPr sz="1300" b="0" lang="zh-CN" altLang="en-US">
                <a:solidFill>
                  <a:srgbClr val="F5F5F5">
                    <a:alpha val="6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65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300" b="0" lang="zh-CN" altLang="en-US">
                <a:solidFill>
                  <a:srgbClr val="F5F5F5">
                    <a:alpha val="6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65000"/>
                  </a:srgbClr>
                </a:solidFill>
                <a:latin typeface="Consolas"/>
                <a:ea typeface="微软雅黑"/>
                <a:cs typeface="微软雅黑"/>
              </a:rPr>
              <a:t>B</a:t>
            </a:r>
            <a:r>
              <a:rPr sz="1300" b="0" lang="zh-CN" altLang="en-US">
                <a:solidFill>
                  <a:srgbClr val="F5F5F5">
                    <a:alpha val="6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65000"/>
                  </a:srgbClr>
                </a:solidFill>
                <a:latin typeface="Consolas"/>
                <a:ea typeface="微软雅黑"/>
                <a:cs typeface="微软雅黑"/>
              </a:rPr>
              <a:t>补点</a:t>
            </a:r>
            <a:r>
              <a:rPr sz="1300" b="0" lang="zh-CN" altLang="en-US">
                <a:solidFill>
                  <a:srgbClr val="F5F5F5">
                    <a:alpha val="6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65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300" b="0" lang="zh-CN" altLang="en-US">
                <a:solidFill>
                  <a:srgbClr val="F5F5F5">
                    <a:alpha val="6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65000"/>
                  </a:srgbClr>
                </a:solidFill>
                <a:latin typeface="Consolas"/>
                <a:ea typeface="微软雅黑"/>
                <a:cs typeface="微软雅黑"/>
              </a:rPr>
              <a:t>F</a:t>
            </a:r>
            <a:r>
              <a:rPr sz="1300" b="0" lang="zh-CN" altLang="en-US">
                <a:solidFill>
                  <a:srgbClr val="F5F5F5">
                    <a:alpha val="6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65000"/>
                  </a:srgbClr>
                </a:solidFill>
                <a:latin typeface="Consolas"/>
                <a:ea typeface="微软雅黑"/>
                <a:cs typeface="微软雅黑"/>
              </a:rPr>
              <a:t>前台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9600" y="4864100"/>
            <a:ext cx="6604000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12"/>
              </a:lnSpc>
            </a:pP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点位示意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按设计方案排列，未按真实UE坐标绘制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9600" y="5359400"/>
            <a:ext cx="66675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5"/>
              </a:lnSpc>
            </a:pP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游戏视距约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800–1200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m，四尺玉约占屏高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1/3：</a:t>
            </a:r>
            <a:br/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用于校准画面大小与贴图清晰度。</a:t>
            </a:r>
          </a:p>
        </p:txBody>
      </p:sp>
      <p:pic>
        <p:nvPicPr>
          <p:cNvPr id="53" name="Picture 52" descr="c7488c3d2e39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1358900"/>
            <a:ext cx="3962400" cy="2603500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7696200" y="3632200"/>
            <a:ext cx="129286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source_tag"/>
          <p:cNvSpPr txBox="1"/>
          <p:nvPr/>
        </p:nvSpPr>
        <p:spPr>
          <a:xfrm>
            <a:off x="7696200" y="3632200"/>
            <a:ext cx="129286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工具界面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舞台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20000" y="4203700"/>
            <a:ext cx="39624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65"/>
              </a:lnSpc>
            </a:pP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设计布局需要回到实机校正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20000" y="4787900"/>
            <a:ext cx="3962400" cy="1104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2"/>
              </a:lnSpc>
            </a:pPr>
            <a:r>
              <a:rPr sz="1450" b="0" lang="zh-CN" altLang="en-US">
                <a:solidFill>
                  <a:srgbClr val="F5F5F5">
                    <a:alpha val="75000"/>
                  </a:srgbClr>
                </a:solidFill>
                <a:latin typeface="Consolas"/>
                <a:ea typeface="微软雅黑"/>
                <a:cs typeface="微软雅黑"/>
              </a:rPr>
              <a:t>实际</a:t>
            </a:r>
            <a:r>
              <a:rPr sz="1450" b="0" lang="zh-CN" altLang="en-US">
                <a:solidFill>
                  <a:srgbClr val="F5F5F5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75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450" b="0" lang="zh-CN" altLang="en-US">
                <a:solidFill>
                  <a:srgbClr val="F5F5F5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75000"/>
                  </a:srgbClr>
                </a:solidFill>
                <a:latin typeface="Consolas"/>
                <a:ea typeface="微软雅黑"/>
                <a:cs typeface="微软雅黑"/>
              </a:rPr>
              <a:t>机位和点距与方案有差异；</a:t>
            </a:r>
            <a:br/>
            <a:r>
              <a:rPr sz="1450" b="0" lang="zh-CN" altLang="en-US">
                <a:solidFill>
                  <a:srgbClr val="F5F5F5">
                    <a:alpha val="75000"/>
                  </a:srgbClr>
                </a:solidFill>
                <a:latin typeface="Consolas"/>
                <a:ea typeface="微软雅黑"/>
                <a:cs typeface="微软雅黑"/>
              </a:rPr>
              <a:t>花径、屏占比与高度须一起验证。</a:t>
            </a:r>
            <a:br/>
            <a:r>
              <a:rPr sz="1450" b="0" lang="zh-CN" altLang="en-US">
                <a:solidFill>
                  <a:srgbClr val="F5F5F5">
                    <a:alpha val="75000"/>
                  </a:srgbClr>
                </a:solidFill>
                <a:latin typeface="Consolas"/>
                <a:ea typeface="微软雅黑"/>
                <a:cs typeface="微软雅黑"/>
              </a:rPr>
              <a:t>24</a:t>
            </a:r>
            <a:r>
              <a:rPr sz="1450" b="0" lang="zh-CN" altLang="en-US">
                <a:solidFill>
                  <a:srgbClr val="F5F5F5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75000"/>
                  </a:srgbClr>
                </a:solidFill>
                <a:latin typeface="Consolas"/>
                <a:ea typeface="微软雅黑"/>
                <a:cs typeface="微软雅黑"/>
              </a:rPr>
              <a:t>个点位是设计结果，不是性能结论。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方案设计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由花径与点距推导分级、高度和重叠约束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685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4"/>
              </a:lnSpc>
            </a:pPr>
            <a:r>
              <a:rPr sz="1300" b="0" lang="zh-CN" altLang="en-US">
                <a:solidFill>
                  <a:srgbClr val="F5F5F5">
                    <a:alpha val="60000"/>
                  </a:srgbClr>
                </a:solidFill>
                <a:latin typeface="Consolas"/>
                <a:ea typeface="微软雅黑"/>
                <a:cs typeface="微软雅黑"/>
              </a:rPr>
              <a:t>构图级别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33700" y="19685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4"/>
              </a:lnSpc>
            </a:pPr>
            <a:r>
              <a:rPr sz="1300" b="0" lang="zh-CN" altLang="en-US">
                <a:solidFill>
                  <a:srgbClr val="F5F5F5">
                    <a:alpha val="60000"/>
                  </a:srgbClr>
                </a:solidFill>
                <a:latin typeface="Consolas"/>
                <a:ea typeface="微软雅黑"/>
                <a:cs typeface="微软雅黑"/>
              </a:rPr>
              <a:t>目标花径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6100" y="19685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4"/>
              </a:lnSpc>
            </a:pPr>
            <a:r>
              <a:rPr sz="1300" b="0" lang="zh-CN" altLang="en-US">
                <a:solidFill>
                  <a:srgbClr val="F5F5F5">
                    <a:alpha val="60000"/>
                  </a:srgbClr>
                </a:solidFill>
                <a:latin typeface="Consolas"/>
                <a:ea typeface="微软雅黑"/>
                <a:cs typeface="微软雅黑"/>
              </a:rPr>
              <a:t>参考开花高度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6500" y="19685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4"/>
              </a:lnSpc>
            </a:pPr>
            <a:r>
              <a:rPr sz="1300" b="0" lang="zh-CN" altLang="en-US">
                <a:solidFill>
                  <a:srgbClr val="F5F5F5">
                    <a:alpha val="60000"/>
                  </a:srgbClr>
                </a:solidFill>
                <a:latin typeface="Consolas"/>
                <a:ea typeface="微软雅黑"/>
                <a:cs typeface="微软雅黑"/>
              </a:rPr>
              <a:t>资源对应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336800"/>
            <a:ext cx="10972800" cy="6350"/>
          </a:xfrm>
          <a:prstGeom prst="rect">
            <a:avLst/>
          </a:prstGeom>
          <a:solidFill>
            <a:srgbClr val="F5F5F5">
              <a:alpha val="1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2425700"/>
            <a:ext cx="2540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2"/>
              </a:lnSpc>
            </a:pPr>
            <a:r>
              <a:rPr sz="185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3700" y="2425700"/>
            <a:ext cx="2540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2"/>
              </a:lnSpc>
            </a:pPr>
            <a:r>
              <a:rPr sz="18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90</a:t>
            </a:r>
            <a:r>
              <a:rPr sz="18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6100" y="2425700"/>
            <a:ext cx="2540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2"/>
              </a:lnSpc>
            </a:pPr>
            <a:r>
              <a:rPr sz="18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+150</a:t>
            </a:r>
            <a:r>
              <a:rPr sz="18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6500" y="2425700"/>
            <a:ext cx="2540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2"/>
              </a:lnSpc>
            </a:pPr>
            <a:r>
              <a:rPr sz="18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S</a:t>
            </a:r>
            <a:r>
              <a:rPr sz="18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尾缀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2971800"/>
            <a:ext cx="10972800" cy="6350"/>
          </a:xfrm>
          <a:prstGeom prst="rect">
            <a:avLst/>
          </a:prstGeom>
          <a:solidFill>
            <a:srgbClr val="F5F5F5">
              <a:alpha val="1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3060700"/>
            <a:ext cx="2540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2"/>
              </a:lnSpc>
            </a:pPr>
            <a:r>
              <a:rPr sz="185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3700" y="3060700"/>
            <a:ext cx="2540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2"/>
              </a:lnSpc>
            </a:pPr>
            <a:r>
              <a:rPr sz="18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150</a:t>
            </a:r>
            <a:r>
              <a:rPr sz="18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6100" y="3060700"/>
            <a:ext cx="2540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2"/>
              </a:lnSpc>
            </a:pPr>
            <a:r>
              <a:rPr sz="18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+210</a:t>
            </a:r>
            <a:r>
              <a:rPr sz="18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6500" y="3060700"/>
            <a:ext cx="2540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2"/>
              </a:lnSpc>
            </a:pPr>
            <a:r>
              <a:rPr sz="18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M</a:t>
            </a:r>
            <a:r>
              <a:rPr sz="18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尾缀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3606800"/>
            <a:ext cx="10972800" cy="6350"/>
          </a:xfrm>
          <a:prstGeom prst="rect">
            <a:avLst/>
          </a:prstGeom>
          <a:solidFill>
            <a:srgbClr val="F5F5F5">
              <a:alpha val="1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3695700"/>
            <a:ext cx="2540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2"/>
              </a:lnSpc>
            </a:pPr>
            <a:r>
              <a:rPr sz="185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33700" y="3695700"/>
            <a:ext cx="2540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2"/>
              </a:lnSpc>
            </a:pPr>
            <a:r>
              <a:rPr sz="18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230</a:t>
            </a:r>
            <a:r>
              <a:rPr sz="18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6100" y="3695700"/>
            <a:ext cx="2540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2"/>
              </a:lnSpc>
            </a:pPr>
            <a:r>
              <a:rPr sz="18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+330</a:t>
            </a:r>
            <a:r>
              <a:rPr sz="18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6500" y="3695700"/>
            <a:ext cx="2540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2"/>
              </a:lnSpc>
            </a:pPr>
            <a:r>
              <a:rPr sz="18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L</a:t>
            </a:r>
            <a:r>
              <a:rPr sz="18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尾缀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4241800"/>
            <a:ext cx="10972800" cy="6350"/>
          </a:xfrm>
          <a:prstGeom prst="rect">
            <a:avLst/>
          </a:prstGeom>
          <a:solidFill>
            <a:srgbClr val="F5F5F5">
              <a:alpha val="1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00" y="4330700"/>
            <a:ext cx="2540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2"/>
              </a:lnSpc>
            </a:pPr>
            <a:r>
              <a:rPr sz="185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主角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33700" y="4330700"/>
            <a:ext cx="2540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2"/>
              </a:lnSpc>
            </a:pPr>
            <a:r>
              <a:rPr sz="18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280</a:t>
            </a:r>
            <a:r>
              <a:rPr sz="18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6100" y="4330700"/>
            <a:ext cx="2540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2"/>
              </a:lnSpc>
            </a:pPr>
            <a:r>
              <a:rPr sz="18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+400</a:t>
            </a:r>
            <a:r>
              <a:rPr sz="18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6500" y="4330700"/>
            <a:ext cx="2540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2"/>
              </a:lnSpc>
            </a:pPr>
            <a:r>
              <a:rPr sz="18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Hero</a:t>
            </a:r>
            <a:r>
              <a:rPr sz="18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尾缀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1409700"/>
            <a:ext cx="109728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点距约</a:t>
            </a:r>
            <a:r>
              <a:rPr sz="1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100</a:t>
            </a:r>
            <a:r>
              <a:rPr sz="1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m：按花径控制疏密，花墙与主角构图单独定高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5080000"/>
            <a:ext cx="10972800" cy="6350"/>
          </a:xfrm>
          <a:prstGeom prst="rect">
            <a:avLst/>
          </a:prstGeom>
          <a:solidFill>
            <a:srgbClr val="F5F5F5">
              <a:alpha val="1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600" y="5283200"/>
            <a:ext cx="6413500" cy="736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5"/>
              </a:lnSpc>
            </a:pP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参考量比：花径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点距约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1.5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时仍能分辨；</a:t>
            </a:r>
            <a:br/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2–2.3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形成花墙，约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3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容易糊成一片。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0" y="5283200"/>
            <a:ext cx="39624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5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宪章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尺寸表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尾缀档位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三表</a:t>
            </a:r>
            <a:br/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再检查重叠、限峰与档位嵌套。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实践成果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资源量产留下了可追溯的序列与素材输出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97000"/>
            <a:ext cx="5905500" cy="1001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300"/>
              </a:lnSpc>
            </a:pPr>
            <a:r>
              <a:rPr sz="7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466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416810"/>
            <a:ext cx="5905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份现存导出清单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946400"/>
            <a:ext cx="5905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5"/>
              </a:lnSpc>
            </a:pPr>
            <a:r>
              <a:rPr sz="1500" b="0" lang="zh-CN" altLang="en-US">
                <a:solidFill>
                  <a:srgbClr val="F5F5F5">
                    <a:alpha val="74000"/>
                  </a:srgbClr>
                </a:solidFill>
                <a:latin typeface="Consolas"/>
                <a:ea typeface="微软雅黑"/>
                <a:cs typeface="微软雅黑"/>
              </a:rPr>
              <a:t>统计已有结果目录中的导出记录；</a:t>
            </a:r>
            <a:br/>
            <a:r>
              <a:rPr sz="1500" b="0" lang="zh-CN" altLang="en-US">
                <a:solidFill>
                  <a:srgbClr val="F5F5F5">
                    <a:alpha val="74000"/>
                  </a:srgbClr>
                </a:solidFill>
                <a:latin typeface="Consolas"/>
                <a:ea typeface="微软雅黑"/>
                <a:cs typeface="微软雅黑"/>
              </a:rPr>
              <a:t>包含反复迭代，不等同于466个效果。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3784600"/>
            <a:ext cx="5905500" cy="6350"/>
          </a:xfrm>
          <a:prstGeom prst="rect">
            <a:avLst/>
          </a:prstGeom>
          <a:solidFill>
            <a:srgbClr val="F5F5F5">
              <a:alpha val="1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000500"/>
            <a:ext cx="59055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0"/>
              </a:lnSpc>
            </a:pPr>
            <a:r>
              <a:rPr sz="16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主序列：PC</a:t>
            </a:r>
            <a:r>
              <a:rPr sz="1600" b="0" lang="zh-CN" altLang="en-US">
                <a:solidFill>
                  <a:srgbClr val="F5F5F5">
                    <a:alpha val="7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952</a:t>
            </a:r>
            <a:r>
              <a:rPr sz="1600" b="0" lang="zh-CN" altLang="en-US">
                <a:solidFill>
                  <a:srgbClr val="F5F5F5">
                    <a:alpha val="7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+</a:t>
            </a:r>
            <a:r>
              <a:rPr sz="1600" b="0" lang="zh-CN" altLang="en-US">
                <a:solidFill>
                  <a:srgbClr val="F5F5F5">
                    <a:alpha val="7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手游</a:t>
            </a:r>
            <a:r>
              <a:rPr sz="1600" b="0" lang="zh-CN" altLang="en-US">
                <a:solidFill>
                  <a:srgbClr val="F5F5F5">
                    <a:alpha val="7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1019</a:t>
            </a:r>
            <a:br/>
            <a:r>
              <a:rPr sz="16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辅助：Ramp</a:t>
            </a:r>
            <a:r>
              <a:rPr sz="1600" b="0" lang="zh-CN" altLang="en-US">
                <a:solidFill>
                  <a:srgbClr val="F5F5F5">
                    <a:alpha val="7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852</a:t>
            </a:r>
            <a:r>
              <a:rPr sz="1600" b="0" lang="zh-CN" altLang="en-US">
                <a:solidFill>
                  <a:srgbClr val="F5F5F5">
                    <a:alpha val="7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+</a:t>
            </a:r>
            <a:r>
              <a:rPr sz="1600" b="0" lang="zh-CN" altLang="en-US">
                <a:solidFill>
                  <a:srgbClr val="F5F5F5">
                    <a:alpha val="7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Cutout</a:t>
            </a:r>
            <a:r>
              <a:rPr sz="1600" b="0" lang="zh-CN" altLang="en-US">
                <a:solidFill>
                  <a:srgbClr val="F5F5F5">
                    <a:alpha val="7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1196</a:t>
            </a:r>
            <a:br/>
            <a:r>
              <a:rPr sz="16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单帧</a:t>
            </a:r>
            <a:r>
              <a:rPr sz="1600" b="0" lang="zh-CN" altLang="en-US">
                <a:solidFill>
                  <a:srgbClr val="F5F5F5">
                    <a:alpha val="7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3；检查图</a:t>
            </a:r>
            <a:r>
              <a:rPr sz="1600" b="0" lang="zh-CN" altLang="en-US">
                <a:solidFill>
                  <a:srgbClr val="F5F5F5">
                    <a:alpha val="7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155</a:t>
            </a:r>
            <a:r>
              <a:rPr sz="1600" b="0" lang="zh-CN" altLang="en-US">
                <a:solidFill>
                  <a:srgbClr val="F5F5F5">
                    <a:alpha val="7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另计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359400"/>
            <a:ext cx="5905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7"/>
              </a:lnSpc>
            </a:pPr>
            <a:r>
              <a:rPr sz="1350" b="0" lang="zh-CN" altLang="en-US">
                <a:solidFill>
                  <a:srgbClr val="F5F5F5">
                    <a:alpha val="56000"/>
                  </a:srgbClr>
                </a:solidFill>
                <a:latin typeface="Consolas"/>
                <a:ea typeface="微软雅黑"/>
                <a:cs typeface="微软雅黑"/>
              </a:rPr>
              <a:t>以上为累计</a:t>
            </a:r>
            <a:r>
              <a:rPr sz="1350" b="0" lang="zh-CN" altLang="en-US">
                <a:solidFill>
                  <a:srgbClr val="F5F5F5">
                    <a:alpha val="5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50" b="0" lang="zh-CN" altLang="en-US">
                <a:solidFill>
                  <a:srgbClr val="F5F5F5">
                    <a:alpha val="56000"/>
                  </a:srgbClr>
                </a:solidFill>
                <a:latin typeface="Consolas"/>
                <a:ea typeface="微软雅黑"/>
                <a:cs typeface="微软雅黑"/>
              </a:rPr>
              <a:t>PNG</a:t>
            </a:r>
            <a:r>
              <a:rPr sz="1350" b="0" lang="zh-CN" altLang="en-US">
                <a:solidFill>
                  <a:srgbClr val="F5F5F5">
                    <a:alpha val="5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50" b="0" lang="zh-CN" altLang="en-US">
                <a:solidFill>
                  <a:srgbClr val="F5F5F5">
                    <a:alpha val="56000"/>
                  </a:srgbClr>
                </a:solidFill>
                <a:latin typeface="Consolas"/>
                <a:ea typeface="微软雅黑"/>
                <a:cs typeface="微软雅黑"/>
              </a:rPr>
              <a:t>输出次数，包含重复版本。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397000"/>
            <a:ext cx="4267200" cy="836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100"/>
              </a:lnSpc>
            </a:pPr>
            <a:r>
              <a:rPr sz="61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1971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9170"/>
            <a:ext cx="42672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次主序列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PNG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946400"/>
            <a:ext cx="4267200" cy="8366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100"/>
              </a:lnSpc>
            </a:pPr>
            <a:r>
              <a:rPr sz="61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4022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798570"/>
            <a:ext cx="42672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次素材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PNG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输出（不含检查图）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521200"/>
            <a:ext cx="42672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5"/>
              </a:lnSpc>
            </a:pPr>
            <a:r>
              <a:rPr sz="1500" b="0" lang="zh-CN" altLang="en-US">
                <a:solidFill>
                  <a:srgbClr val="F5F5F5">
                    <a:alpha val="74000"/>
                  </a:srgbClr>
                </a:solidFill>
                <a:latin typeface="Consolas"/>
                <a:ea typeface="微软雅黑"/>
                <a:cs typeface="微软雅黑"/>
              </a:rPr>
              <a:t>与当前</a:t>
            </a:r>
            <a:r>
              <a:rPr sz="1500" b="0" lang="zh-CN" altLang="en-US">
                <a:solidFill>
                  <a:srgbClr val="F5F5F5">
                    <a:alpha val="74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4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500" b="0" lang="zh-CN" altLang="en-US">
                <a:solidFill>
                  <a:srgbClr val="F5F5F5">
                    <a:alpha val="74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4000"/>
                  </a:srgbClr>
                </a:solidFill>
                <a:latin typeface="Consolas"/>
                <a:ea typeface="微软雅黑"/>
                <a:cs typeface="微软雅黑"/>
              </a:rPr>
              <a:t>引用的</a:t>
            </a:r>
            <a:r>
              <a:rPr sz="1500" b="0" lang="zh-CN" altLang="en-US">
                <a:solidFill>
                  <a:srgbClr val="F5F5F5">
                    <a:alpha val="74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4000"/>
                  </a:srgbClr>
                </a:solidFill>
                <a:latin typeface="Consolas"/>
                <a:ea typeface="微软雅黑"/>
                <a:cs typeface="微软雅黑"/>
              </a:rPr>
              <a:t>212</a:t>
            </a:r>
            <a:r>
              <a:rPr sz="1500" b="0" lang="zh-CN" altLang="en-US">
                <a:solidFill>
                  <a:srgbClr val="F5F5F5">
                    <a:alpha val="74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4000"/>
                  </a:srgbClr>
                </a:solidFill>
                <a:latin typeface="Consolas"/>
                <a:ea typeface="微软雅黑"/>
                <a:cs typeface="微软雅黑"/>
              </a:rPr>
              <a:t>张贴图分开：</a:t>
            </a:r>
            <a:br/>
            <a:r>
              <a:rPr sz="1500" b="0" lang="zh-CN" altLang="en-US">
                <a:solidFill>
                  <a:srgbClr val="F5F5F5">
                    <a:alpha val="74000"/>
                  </a:srgbClr>
                </a:solidFill>
                <a:latin typeface="Consolas"/>
                <a:ea typeface="微软雅黑"/>
                <a:cs typeface="微软雅黑"/>
              </a:rPr>
              <a:t>前者是过程产出；后者是资产库存。</a:t>
            </a:r>
            <a:br/>
            <a:r>
              <a:rPr sz="1500" b="0" lang="zh-CN" altLang="en-US">
                <a:solidFill>
                  <a:srgbClr val="F5F5F5">
                    <a:alpha val="74000"/>
                  </a:srgbClr>
                </a:solidFill>
                <a:latin typeface="Consolas"/>
                <a:ea typeface="微软雅黑"/>
                <a:cs typeface="微软雅黑"/>
              </a:rPr>
              <a:t>不能相加，也不能当作独立成品数。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经验沉淀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黑点与末格黑块：修复方式写成资源契约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6350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2"/>
              </a:lnSpc>
            </a:pPr>
            <a:r>
              <a:rPr sz="185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黑点：明暗与透明度需要分开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968500"/>
            <a:ext cx="27305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7"/>
              </a:lnSpc>
            </a:pPr>
            <a:r>
              <a:rPr sz="1350" b="0" lang="zh-CN" altLang="en-US">
                <a:solidFill>
                  <a:srgbClr val="F5F5F5">
                    <a:alpha val="63000"/>
                  </a:srgbClr>
                </a:solidFill>
                <a:latin typeface="Consolas"/>
                <a:ea typeface="微软雅黑"/>
                <a:cs typeface="微软雅黑"/>
              </a:rPr>
              <a:t>修前</a:t>
            </a:r>
            <a:r>
              <a:rPr sz="1350" b="0" lang="zh-CN" altLang="en-US">
                <a:solidFill>
                  <a:srgbClr val="F5F5F5">
                    <a:alpha val="63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50" b="0" lang="zh-CN" altLang="en-US">
                <a:solidFill>
                  <a:srgbClr val="F5F5F5">
                    <a:alpha val="63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350" b="0" lang="zh-CN" altLang="en-US">
                <a:solidFill>
                  <a:srgbClr val="F5F5F5">
                    <a:alpha val="63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50" b="0" lang="zh-CN" altLang="en-US">
                <a:solidFill>
                  <a:srgbClr val="F5F5F5">
                    <a:alpha val="63000"/>
                  </a:srgbClr>
                </a:solidFill>
                <a:latin typeface="Consolas"/>
                <a:ea typeface="微软雅黑"/>
                <a:cs typeface="微软雅黑"/>
              </a:rPr>
              <a:t>实际导出数据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7000" y="1968500"/>
            <a:ext cx="3073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7"/>
              </a:lnSpc>
            </a:pPr>
            <a:r>
              <a:rPr sz="135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修后</a:t>
            </a:r>
            <a:r>
              <a:rPr sz="1350" b="0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5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350" b="0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5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实际导出数据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374900"/>
            <a:ext cx="2857500" cy="11303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37000" y="2374900"/>
            <a:ext cx="3073400" cy="11303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37000" y="2374900"/>
            <a:ext cx="38100" cy="1130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" y="2578100"/>
            <a:ext cx="24765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7"/>
              </a:lnSpc>
            </a:pPr>
            <a:r>
              <a:rPr sz="15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RGB</a:t>
            </a:r>
            <a:r>
              <a:rPr sz="15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随生命降至</a:t>
            </a:r>
            <a:r>
              <a:rPr sz="15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0</a:t>
            </a:r>
            <a:br/>
            <a:r>
              <a:rPr sz="15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Alpha</a:t>
            </a:r>
            <a:r>
              <a:rPr sz="15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始终为</a:t>
            </a:r>
            <a:r>
              <a:rPr sz="15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52900" y="2578100"/>
            <a:ext cx="2641600" cy="71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5"/>
              </a:lnSpc>
            </a:pPr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RGB</a:t>
            </a:r>
            <a:r>
              <a:rPr sz="15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保持色相与亮度</a:t>
            </a:r>
            <a:br/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淡出</a:t>
            </a:r>
            <a:r>
              <a:rPr sz="15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5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闪烁写</a:t>
            </a:r>
            <a:r>
              <a:rPr sz="15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Alpha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43300" y="2921000"/>
            <a:ext cx="304800" cy="0"/>
          </a:xfrm>
          <a:prstGeom prst="line">
            <a:avLst/>
          </a:prstGeom>
          <a:ln w="19050">
            <a:solidFill>
              <a:srgbClr val="0FF796"/>
            </a:solidFill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609600" y="3746500"/>
            <a:ext cx="6400800" cy="74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0" lang="zh-CN" altLang="en-US">
                <a:solidFill>
                  <a:srgbClr val="F5F5F5">
                    <a:alpha val="68000"/>
                  </a:srgbClr>
                </a:solidFill>
                <a:latin typeface="Consolas"/>
                <a:ea typeface="微软雅黑"/>
                <a:cs typeface="微软雅黑"/>
              </a:rPr>
              <a:t>新写法增加</a:t>
            </a:r>
            <a:r>
              <a:rPr sz="1400" b="0" lang="zh-CN" altLang="en-US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68000"/>
                  </a:srgbClr>
                </a:solidFill>
                <a:latin typeface="Consolas"/>
                <a:ea typeface="微软雅黑"/>
                <a:cs typeface="微软雅黑"/>
              </a:rPr>
              <a:t>Scale</a:t>
            </a:r>
            <a:r>
              <a:rPr sz="1400" b="0" lang="zh-CN" altLang="en-US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68000"/>
                  </a:srgbClr>
                </a:solidFill>
                <a:latin typeface="Consolas"/>
                <a:ea typeface="微软雅黑"/>
                <a:cs typeface="微软雅黑"/>
              </a:rPr>
              <a:t>Color/Life。</a:t>
            </a:r>
            <a:br/>
            <a:r>
              <a:rPr sz="1400" b="0" lang="zh-CN" altLang="en-US">
                <a:solidFill>
                  <a:srgbClr val="F5F5F5">
                    <a:alpha val="68000"/>
                  </a:srgbClr>
                </a:solidFill>
                <a:latin typeface="Consolas"/>
                <a:ea typeface="微软雅黑"/>
                <a:cs typeface="微软雅黑"/>
              </a:rPr>
              <a:t>此处是参数修前修后；没有</a:t>
            </a:r>
            <a:r>
              <a:rPr sz="1400" b="0" lang="zh-CN" altLang="en-US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68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400" b="0" lang="zh-CN" altLang="en-US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68000"/>
                  </a:srgbClr>
                </a:solidFill>
                <a:latin typeface="Consolas"/>
                <a:ea typeface="微软雅黑"/>
                <a:cs typeface="微软雅黑"/>
              </a:rPr>
              <a:t>成对截图。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4826000"/>
            <a:ext cx="6400800" cy="6350"/>
          </a:xfrm>
          <a:prstGeom prst="rect">
            <a:avLst/>
          </a:prstGeom>
          <a:solidFill>
            <a:srgbClr val="F5F5F5">
              <a:alpha val="1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5029200"/>
            <a:ext cx="6400800" cy="1041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7"/>
              </a:lnSpc>
            </a:pPr>
            <a:r>
              <a:rPr sz="15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末格黑块：最亮采样可能触到黑末格。</a:t>
            </a:r>
            <a:br/>
            <a:r>
              <a:rPr sz="15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用户确认</a:t>
            </a:r>
            <a:r>
              <a:rPr sz="15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EmissiveDissolve</a:t>
            </a:r>
            <a:r>
              <a:rPr sz="15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=</a:t>
            </a:r>
            <a:r>
              <a:rPr sz="15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0.98</a:t>
            </a:r>
            <a:r>
              <a:rPr sz="15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有效；</a:t>
            </a:r>
            <a:br/>
            <a:r>
              <a:rPr sz="15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已统一写入导出与导入规则。</a:t>
            </a:r>
          </a:p>
        </p:txBody>
      </p:sp>
      <p:pic>
        <p:nvPicPr>
          <p:cNvPr id="18" name="Picture 17" descr="a4a31c34fc04ec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1358900"/>
            <a:ext cx="4152900" cy="23749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505700" y="3403600"/>
            <a:ext cx="248158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ource_tag"/>
          <p:cNvSpPr txBox="1"/>
          <p:nvPr/>
        </p:nvSpPr>
        <p:spPr>
          <a:xfrm>
            <a:off x="7505700" y="3403600"/>
            <a:ext cx="248158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模拟机制对照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非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0.98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修前修后</a:t>
            </a:r>
          </a:p>
        </p:txBody>
      </p:sp>
      <p:pic>
        <p:nvPicPr>
          <p:cNvPr id="21" name="Picture 20" descr="22494d1bb94a42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3962400"/>
            <a:ext cx="4152900" cy="16383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7505700" y="5270500"/>
            <a:ext cx="231394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source_tag"/>
          <p:cNvSpPr txBox="1"/>
          <p:nvPr/>
        </p:nvSpPr>
        <p:spPr>
          <a:xfrm>
            <a:off x="7505700" y="5270500"/>
            <a:ext cx="231394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修后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实播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无同机位修前图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500" y="5740400"/>
            <a:ext cx="41529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12"/>
              </a:lnSpc>
            </a:pPr>
            <a:r>
              <a:rPr sz="1250" b="0" lang="zh-CN" altLang="en-US">
                <a:solidFill>
                  <a:srgbClr val="F5F5F5">
                    <a:alpha val="56000"/>
                  </a:srgbClr>
                </a:solidFill>
                <a:latin typeface="Consolas"/>
                <a:ea typeface="微软雅黑"/>
                <a:cs typeface="微软雅黑"/>
              </a:rPr>
              <a:t>BC7、旧序列错配曾被调查，均不写成确证根因。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经验沉淀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DF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工作台风格，从参数组织到共享设计令牌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be951c2841a1df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6985000" cy="3911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4940300"/>
            <a:ext cx="207772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ource_tag"/>
          <p:cNvSpPr txBox="1"/>
          <p:nvPr/>
        </p:nvSpPr>
        <p:spPr>
          <a:xfrm>
            <a:off x="685800" y="4940300"/>
            <a:ext cx="207772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生产界面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烘焙器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4.9.124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486400"/>
            <a:ext cx="69850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2"/>
              </a:lnSpc>
            </a:pPr>
            <a:r>
              <a:rPr sz="145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沿用</a:t>
            </a:r>
            <a:r>
              <a:rPr sz="1450" b="0" lang="zh-CN" altLang="en-US">
                <a:solidFill>
                  <a:srgbClr val="F5F5F5">
                    <a:alpha val="72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DF</a:t>
            </a:r>
            <a:r>
              <a:rPr sz="1450" b="0" lang="zh-CN" altLang="en-US">
                <a:solidFill>
                  <a:srgbClr val="F5F5F5">
                    <a:alpha val="72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特效工作台配色；高密度参数按任务组织。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99400" y="1435100"/>
            <a:ext cx="63500" cy="63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89900" y="1358900"/>
            <a:ext cx="34925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宪章约束入口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9900" y="1701800"/>
            <a:ext cx="3492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一个任务一个主入口；</a:t>
            </a:r>
            <a:br/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无效参数变灰并解释原因。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99400" y="2705100"/>
            <a:ext cx="63500" cy="63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89900" y="2628900"/>
            <a:ext cx="34925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令牌统一基础值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9900" y="2971800"/>
            <a:ext cx="3492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颜色、字阶、间距与状态</a:t>
            </a:r>
            <a:br/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有一份来源，变更可追溯。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99400" y="3975100"/>
            <a:ext cx="63500" cy="63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9900" y="3898900"/>
            <a:ext cx="34925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按真实接入范围表述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9900" y="4241800"/>
            <a:ext cx="3492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编排工作台使用令牌；</a:t>
            </a:r>
            <a:br/>
            <a:r>
              <a:rPr sz="1400" b="0" lang="zh-CN" altLang="en-US">
                <a:solidFill>
                  <a:srgbClr val="F5F5F5">
                    <a:alpha val="72000"/>
                  </a:srgbClr>
                </a:solidFill>
                <a:latin typeface="Consolas"/>
                <a:ea typeface="微软雅黑"/>
                <a:cs typeface="微软雅黑"/>
              </a:rPr>
              <a:t>导入器同步配色。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9400" y="5372100"/>
            <a:ext cx="3683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组件与形状仍在收口；</a:t>
            </a:r>
            <a:br/>
            <a:r>
              <a:rPr sz="140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隔离中的</a:t>
            </a:r>
            <a:r>
              <a:rPr sz="1400" b="0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V5</a:t>
            </a:r>
            <a:r>
              <a:rPr sz="1400" b="0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方案属于设计稿。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附录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尾缀采样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屏幕位移决定帧预算，清晰度决定分段取舍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460500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32"/>
              </a:lnSpc>
            </a:pPr>
            <a:r>
              <a:rPr sz="285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Δp</a:t>
            </a:r>
            <a:r>
              <a:rPr sz="285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85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=</a:t>
            </a:r>
            <a:r>
              <a:rPr sz="285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85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∫</a:t>
            </a:r>
            <a:r>
              <a:rPr sz="285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85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v90(t)</a:t>
            </a:r>
            <a:r>
              <a:rPr sz="285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85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dt</a:t>
            </a:r>
            <a:r>
              <a:rPr sz="285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85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×</a:t>
            </a:r>
            <a:r>
              <a:rPr sz="285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85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pixelsPerMeter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22500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65"/>
              </a:lnSpc>
            </a:pPr>
            <a:r>
              <a:rPr sz="17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将</a:t>
            </a:r>
            <a:r>
              <a:rPr sz="17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90</a:t>
            </a:r>
            <a:r>
              <a:rPr sz="17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分位星速换成屏幕位移，在</a:t>
            </a:r>
            <a:r>
              <a:rPr sz="17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30</a:t>
            </a:r>
            <a:r>
              <a:rPr sz="17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fps</a:t>
            </a:r>
            <a:r>
              <a:rPr sz="17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的整数</a:t>
            </a:r>
            <a:r>
              <a:rPr sz="17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tick</a:t>
            </a:r>
            <a:r>
              <a:rPr sz="17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上放帧。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3022600"/>
            <a:ext cx="10972800" cy="6350"/>
          </a:xfrm>
          <a:prstGeom prst="rect">
            <a:avLst/>
          </a:prstGeom>
          <a:solidFill>
            <a:srgbClr val="F5F5F5">
              <a:alpha val="1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3327400"/>
            <a:ext cx="22225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5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经验标定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900" y="3327400"/>
            <a:ext cx="8445500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金芒菊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4.56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s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64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帧；停留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≥2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tick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的帧最大位移约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0.77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px。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013200"/>
            <a:ext cx="22225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5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4.9.26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修订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900" y="4013200"/>
            <a:ext cx="8445500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远段旧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L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最慢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1.9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fps，800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每帧约跳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5–6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px；重新分配帧预算。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699000"/>
            <a:ext cx="22225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5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4.9.31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再分配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900" y="4699000"/>
            <a:ext cx="8445500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L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S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总帧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256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128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96；上升段最慢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30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15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30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fps。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384800"/>
            <a:ext cx="22225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5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代价与边界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900" y="5384800"/>
            <a:ext cx="8445500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0"/>
              </a:lnSpc>
            </a:pP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L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单格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128×2048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0" lang="zh-CN" altLang="en-US">
                <a:solidFill>
                  <a:srgbClr val="F5F5F5">
                    <a:alpha val="76000"/>
                  </a:srgbClr>
                </a:solidFill>
                <a:latin typeface="Consolas"/>
                <a:ea typeface="微软雅黑"/>
                <a:cs typeface="微软雅黑"/>
              </a:rPr>
              <a:t>128×512；近看更容易显软，需按用途取舍。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附录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仙女棒实现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复杂层次在烘焙器内组织，导出包保持简单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05b87a3cf78d8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6985000" cy="4445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5473700"/>
            <a:ext cx="26797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ource_tag"/>
          <p:cNvSpPr txBox="1"/>
          <p:nvPr/>
        </p:nvSpPr>
        <p:spPr>
          <a:xfrm>
            <a:off x="685800" y="5473700"/>
            <a:ext cx="26797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烘焙器分层形态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沿用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Blender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V05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99400" y="1435100"/>
            <a:ext cx="3683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79"/>
              </a:lnSpc>
            </a:pPr>
            <a:r>
              <a:rPr sz="2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13</a:t>
            </a:r>
            <a:r>
              <a:rPr sz="24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类模拟层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9400" y="2247900"/>
            <a:ext cx="3683000" cy="148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5"/>
              </a:lnSpc>
            </a:pP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核心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细丝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粗火星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母粒</a:t>
            </a:r>
            <a:br/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一级、延迟、二级分叉</a:t>
            </a:r>
            <a:br/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碎片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余烬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近远景火星</a:t>
            </a:r>
            <a:br/>
            <a:r>
              <a:rPr sz="1500" b="0" lang="zh-CN" altLang="en-US">
                <a:solidFill>
                  <a:srgbClr val="F5F5F5">
                    <a:alpha val="78000"/>
                  </a:srgbClr>
                </a:solidFill>
                <a:latin typeface="Consolas"/>
                <a:ea typeface="微软雅黑"/>
                <a:cs typeface="微软雅黑"/>
              </a:rPr>
              <a:t>燃烧头与炽热点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99400" y="3962400"/>
            <a:ext cx="3683000" cy="6350"/>
          </a:xfrm>
          <a:prstGeom prst="rect">
            <a:avLst/>
          </a:prstGeom>
          <a:solidFill>
            <a:srgbClr val="F5F5F5">
              <a:alpha val="1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99400" y="4203700"/>
            <a:ext cx="3683000" cy="161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5"/>
              </a:lnSpc>
            </a:pPr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实包</a:t>
            </a:r>
            <a:r>
              <a:rPr sz="15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4.9.118：</a:t>
            </a:r>
            <a:br/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PC、手游各</a:t>
            </a:r>
            <a:r>
              <a:rPr sz="15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</a:t>
            </a:r>
            <a:r>
              <a:rPr sz="15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个</a:t>
            </a:r>
            <a:r>
              <a:rPr sz="15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CPU</a:t>
            </a:r>
            <a:r>
              <a:rPr sz="15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Main</a:t>
            </a:r>
            <a:br/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各</a:t>
            </a:r>
            <a:r>
              <a:rPr sz="15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</a:t>
            </a:r>
            <a:r>
              <a:rPr sz="15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张</a:t>
            </a:r>
            <a:r>
              <a:rPr sz="15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64</a:t>
            </a:r>
            <a:r>
              <a:rPr sz="15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帧主序列</a:t>
            </a:r>
            <a:br/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4×4</a:t>
            </a:r>
            <a:r>
              <a:rPr sz="15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格</a:t>
            </a:r>
            <a:r>
              <a:rPr sz="15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×</a:t>
            </a:r>
            <a:r>
              <a:rPr sz="15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RGBA</a:t>
            </a:r>
            <a:br/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另有</a:t>
            </a:r>
            <a:r>
              <a:rPr sz="15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Ramp</a:t>
            </a:r>
            <a:r>
              <a:rPr sz="15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与</a:t>
            </a:r>
            <a:r>
              <a:rPr sz="15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Cutout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930900"/>
            <a:ext cx="10972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4"/>
              </a:lnSpc>
            </a:pPr>
            <a:r>
              <a:rPr sz="1300" b="0" lang="zh-CN" altLang="en-US">
                <a:solidFill>
                  <a:srgbClr val="F5F5F5">
                    <a:alpha val="58000"/>
                  </a:srgbClr>
                </a:solidFill>
                <a:latin typeface="Consolas"/>
                <a:ea typeface="微软雅黑"/>
                <a:cs typeface="微软雅黑"/>
              </a:rPr>
              <a:t>当前候选：SGS1E118；导出包回放已查，尚无</a:t>
            </a:r>
            <a:r>
              <a:rPr sz="1300" b="0" lang="zh-CN" altLang="en-US">
                <a:solidFill>
                  <a:srgbClr val="F5F5F5">
                    <a:alpha val="5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58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300" b="0" lang="zh-CN" altLang="en-US">
                <a:solidFill>
                  <a:srgbClr val="F5F5F5">
                    <a:alpha val="58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58000"/>
                  </a:srgbClr>
                </a:solidFill>
                <a:latin typeface="Consolas"/>
                <a:ea typeface="微软雅黑"/>
                <a:cs typeface="微软雅黑"/>
              </a:rPr>
              <a:t>实播审美验收。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附录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核验口径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把库存、过程产出和验证状态分开回答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435100"/>
            <a:ext cx="2222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0"/>
              </a:lnSpc>
            </a:pPr>
            <a:r>
              <a:rPr sz="16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当前资源库存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0" y="1435100"/>
            <a:ext cx="8534400" cy="673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5"/>
              </a:lnSpc>
            </a:pP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26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种开花花型；6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档尾缀；1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套窜天猴。212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张为当前库存的直接引用贴图。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343150"/>
            <a:ext cx="2222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0"/>
              </a:lnSpc>
            </a:pPr>
            <a:r>
              <a:rPr sz="16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过程产出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0" y="2343150"/>
            <a:ext cx="8534400" cy="673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5"/>
              </a:lnSpc>
            </a:pP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466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份导出清单；4177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次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PNG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输出，含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155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检查图；4022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次素材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PNG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输出含重复版本。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251200"/>
            <a:ext cx="2222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0"/>
              </a:lnSpc>
            </a:pPr>
            <a:r>
              <a:rPr sz="16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编排与性能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8000" y="3251200"/>
            <a:ext cx="8534400" cy="673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5"/>
              </a:lnSpc>
            </a:pP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B11r3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对拍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78.3%、强拍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46.6%，低于宪章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85%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80%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目标；整场目标机与手机性能待补。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159250"/>
            <a:ext cx="2222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0"/>
              </a:lnSpc>
            </a:pPr>
            <a:r>
              <a:rPr sz="16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修复证据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0" y="4159250"/>
            <a:ext cx="8534400" cy="673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5"/>
              </a:lnSpc>
            </a:pP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方头、绽放模糊有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受控对比；黑点有参数对比，末格黑块有机制图与单侧修后实播。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067300"/>
            <a:ext cx="2222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0"/>
              </a:lnSpc>
            </a:pPr>
            <a:r>
              <a:rPr sz="16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界面与工具包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8000" y="5067300"/>
            <a:ext cx="8534400" cy="673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5"/>
              </a:lnSpc>
            </a:pP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生产版共享配色范围已查；V5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隔离稿未合入。完整工具包与录屏仍待补齐。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附录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模糊与方头排查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由档位差异到受控对比，逐步排除混杂因素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435100"/>
            <a:ext cx="635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25"/>
              </a:lnSpc>
            </a:pPr>
            <a:r>
              <a:rPr sz="25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1435100"/>
            <a:ext cx="26670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92"/>
              </a:lnSpc>
            </a:pPr>
            <a:r>
              <a:rPr sz="165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发现差异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0400" y="1435100"/>
            <a:ext cx="7112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2"/>
              </a:lnSpc>
            </a:pPr>
            <a:r>
              <a:rPr sz="145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高配观感通过，低配出现方头与模糊；先记录档位、机位、资源与时刻。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298700"/>
            <a:ext cx="635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25"/>
              </a:lnSpc>
            </a:pPr>
            <a:r>
              <a:rPr sz="25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2298700"/>
            <a:ext cx="26670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92"/>
              </a:lnSpc>
            </a:pPr>
            <a:r>
              <a:rPr sz="165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分轮隔离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0400" y="2298700"/>
            <a:ext cx="7112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2"/>
              </a:lnSpc>
            </a:pPr>
            <a:r>
              <a:rPr sz="145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依次检查半透明分辨率、各向异性、Mip</a:t>
            </a:r>
            <a:r>
              <a:rPr sz="145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采样与</a:t>
            </a:r>
            <a:r>
              <a:rPr sz="145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Ramp；不同轮次设置分别保留。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162300"/>
            <a:ext cx="635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25"/>
              </a:lnSpc>
            </a:pPr>
            <a:r>
              <a:rPr sz="25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3162300"/>
            <a:ext cx="26670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92"/>
              </a:lnSpc>
            </a:pPr>
            <a:r>
              <a:rPr sz="165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同条件比较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0400" y="3162300"/>
            <a:ext cx="7112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2"/>
              </a:lnSpc>
            </a:pPr>
            <a:r>
              <a:rPr sz="145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实际低档</a:t>
            </a:r>
            <a:r>
              <a:rPr sz="145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PerfGear：AF1、半透明100%、MipBias0；同机位同时播放现状与</a:t>
            </a:r>
            <a:r>
              <a:rPr sz="145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NoMip。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025900"/>
            <a:ext cx="635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25"/>
              </a:lnSpc>
            </a:pPr>
            <a:r>
              <a:rPr sz="25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" y="4025900"/>
            <a:ext cx="26670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92"/>
              </a:lnSpc>
            </a:pPr>
            <a:r>
              <a:rPr sz="165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分清两类现象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0400" y="4025900"/>
            <a:ext cx="7112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2"/>
              </a:lnSpc>
            </a:pPr>
            <a:r>
              <a:rPr sz="145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长条面片压扁后取低</a:t>
            </a:r>
            <a:r>
              <a:rPr sz="145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Mip</a:t>
            </a:r>
            <a:r>
              <a:rPr sz="145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形成方头；初次激活流送未就绪，造成绽放先糊后清。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889500"/>
            <a:ext cx="635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25"/>
              </a:lnSpc>
            </a:pPr>
            <a:r>
              <a:rPr sz="25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0" y="4889500"/>
            <a:ext cx="26670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92"/>
              </a:lnSpc>
            </a:pPr>
            <a:r>
              <a:rPr sz="165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写入现行规则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0400" y="4889500"/>
            <a:ext cx="7112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2"/>
              </a:lnSpc>
            </a:pPr>
            <a:r>
              <a:rPr sz="145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45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主序列</a:t>
            </a:r>
            <a:r>
              <a:rPr sz="145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NoMip；手游因内存反馈保留流送且最大1024；Ramp</a:t>
            </a:r>
            <a:r>
              <a:rPr sz="145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Clamp</a:t>
            </a:r>
            <a:r>
              <a:rPr sz="145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+</a:t>
            </a:r>
            <a:r>
              <a:rPr sz="1450" b="0" lang="zh-CN" altLang="en-US">
                <a:solidFill>
                  <a:srgbClr val="F5F5F5">
                    <a:alpha val="8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50" b="0" lang="zh-CN" altLang="en-US">
                <a:solidFill>
                  <a:srgbClr val="F5F5F5">
                    <a:alpha val="80000"/>
                  </a:srgbClr>
                </a:solidFill>
                <a:latin typeface="Consolas"/>
                <a:ea typeface="微软雅黑"/>
                <a:cs typeface="微软雅黑"/>
              </a:rPr>
              <a:t>NoMip。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5956300"/>
            <a:ext cx="109728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12"/>
              </a:lnSpc>
            </a:pPr>
            <a:r>
              <a:rPr sz="125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完整经过与受控原图：LOWQ_FIX_20261018《方案与对比》；A4恢复报告。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烟花秀 AI 全流程 · 第二版</dc:title>
  <dc:subject>接续第一版；本机事实复核；VFX组内分享</dc:subject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