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 · 封面（约 20 秒，累计 0:20）</a:t>
            </a:r>
          </a:p>
          <a:p/>
          <a:p>
            <a:r>
              <a:t>大家好，我是____。今天分享我这一个多月做跨年烟花秀的过程。从做效果、进引擎到排节目，这三段我都请 AI 写了工具。下面按问题、解决思路、解决了什么、学到的、分享五块来讲。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 · 01 问题 · 资产量（约 50 秒，累计 1:10）</a:t>
            </a:r>
          </a:p>
          <a:p/>
          <a:p>
            <a:r>
              <a:t>先说问题。第一个问题是量大。这次跨年烟花用的是 ResourcesFX 表里「烟花 3.0」的各行，10 月 28 日我在 UE 里读了一遍：一共 44 个效果，95 个粒子系统，其中 PC 44 个、手游 51 个；它们引用的贴图有 212 张，材质实例 115 个，没有新增母材质。每个效果 PC 和手游各做一套，制作、导出、导入、设置，每一步都要一个一个过。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 · 01 问题 · 规范设置（约 60 秒，累计 2:10）</a:t>
            </a:r>
          </a:p>
          <a:p/>
          <a:p>
            <a:r>
              <a:t>第二个问题是每个资产要设的项多。按我们和性能组定的烟花贴图规范，贴图有 7 项：不勾 NeverStream，贴图组用 DistantVFX，PC 主序列不要 Mip，手游主序列带 Mip、最大 1024、用 ASTC 压缩，Ramp 设 Clamp 且不要 Mip。粒子系统、发射器和材质实例还有 5 项：固定包围盒、面片朝向、UV 翻转、EmissiveDissolve 0.98 和 LOD 方式。以前这些要在导出、合入、创建之后，到 UE 里逐项去点；漏掉一项，就会出现后面要讲的常驻内存、星头方块这类问题。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 · 01 问题 · 复杂火星（约 45 秒，累计 2:55）</a:t>
            </a:r>
          </a:p>
          <a:p/>
          <a:p>
            <a:r>
              <a:t>第三个问题是写实火星本身。仙女棒的火星在飞行中一级一级碎裂；窜天猴尾焰里的火星一簇一簇，每簇的张角和数量都不一样；还有零点几秒内喷出、随后急减速的爆发。Cascade 原生的出生分布只有球、锥、盒子，阻力只有线性的，子粒子要靠事件逐颗生成，只能走 CPU。硬拼要堆很多发射器，手游每个发射器同时活着的粒子不能超过 50 个，也装不下。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 · 01 问题 · 编排规模（约 55 秒，累计 3:50）</a:t>
            </a:r>
          </a:p>
          <a:p/>
          <a:p>
            <a:r>
              <a:t>第四个问题是编排。以前的烟花秀是在定序器里一条序列一条序列地拼。工程里那套旧方案有 A、B、S 三条主序列，每条约 70 秒，一共 12 条子序列、1080 个绑定、2726 条轨道；每支烟花是一个 actor，带着粒子、附加、生成、音效、位移几条轨道。性能组测过，这种做法在 PC 和手游上内存占用都过高。这次的节目长 219.5 秒，有 492 段、1570 次播放、24 个点位，照旧方案拼，人工编排困难，性能也过不了。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 · 02 解决思路 · 三段流水线（约 65 秒，累计 4:55）</a:t>
            </a:r>
          </a:p>
          <a:p/>
          <a:p>
            <a:r>
              <a:t>我的思路是把一场烟花秀拆成三段：做效果、进引擎、排节目，每段请 AI 开发一个工具。烟花烘焙器按物理模拟火星，烘焙序列贴图，一次导出 PC 和手游两套素材包。导入器读取素材包，按烟花贴图规范自动完成设置，检查确认后再写入 UE，它的思路来自之前特效工作台的配表入口。编排工作台按音乐时间线排布烟花，生成导演表。UE 这边，我和程序一起设计了导演蓝图，10 月 8 日第一次把三张表写进去：一个蓝图按子模板、模板、时序三张表播放整场，不再逐个 actor 排轨道，定序器只留给 4 盏灯。三段之间都用固定格式衔接，改了其中一处，可以整条链重跑。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 · 02 解决思路 · 协作方式（约 60 秒，累计 5:55）</a:t>
            </a:r>
          </a:p>
          <a:p/>
          <a:p>
            <a:r>
              <a:t>分工上，目标、审美、引擎限制和验收标准由我来定，写成规则文档，AI 每次开工先读这些规则。AI 负责物理推导、写代码和出素材，交付前先过自检：每个效果 13 项标准检查，导出包有回放检查，推送前还有合入门禁。自检通过后，我在 UE 里验收，发现的问题写回规则，进入下一轮。活我分给了三十多个有名字的 AI 对话框，每个只管一个效果或一个工具，进度记在同一份状态清单里。下面是每天的提交：从 9 月 27 日到 10 月 29 日，32 天有提交，共约 2200 次，其中 352 次是本机显卡后台算完自动回传的。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 · 03 解决了什么 · 效果与铺量（约 50 秒，累计 6:45）</a:t>
            </a:r>
          </a:p>
          <a:p/>
          <a:p>
            <a:r>
              <a:t>接下来讲解决了什么。先看效果。3.0 表的 44 个效果里，有 30 个的序列贴图是烘焙器导出的；节目实际用到 29 个效果，其中 24 个出自烘焙器。到现在，烘焙器里一共有 38 个效果导出过素材包，导出记录 454 份。上面是 UE 里整排金色扇面的样子；下面是几个单独的效果：金芒爆裂菊、仙女棒、窜天猴尾焰和小青柠，都是引擎回放，也就是按导出的贴图在烘焙器里回放的画面。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 · 03 解决了什么 · 规范写进工具（约 70 秒，累计 7:55）</a:t>
            </a:r>
          </a:p>
          <a:p/>
          <a:p>
            <a:r>
              <a:t>第二件，规范写进了工具。10 月 16 日，我按规范批量修正了 115 个包，包括 48 个粒子系统和 67 个材质实例，读回没有错误。10 月 18 日按贴图规范重设了 149 张贴图，读回 149 张全部一致；和其他项目共用的 19 张没有动，单独列出来确认。导入器从 10 月 1 日的 v2.3 迭代到 10 月 28 日的 v2.31，规范一条一条加进去：手游目录和 ASTC、固定包围盒、EmissiveDissolve、LOD 方式、按平台的 Mip。右边是嵌在烘焙器里的导入器，每次导入都按同一套规则写入，见到 NeverStream 这类违规直接拦下。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 · 03 解决了什么 · 程序化编排（约 60 秒，累计 8:55）</a:t>
            </a:r>
          </a:p>
          <a:p/>
          <a:p>
            <a:r>
              <a:t>第三件是程序化编排。编排工作台把音乐、点位、模板和时序放在同一条时间线上，导出的就是导演蓝图要的三张表。这场节目从 B01 改到 B11，11 个大版本、38 份存档，10 月 11 日到 19 日云端发布了 37 次。同一份编排按高、中、低三档出表：PC 分别是 1145、852、438 次播放，手游是 448、349、181 次。编排工作台的前身是 10 月 1 日特效工作台里的编排入口，10 月 10 日源码入库是 16 版，到 10 月 16 日迭代到 16.0.42。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 · 03 解决了什么 · 完整操作录屏（约 150 秒，累计 11:25）</a:t>
            </a:r>
          </a:p>
          <a:p/>
          <a:p>
            <a:r>
              <a:t>下面放一段完整操作的录屏：从烘焙器里选一个案例开始，调参，看引擎回放，一次导出 PC 和手游两套，在导入器里检查并写入 UE，最后在 UE 里播放。整个过程实际用时 __ 分 __ 秒。</a:t>
            </a:r>
          </a:p>
          <a:p>
            <a:r>
              <a:t>【操作】播放录屏，约 2 分钟；边放边按右侧 5 步简要说明。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 · 04 学到的 · Bug 变成规则（约 95 秒，累计 13:00）</a:t>
            </a:r>
          </a:p>
          <a:p/>
          <a:p>
            <a:r>
              <a:t>学到的第一点，是把 bug 变成规则。几个典型的：火星熄灭处有黑点，是淡出写在了 RGB 上、Alpha 一直是 1，后来淡出、闪烁、冷却都改写在 Alpha，每个发射器加一个 Scale Color/Life；这个问题 AI 自检全部通过，导进 UE 才发现。星头呈方块，是主序列带 Mip，低画质下压扁的面片取到了低分辨率的 Mip；高配下我已经验收通过，换到低配才出现，后来 PC 主序列一律不要 Mip。为了去掉光晕的灰线，我把 Ramp 末格改成黑色，结果最亮的像素采到它，出现黑块，最后在出包前统一补上 EmissiveDissolve 0.98。贴图常驻内存和冲突标记推上主干，也分别变成了导入器的拦截和推送前的同步体检。执行结束、AI 自检通过、我验收通过，这三种状态我从 10 月初就分开记录；这几个问题也说明，要以 UE 里、各档画质下的结果为准。渲染相关的问题一共修了 34 项，修完都进了检查。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 · 04 学到的 · 方法（约 85 秒，累计 14:25）</a:t>
            </a:r>
          </a:p>
          <a:p/>
          <a:p>
            <a:r>
              <a:t>第二点是遇到问题怎么学。我的做法是先拆解，再量化，最后进引擎验证。仙女棒沿用烟花工坊原件分成 13 层，用高速摄影确认母粒会多级分叉；每层单独调粗细、亮度和分叉，编辑时分层，导出时合成一张 64 帧序列，PC 和手游都只用 1 个发射器。远处的火星会逐帧闪烁，查下来是镜头核下限太小，把下限从 0.28 像素提到 0.55 像素后，光量波动从 0.44 降到 0.007。升空尾缀远处看起来卡顿，我没有靠目测调，而是按 800 米观察距离、1080p 屏幕换算每帧位移，以实机流畅的金芒菊为基准，位移小于约 0.77 像素的阶段才减帧；近端新火花跟着弹体，远端老火花单独一段。卡顿最明显的一段从每秒 1.9 帧提高到 30 帧；GPU 火花原来一条尾缀同时约 1 万颗，现在按每条 800 的预算做。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 · 05 分享 · 心得（约 50 秒，累计 15:15）</a:t>
            </a:r>
          </a:p>
          <a:p/>
          <a:p>
            <a:r>
              <a:t>最后是分享。我的心得有三条。第一，标准先写成文档：目标、限制和验收写清楚，AI 每次都按它做。第二，以引擎里的结果为准，AI 自检通过不等于完成。第三，问题要落到工具和规范里，修过的 bug 不靠人记。这次的案例只是辅助，我想分享的是这个思路：大家手上重复的设置，可以让 AI 写成工具；难做的效果，可以先拆层，再模拟烘焙；大规模的编排，可以用表来驱动。可以先从一件重复的小事开始试。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 · 05 分享 · 工具包（约 50 秒，累计 16:05）</a:t>
            </a:r>
          </a:p>
          <a:p/>
          <a:p>
            <a:r>
              <a:t>三个工具会打成一个包。烘焙器双击 HTML 就能用，从 18 个案例开始改，需要 Chrome 或 Edge 和独立显卡。导入器在烘焙器的资源交付页里，导出后进导入清单，点「导入」才会写 UE；它需要 UE 开启 GPUECli 和本机交付服务，没有的话可以导出 ZIP 再导入。编排工作台是离线 HTML，浏览器就能打开。工具包我会放在 xx 处，第一次导入请先在测试工程里试。我就分享到这里，谢谢大家。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p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394440" y="65278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394440" y="65278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7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9050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组内分享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35200"/>
            <a:ext cx="8255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39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烟花秀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385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068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一个多月，从做效果、进引擎到排节目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1275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156200"/>
            <a:ext cx="54610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321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700" y="5321300"/>
            <a:ext cx="419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5321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4200" y="5321300"/>
            <a:ext cx="774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0200" y="5321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2300" y="53213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6100" y="5321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200" y="5321300"/>
            <a:ext cx="596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学到的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321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8500" y="5321300"/>
            <a:ext cx="419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资产量：44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个效果，PC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20955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00"/>
              </a:lnSpc>
            </a:pPr>
            <a:r>
              <a:rPr sz="6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15240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粒子系统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3000" y="1866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89200"/>
            <a:ext cx="20955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00"/>
              </a:lnSpc>
            </a:pPr>
            <a:r>
              <a:rPr sz="6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0" y="26543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3000" y="2997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两端共用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19500"/>
            <a:ext cx="20955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00"/>
              </a:lnSpc>
            </a:pPr>
            <a:r>
              <a:rPr sz="6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0" y="37846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材质实例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3000" y="41275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只用项目已有的母材质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8260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4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每个效果</a:t>
            </a:r>
            <a:r>
              <a:rPr sz="14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4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与手游各做一套，制作、导出、导入、设置都要逐个完成。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511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统计范围：ResourcesFX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表「烟花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3.0」各行，UE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读取，10-28</a:t>
            </a:r>
          </a:p>
        </p:txBody>
      </p:sp>
      <p:pic>
        <p:nvPicPr>
          <p:cNvPr id="17" name="Picture 16" descr="p02_s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33500"/>
            <a:ext cx="4267200" cy="4889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391400" y="58928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ource_tag"/>
          <p:cNvSpPr txBox="1"/>
          <p:nvPr/>
        </p:nvSpPr>
        <p:spPr>
          <a:xfrm>
            <a:off x="7391400" y="58928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设置：每个资产按规范逐项设置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3289300" cy="4889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33500"/>
            <a:ext cx="38100" cy="4889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524000"/>
            <a:ext cx="2794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0"/>
              </a:lnSpc>
            </a:pPr>
            <a:r>
              <a:rPr sz="10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31115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项关键设置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556000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项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粒子系统、发射器、材质实例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5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5461000"/>
            <a:ext cx="2667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依据：烟花贴图规范（与性能组约定）、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烟花特效资产规范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3700" y="1358900"/>
            <a:ext cx="7378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7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17145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0700" y="17145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17145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不勾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NeverStream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5600" y="17145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2600" y="17145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9300" y="17145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贴图组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DistantVFX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7500" y="17145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4500" y="17145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7145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主序列不要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3700" y="21971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0700" y="21971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400" y="21971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手游主序列带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05600" y="21971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2600" y="21971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9300" y="21971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手游最大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7500" y="21971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4500" y="21971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1971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手游压缩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ASTC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3700" y="26797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0700" y="26797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7400" y="26797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Ramp：Clamp、不要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3700" y="3302000"/>
            <a:ext cx="7378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粒子系统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发射器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材质实例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5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3700" y="36576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0700" y="36576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7400" y="36576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固定包围盒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5600" y="36576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2600" y="36576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9300" y="36576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面片朝向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07500" y="36576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4500" y="36576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6576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UV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翻转方式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3700" y="41402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0700" y="41402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7400" y="41402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5600" y="4140200"/>
            <a:ext cx="23749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2600" y="4140200"/>
            <a:ext cx="3175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9300" y="4140200"/>
            <a:ext cx="1930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LOD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3700" y="4889500"/>
            <a:ext cx="7378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以前每个资产都要手动走一遍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3700" y="5207000"/>
            <a:ext cx="1244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3700" y="5207000"/>
            <a:ext cx="12446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PC、手游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0" y="5410200"/>
            <a:ext cx="21590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54" name="Rectangle 53"/>
          <p:cNvSpPr/>
          <p:nvPr/>
        </p:nvSpPr>
        <p:spPr>
          <a:xfrm>
            <a:off x="5740400" y="5207000"/>
            <a:ext cx="1244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40400" y="5207000"/>
            <a:ext cx="12446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合入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23100" y="5410200"/>
            <a:ext cx="21590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7277100" y="5207000"/>
            <a:ext cx="1244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7100" y="5207000"/>
            <a:ext cx="12446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里创建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59800" y="5410200"/>
            <a:ext cx="21590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60" name="Rectangle 59"/>
          <p:cNvSpPr/>
          <p:nvPr/>
        </p:nvSpPr>
        <p:spPr>
          <a:xfrm>
            <a:off x="8813800" y="5207000"/>
            <a:ext cx="1244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3800" y="5207000"/>
            <a:ext cx="12446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逐项设置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096500" y="5410200"/>
            <a:ext cx="21590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63" name="Rectangle 62"/>
          <p:cNvSpPr/>
          <p:nvPr/>
        </p:nvSpPr>
        <p:spPr>
          <a:xfrm>
            <a:off x="10350500" y="5207000"/>
            <a:ext cx="1244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50500" y="5207000"/>
            <a:ext cx="12446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3700" y="5740400"/>
            <a:ext cx="7378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漏设一项：贴图常驻内存、星头方块、最亮处黑块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复杂火星：Cascade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原生难以实现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4544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p04_f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3441700" cy="2908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2150" y="39433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urce_tag"/>
          <p:cNvSpPr txBox="1"/>
          <p:nvPr/>
        </p:nvSpPr>
        <p:spPr>
          <a:xfrm>
            <a:off x="692150" y="39433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4445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8514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火星在飞行中逐级碎裂，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只能靠事件逐颗生成子粒子。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6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800" y="1358900"/>
            <a:ext cx="34544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04_clu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0" y="1365250"/>
            <a:ext cx="3441700" cy="29083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51350" y="39433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tag"/>
          <p:cNvSpPr txBox="1"/>
          <p:nvPr/>
        </p:nvSpPr>
        <p:spPr>
          <a:xfrm>
            <a:off x="4451350" y="39433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4445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800" y="48514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每束火星的张角和数量都不同，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只有球、锥、盒子出生分布。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28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8000" y="1358900"/>
            <a:ext cx="34544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04_bur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1365250"/>
            <a:ext cx="3441700" cy="29083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10550" y="14414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ource_tag"/>
          <p:cNvSpPr txBox="1"/>
          <p:nvPr/>
        </p:nvSpPr>
        <p:spPr>
          <a:xfrm>
            <a:off x="8210550" y="14414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3975100"/>
            <a:ext cx="1397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0.23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1400" y="3975100"/>
            <a:ext cx="1397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0.40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4445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爆发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48514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零点几秒内喷出后急减速，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只有线性阻力，弧线对不上。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820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编排：靠定序器逐条拼，轨道太多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5_sequen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469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727700"/>
            <a:ext cx="1963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727700"/>
            <a:ext cx="1963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旧方案定序器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旧方案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定序器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42672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880"/>
              </a:lnSpc>
            </a:pPr>
            <a:r>
              <a:rPr sz="5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2726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条轨道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38400"/>
            <a:ext cx="42672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A、B、S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三条主序列，各约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70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共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条子序列、1080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个绑定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性能组测试：PC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与手游内存占用都过高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020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只读统计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10-29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6703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8354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这次的节目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076700"/>
            <a:ext cx="42672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880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1570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次播放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9149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219.5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秒：492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段、24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个点位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照旧方案拼：人工编排困难，性能也过不了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5245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编排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B11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修订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思路：拆成三段，每段一个工具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06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urce_tag"/>
          <p:cNvSpPr txBox="1"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做效果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模拟火星，烘焙序列贴图，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一次导出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素材包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06_impor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读取素材包，按规范设置，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检查后写入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06_work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ource_tag"/>
          <p:cNvSpPr txBox="1"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按音乐时间线排布烟花，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生成导演表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06_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一个蓝图按子模板、模板、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时序三张表播放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600" y="4813300"/>
            <a:ext cx="584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三段之间用固定格式衔接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5168900"/>
            <a:ext cx="5842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素材包、导入记录、导演表都有固定格式；改了其中一处，可以整条链重跑。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3600" y="5842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9200" y="48133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导演蓝图与程序共同设计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9200" y="5168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不再逐个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actor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排轨道；定序器只留给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盏灯。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协作：规则写成文档，每轮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524000"/>
            <a:ext cx="762000" cy="7620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880" y="2413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880" y="26416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定规则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880" y="2971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目标、审美、引擎限制、</a:t>
            </a:r>
          </a:p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验收标准写成文档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4080" y="1905000"/>
            <a:ext cx="128016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2" name="Oval 11"/>
          <p:cNvSpPr/>
          <p:nvPr/>
        </p:nvSpPr>
        <p:spPr>
          <a:xfrm>
            <a:off x="3520440" y="1524000"/>
            <a:ext cx="762000" cy="7620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5440" y="2413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5440" y="26416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5440" y="2971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物理推导、写代码、出素材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58640" y="1905000"/>
            <a:ext cx="128016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8" name="Oval 17"/>
          <p:cNvSpPr/>
          <p:nvPr/>
        </p:nvSpPr>
        <p:spPr>
          <a:xfrm>
            <a:off x="5715000" y="1524000"/>
            <a:ext cx="762000" cy="7620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0" y="2413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0" y="26416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自检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0" y="2971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标准检查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项、</a:t>
            </a:r>
          </a:p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回放检查、合入门禁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53200" y="1905000"/>
            <a:ext cx="128016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4" name="Oval 23"/>
          <p:cNvSpPr/>
          <p:nvPr/>
        </p:nvSpPr>
        <p:spPr>
          <a:xfrm>
            <a:off x="7909560" y="1524000"/>
            <a:ext cx="762000" cy="7620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2413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6416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4560" y="2971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按导出的贴图和</a:t>
            </a:r>
          </a:p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cascade.json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47760" y="1905000"/>
            <a:ext cx="128016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0" name="Oval 29"/>
          <p:cNvSpPr/>
          <p:nvPr/>
        </p:nvSpPr>
        <p:spPr>
          <a:xfrm>
            <a:off x="10104120" y="1524000"/>
            <a:ext cx="762000" cy="7620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9120" y="2413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9120" y="2641600"/>
            <a:ext cx="2032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9120" y="2971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发现的问题写回规则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85120" y="3619500"/>
            <a:ext cx="0" cy="190500"/>
          </a:xfrm>
          <a:prstGeom prst="line">
            <a:avLst/>
          </a:prstGeom>
          <a:ln w="12700">
            <a:solidFill>
              <a:srgbClr val="0FF796">
                <a:alpha val="50000"/>
              </a:srgbClr>
            </a:solidFill>
            <a:prstDash val="dash"/>
          </a:ln>
        </p:spPr>
      </p:cxnSp>
      <p:cxnSp>
        <p:nvCxnSpPr>
          <p:cNvPr id="36" name="Connector 35"/>
          <p:cNvCxnSpPr/>
          <p:nvPr/>
        </p:nvCxnSpPr>
        <p:spPr>
          <a:xfrm flipH="1">
            <a:off x="1706880" y="3810000"/>
            <a:ext cx="8778240" cy="0"/>
          </a:xfrm>
          <a:prstGeom prst="line">
            <a:avLst/>
          </a:prstGeom>
          <a:ln w="12700">
            <a:solidFill>
              <a:srgbClr val="0FF796">
                <a:alpha val="50000"/>
              </a:srgbClr>
            </a:solidFill>
            <a:prstDash val="dash"/>
          </a:ln>
        </p:spPr>
      </p:cxnSp>
      <p:cxnSp>
        <p:nvCxnSpPr>
          <p:cNvPr id="37" name="Connector 36"/>
          <p:cNvCxnSpPr/>
          <p:nvPr/>
        </p:nvCxnSpPr>
        <p:spPr>
          <a:xfrm flipV="1">
            <a:off x="1706880" y="3632200"/>
            <a:ext cx="0" cy="177800"/>
          </a:xfrm>
          <a:prstGeom prst="line">
            <a:avLst/>
          </a:prstGeom>
          <a:ln w="12700">
            <a:solidFill>
              <a:srgbClr val="0FF796">
                <a:alpha val="50000"/>
              </a:srgbClr>
            </a:solidFill>
            <a:prstDash val="dash"/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4826000" y="35560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进入下一轮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2418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每日提交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09-27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至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10-29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8000" y="4241800"/>
            <a:ext cx="5994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共约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2200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次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32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天有提交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本机显卡后台回传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352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905500"/>
            <a:ext cx="10972800" cy="6350"/>
          </a:xfrm>
          <a:prstGeom prst="rect">
            <a:avLst/>
          </a:prstGeom>
          <a:solidFill>
            <a:srgbClr val="F5F5F5">
              <a:alpha val="1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9655" y="5840148"/>
            <a:ext cx="152400" cy="6535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2164" y="5774796"/>
            <a:ext cx="152400" cy="130704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64673" y="5759715"/>
            <a:ext cx="152400" cy="14578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97182" y="5407819"/>
            <a:ext cx="152400" cy="497681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29691" y="5397765"/>
            <a:ext cx="152400" cy="50773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62200" y="5121275"/>
            <a:ext cx="152400" cy="78422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94709" y="5412846"/>
            <a:ext cx="152400" cy="492654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27218" y="5437981"/>
            <a:ext cx="152400" cy="467519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59727" y="5422900"/>
            <a:ext cx="152400" cy="482600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92236" y="5322358"/>
            <a:ext cx="152400" cy="58314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24745" y="4699000"/>
            <a:ext cx="152400" cy="1206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75445" y="4445000"/>
            <a:ext cx="1651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240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10-07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57255" y="5035815"/>
            <a:ext cx="152400" cy="86968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9764" y="5613929"/>
            <a:ext cx="152400" cy="291571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2273" y="5297223"/>
            <a:ext cx="152400" cy="608277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54782" y="5719498"/>
            <a:ext cx="152400" cy="18600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87291" y="5669227"/>
            <a:ext cx="152400" cy="236273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19800" y="5357548"/>
            <a:ext cx="152400" cy="54795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52309" y="5327385"/>
            <a:ext cx="152400" cy="57811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84818" y="5513388"/>
            <a:ext cx="152400" cy="39211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17327" y="5382683"/>
            <a:ext cx="152400" cy="522817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49836" y="5608902"/>
            <a:ext cx="152400" cy="296598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82345" y="5684308"/>
            <a:ext cx="152400" cy="221192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14855" y="5704417"/>
            <a:ext cx="152400" cy="201083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47364" y="5845175"/>
            <a:ext cx="152400" cy="6032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79873" y="5892800"/>
            <a:ext cx="152400" cy="12700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12382" y="5674254"/>
            <a:ext cx="152400" cy="231246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344891" y="5799931"/>
            <a:ext cx="152400" cy="105569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77400" y="5860256"/>
            <a:ext cx="152400" cy="45244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09909" y="5749660"/>
            <a:ext cx="152400" cy="155840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74927" y="5860256"/>
            <a:ext cx="152400" cy="45244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07436" y="5845175"/>
            <a:ext cx="152400" cy="60325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39945" y="5830094"/>
            <a:ext cx="152400" cy="75406"/>
          </a:xfrm>
          <a:prstGeom prst="rect">
            <a:avLst/>
          </a:prstGeom>
          <a:solidFill>
            <a:srgbClr val="F5F5F5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4855" y="59563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09-27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35145" y="59563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10-29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效果：批量导出，铺进整场节目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8_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2730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7592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37592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pic>
        <p:nvPicPr>
          <p:cNvPr id="9" name="Picture 8" descr="p08_r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54500"/>
            <a:ext cx="6400800" cy="152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4483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urce_tag"/>
          <p:cNvSpPr txBox="1"/>
          <p:nvPr/>
        </p:nvSpPr>
        <p:spPr>
          <a:xfrm>
            <a:off x="685800" y="54483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8293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金芒爆裂菊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9800" y="58293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仙女棒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58293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窜天猴尾焰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0200" y="58293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小青柠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3589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0"/>
              </a:lnSpc>
            </a:pPr>
            <a:r>
              <a:rPr sz="4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30/44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93900"/>
            <a:ext cx="4267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3.0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表的效果里，序列贴图由烘焙器导出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733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按主序列贴图名对照导出记录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10-28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337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0"/>
              </a:lnSpc>
            </a:pPr>
            <a:r>
              <a:rPr sz="4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24/29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568700"/>
            <a:ext cx="4267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节目用到的效果里，出自烘焙器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481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编排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B11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修订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085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0"/>
              </a:lnSpc>
            </a:pPr>
            <a:r>
              <a:rPr sz="4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43500"/>
            <a:ext cx="4267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个效果导出过素材包，导出记录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454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422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截至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10-29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规范：写进工具，导入时自动设置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3500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0"/>
              </a:lnSpc>
            </a:pPr>
            <a:r>
              <a:rPr sz="7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149</a:t>
            </a:r>
            <a:r>
              <a:rPr sz="4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/149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89200"/>
            <a:ext cx="635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张贴图按规范重设，读回全部一致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448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10-18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与其他项目共用的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19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张没有改，单独列出来确认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30600"/>
            <a:ext cx="635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sz="6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323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10-16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批量修正：48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个粒子系统、67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个材质实例，读回无错误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5016500"/>
            <a:ext cx="6400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5181600"/>
            <a:ext cx="64008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v2.3（10-01）→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v2.31（10-28）：手游目录与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ASTC、固定包围盒、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EmissiveDissolve、LOD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方式、按平台的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Mip，规范一条条加进去</a:t>
            </a:r>
          </a:p>
        </p:txBody>
      </p:sp>
      <p:pic>
        <p:nvPicPr>
          <p:cNvPr id="13" name="Picture 12" descr="p09_impo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58900"/>
            <a:ext cx="4267200" cy="2667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91400" y="36957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ource_tag"/>
          <p:cNvSpPr txBox="1"/>
          <p:nvPr/>
        </p:nvSpPr>
        <p:spPr>
          <a:xfrm>
            <a:off x="7391400" y="36957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216400"/>
            <a:ext cx="4267200" cy="1841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4216400"/>
            <a:ext cx="38100" cy="1841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9200" y="43942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同一套规则，每次导入都执行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4737100"/>
            <a:ext cx="381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嵌在烘焙器里的导入器按规范写入，见到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等违规直接拦下。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9200" y="58039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编排：按表驱动，迭代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个大版本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0_work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0972800" cy="279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8227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38227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343400"/>
            <a:ext cx="6400800" cy="1727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38100" cy="1727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44704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节目迭代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个大版本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21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份存档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次云端发布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5372100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B01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B11；云端发布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10-11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至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10-19（16.0.9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16.0.49）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编排工作台本身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10-10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至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10-16：16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16.0.42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343400"/>
            <a:ext cx="4267200" cy="1727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9200" y="44704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同一份编排出三档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9200" y="47752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1145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852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5194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448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349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200" y="5638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低档的播放次数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完整操作：从调参到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1_re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7620000" cy="428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solidFill>
            <a:srgbClr val="0A0A0A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057525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截图位：完整操作录屏（约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274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选案例调参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导入器检查写入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ource_tag"/>
          <p:cNvSpPr txBox="1"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底图：工具界面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13589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0800" y="13589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选案例、调参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1625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烘焙器实时模拟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20447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0800" y="2044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看引擎回放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231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按导出的贴图播放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2730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0800" y="2730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一次导出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0800" y="29972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与手游两套素材包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34163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0800" y="34163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检查并导入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368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点「导入」才写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41021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0800" y="4102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800" y="4368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粒子系统、贴图、材质实例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4400" y="4889500"/>
            <a:ext cx="3048000" cy="76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4400" y="4889500"/>
            <a:ext cx="38100" cy="762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0" y="4889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1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实际用时</a:t>
            </a: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学到的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Bug：修完写进规则和工具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358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3500" y="1358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1358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写进哪里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6637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39900"/>
            <a:ext cx="38100" cy="6604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816100"/>
            <a:ext cx="1689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火星熄灭处有黑点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82800"/>
            <a:ext cx="16891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自检全过，进</a:t>
            </a:r>
            <a:r>
              <a:rPr sz="120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才发现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3500" y="1663700"/>
            <a:ext cx="2197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淡出写在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RGB，Alpha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一直是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1663700"/>
            <a:ext cx="20574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淡出改写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Alpha，每个发射器加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Scale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Color/Life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4765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552700"/>
            <a:ext cx="38100" cy="6604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628900"/>
            <a:ext cx="1689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星头呈方块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895600"/>
            <a:ext cx="16891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高配通过，低配才出现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3500" y="2476500"/>
            <a:ext cx="2197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Mip，低画质下压扁的面片取到低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2476500"/>
            <a:ext cx="20574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主序列一律不要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2893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3289300"/>
            <a:ext cx="1689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最亮处出现黑块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3500" y="3289300"/>
            <a:ext cx="2197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为去光晕灰线把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末格改黑，最亮像素采到它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3000" y="3289300"/>
            <a:ext cx="20574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出包前补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1021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102100"/>
            <a:ext cx="1689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贴图常驻内存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3500" y="4102100"/>
            <a:ext cx="2197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旧导入照抄示例设置，勾着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NeverStream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0" y="4102100"/>
            <a:ext cx="20574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导入器总写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false；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导出、导入见到即拦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49149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4914900"/>
            <a:ext cx="1689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冲突标记推上主干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3500" y="4914900"/>
            <a:ext cx="21971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变基、提交、推送串成一条命令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0" y="4914900"/>
            <a:ext cx="2057400" cy="812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同步体检；每一步看退出码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727700"/>
            <a:ext cx="640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p12_squ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58900"/>
            <a:ext cx="2057400" cy="20574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391400" y="30861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ource_tag"/>
          <p:cNvSpPr txBox="1"/>
          <p:nvPr/>
        </p:nvSpPr>
        <p:spPr>
          <a:xfrm>
            <a:off x="7391400" y="30861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pic>
        <p:nvPicPr>
          <p:cNvPr id="37" name="Picture 36" descr="p12_bl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1358900"/>
            <a:ext cx="2057400" cy="20574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601200" y="30861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601200" y="30861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467100"/>
            <a:ext cx="2057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星头方块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0" y="3467100"/>
            <a:ext cx="2057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最亮处黑块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911600"/>
            <a:ext cx="4267200" cy="2159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3911600"/>
            <a:ext cx="38100" cy="2159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9200" y="41021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以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里的结果为准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9200" y="4457700"/>
            <a:ext cx="38100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执行结束、AI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自检通过、我验收通过，三种状态分开记录；验收要覆盖各档画质。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渲染相关问题已修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项，修完都进了检查。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9200" y="58166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学到的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方法：先拆解，再量化，进引擎验证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663700"/>
            <a:ext cx="2857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900"/>
              </a:lnSpc>
            </a:pPr>
            <a:r>
              <a:rPr sz="59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565400"/>
            <a:ext cx="279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仙女棒：13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层火星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合成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3556000"/>
            <a:ext cx="27305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835400"/>
            <a:ext cx="2857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0"/>
              </a:lnSpc>
            </a:pPr>
            <a:r>
              <a:rPr sz="5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1.9→30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4699000"/>
            <a:ext cx="279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升空尾缀：卡顿段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每秒帧数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1358900"/>
            <a:ext cx="7378700" cy="2286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13_spark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1549400"/>
            <a:ext cx="1905000" cy="1905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70400" y="31242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tag"/>
          <p:cNvSpPr txBox="1"/>
          <p:nvPr/>
        </p:nvSpPr>
        <p:spPr>
          <a:xfrm>
            <a:off x="4470400" y="31242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1549400"/>
            <a:ext cx="4826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仙女棒：分层调，再合成一张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1917700"/>
            <a:ext cx="4864100" cy="158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沿用烟花工坊原件分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层，每层单独调粗细、亮度和分叉；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导出时合成一张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帧序列。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远处火星逐帧闪烁：镜头核下限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0.28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0.55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像素，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光量波动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0.44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0.007。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3700" y="3784600"/>
            <a:ext cx="7378700" cy="2286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p13_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0" y="3987800"/>
            <a:ext cx="3048000" cy="1879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470400" y="5537200"/>
            <a:ext cx="14681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ource_tag"/>
          <p:cNvSpPr txBox="1"/>
          <p:nvPr/>
        </p:nvSpPr>
        <p:spPr>
          <a:xfrm>
            <a:off x="4470400" y="5537200"/>
            <a:ext cx="14681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实拍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0800" y="3975100"/>
            <a:ext cx="3746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升空尾缀：按观察距离定帧率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0800" y="4343400"/>
            <a:ext cx="37465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米、1080p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换算每帧位移，以金芒菊为基准，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小于约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0.77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像素的阶段才减帧。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近端随弹体、远端单独一段；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GPU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火花每条按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预算。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心得：先写清标准，再让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动手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986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8600" y="1511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标准先写成文档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600" y="1892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目标、限制、验收写清楚，每次对话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都先读它。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26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600" y="3035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以引擎里的结果为准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8600" y="3416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自检通过不等于完成，最后看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466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8600" y="4559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问题落到工具里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8600" y="49403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修过的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bug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进检查和规范，不靠人记。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你们也可以这样用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94600" y="2311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222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重复的设置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14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让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写成工具，按规范批量做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94600" y="3136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048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难做的效果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40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先拆层，再模拟、烘焙成序列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4600" y="3962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873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大规模编排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65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用表来驱动，改表比改轨道快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4600" y="4953000"/>
            <a:ext cx="381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从一件重复的小事开始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946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工具包：三个工具和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个案例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怎么用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需要什么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638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790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1790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模拟火星、烘焙序列贴图、引擎回放，一次导出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0" y="1790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双击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HTML，从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18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个案例开始改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Chrome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或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Edge，独立显卡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654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806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0" y="2806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检查素材包，按规范设置，写入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UE；在烘焙器的「资源交付」页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2500" y="2806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导出后进导入清单，点「导入」才写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开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GPUECli，本机交付服务（Python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3.10+）；没有就导出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ZIP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再导入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670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822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3822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按音乐时间线编排烟花，生成导演表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500" y="3822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双击离线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HTML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浏览器即可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686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9530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工具包将放在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xx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72100"/>
            <a:ext cx="698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内含烘焙器（含导入器）、18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个案例、编排工作台和《先读我》。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首次导入请在测试工程中进行。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0" y="4826000"/>
            <a:ext cx="332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6600"/>
              </a:lnSpc>
            </a:pPr>
            <a:r>
              <a:rPr sz="6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25200" y="58166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