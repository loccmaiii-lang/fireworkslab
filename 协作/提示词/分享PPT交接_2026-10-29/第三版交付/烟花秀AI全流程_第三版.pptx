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 · 封面（建议 25 秒）</a:t>
            </a:r>
          </a:p>
          <a:p/>
          <a:p>
            <a:r>
              <a:t>大家好，我是____。今天分享这一个多月做跨年烟花秀的过程。从做效果、进引擎到排节目，三个环节我都请 AI 写了工具。我按问题、解决思路、实践成果、经验与方法的顺序讲，最后分享一套和 AI 一起处理批量需求的做法，以及工具怎么拿。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 · 今年的规模（建议 35 秒）</a:t>
            </a:r>
          </a:p>
          <a:p/>
          <a:p>
            <a:r>
              <a:t>先说规模。去年的烟花秀只有 3 种烟花，时长 70 秒左右。今年按资源表统计，开花花型有 26 种；升空尾缀按开花高度分了 6 档，还有一套窜天猴。节目时长约 220 秒，差不多是去年的 3 倍，而且 PC 和手游要各出一套。规模上来以后，原来的做法在出图、进引擎、排节目三个环节都跟不上，下面分别说。</a:t>
            </a:r>
          </a:p>
          <a:p/>
          <a:p>
            <a:r>
              <a:t>依据：去年 3 种 = 口述（01:42）；去年约 70 秒 ◎（旧工程定序器范围 0–70.2 秒，本机确认即去年节目时长）；26 种 / 6 档 / 1 套 ✓（verify_A1_A2 §1）；219.5 秒 ✓（B11 修订 3）；219.5 ÷ 70.2 ≈ 3.1。用户说「几十种」，页面用核过的 26，不往大说。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 · 问题一：出图（建议 60 秒）</a:t>
            </a:r>
          </a:p>
          <a:p/>
          <a:p>
            <a:r>
              <a:t>第一个问题在出图。烟花在引擎里是一张面片在播序列帧，每种烟花出图前都要定好几件事：面片取多大、爆点放在哪；几十帧怎么分配；格子怎么排；怎么打包成一张图，再配上 Ramp 和 Cutout；PC 和手游还要各来一套。以前这些要在后期软件里手工裁、排、合通道，再回 Cascade 手算尺寸和曲线，效果一改就要重来。我也试过让 AI 写脚本驱动 Blender 出图，能出，但每轮都要等渲染，调参时也看不到最终效果。</a:t>
            </a:r>
          </a:p>
          <a:p/>
          <a:p>
            <a:r>
              <a:t>依据：spec/cascade_params_v1.md §7、§10；CLAUDE.md §2（灰度、RGBA 接力、Ramp、两平台）；Blender 每轮等待 ✓（verify_A1_A2 §3：项目记录一轮 2–28 分钟，页面不写数字、不比倍数）。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 · 问题二：进引擎（建议 30 秒）</a:t>
            </a:r>
          </a:p>
          <a:p/>
          <a:p>
            <a:r>
              <a:t>第二个问题在进引擎。素材导出来以后，每张贴图都要按用途和平台设置流送、贴图组和 Mip，材质实例和发射器还要设参数、包围盒和朝向。这批资源一共引用 212 张贴图，每改一版就要重新创建、重新设置。全靠手点，漏掉一项往往要到实机里才发现。</a:t>
            </a:r>
          </a:p>
          <a:p/>
          <a:p>
            <a:r>
              <a:t>依据：212 / 115 ✓（verify_A1_A2 §1）；设置项 CLAUDE.md §2「烟花贴图规范」。按用户 12 条第 2 条，不逐项念勾了什么。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 · 问题三：排节目（建议 40 秒）</a:t>
            </a:r>
          </a:p>
          <a:p/>
          <a:p>
            <a:r>
              <a:t>第三个问题在排节目。去年是在定序器里手工拼，每发烟花都带着粒子、位移、声音这些轨道，工程里有 12 条子序列、两千多条轨道，改一处节奏就要重新对很多条；性能组也反馈过内存占用偏高。今年节目约 220 秒，24 个发射点位，PC 和手游还要各分 3 档画质，版本时间又紧。我和程序一起做了新的导演蓝图，但要对着表格手工匹配音乐节奏，还是很难改。</a:t>
            </a:r>
          </a:p>
          <a:p/>
          <a:p>
            <a:r>
              <a:t>依据：12 条子序列 / 2726 条轨道 ✓（A3，本机已核）；内存偏高 = 口述（性能组，没有数字，不写百分比）；导演蓝图与程序共同设计 = 口述（采访记录）；24 点位 ✓。页面写「两千多条」，不用 2726 做大字。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 · 三个问题，三个工具（建议 40 秒）</a:t>
            </a:r>
          </a:p>
          <a:p/>
          <a:p>
            <a:r>
              <a:t>解决思路很直接：三个问题，各做一个工具。烘焙器负责出图，导入器负责进引擎，编排工作台负责排节目。工具之间用固定格式衔接：烘焙器导出的素材包，导入器可以直接读；编排工作台生成导演蓝图要用的表。分工上，目标、审美和引擎限制由我来定，工具由 AI 来写；结果先在引擎回放里查，关键的再进 UE 验收。导演蓝图是和程序一起设计的，贴图规范是和性能组一起定的。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 · 烘焙器：为什么自己做（建议 60 秒）</a:t>
            </a:r>
          </a:p>
          <a:p/>
          <a:p>
            <a:r>
              <a:t>出图这一环，我让 AI 做了烘焙器。之前那条 Blender 脚本的路能出图，但每改一轮都要等离线渲染，调参时看到的预览和最终输出也不完全一样。烟花在游戏里本质上是朝向镜头的面片，所以我换了思路：不追求完整的三维场景，按这次的舞台尺度、观看距离和 Cascade 规范，做一个面向游戏视角的 2D 烘焙器。它有三个特点：看得见，改参数当场能看，导出后还能在「引擎回放」里按导出的贴图和配置播放；出得快，确认后直接输出引擎要的格式；按项目定制，规格都围绕这次的需求来定。</a:t>
            </a:r>
          </a:p>
          <a:p/>
          <a:p>
            <a:r>
              <a:t>依据：verify_A1_A2 §3（Blender 一轮需等待、视口不等于最终输出，均为项目记录；不写跨软件提速倍数）；用户 01:42 第 4 条（可视化、快、定制）；协作/标准.md 观看距离 800–1200 米。「2D」指输出视角，模拟里仍保留粒子深度用于景深模糊（与本机第二版第 4 页口径一致）。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 · 导出流程化之一：取景与裁剪（建议 60 秒）</a:t>
            </a:r>
          </a:p>
          <a:p/>
          <a:p>
            <a:r>
              <a:t>烘焙器里我花功夫最多的是导出规范，先说取景。烟花在面片里占得越小，分辨率就浪费得越多。固定框是默认；随开花放大，让刚开花的小花也有像素，但它以爆点为中心，扇形这种只往一侧长的花开满后反而更空；所以又加了锚在爆点，只朝有内容的方向放大。拿一个扇形测试，内容占面片的比例从两成左右提到四成左右。烘完再按每帧实际内容收紧；面片大小最多分 12 级，曲线点从近百个减到二十几个；帧数也按运动来分。这些以前要手工框、手工算，现在每次导出自动完成。</a:t>
            </a:r>
          </a:p>
          <a:p/>
          <a:p>
            <a:r>
              <a:t>依据：三种取景、锚点取景 ✓（tool/CHANGELOG.md 4.9.81：扇形 FC6O 内容占比中位数 固定 0.20 / 随开花放大 0.21 / 锚点 0.41，为取景计划估算）◎ 本机确认该扇形是否进了正式库，没进就保持台词里的「拿一个扇形测试」；烘完收紧、暗帧不收、最多 12 级、曲线点 96 → 24 ✓（4.9.33，用户 10-07 提出点位太多）；紧凑取景停用 ✓（spec §10A，09-29 引擎实测会抖）；帧数分配 ✓（spec §10C 柳类开头密后段疏；4.9.89「按运动分」）。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 · 导出流程化之二：打包与两平台（建议 55 秒）</a:t>
            </a:r>
          </a:p>
          <a:p/>
          <a:p>
            <a:r>
              <a:t>再说打包。一张图分 4×4 格，再用 RGBA 四个通道接力，一张图就能装 64 帧。贴图只存灰度，颜色交给 Ramp 去查，换颜色不用重新烘。格子跟着形状走：圆的用方格，下垂的柳用竖长格，细长的尾缀用 16×1 长条。Cutout 裁掉透明区域、减少 overdraw，省得少就不出，重复的只留一张。最后同一次导出 PC 和手游两套，交付前先在引擎回放里放一遍。</a:t>
            </a:r>
          </a:p>
          <a:p/>
          <a:p>
            <a:r>
              <a:t>依据：CLAUDE.md §2（灰度、RGBA 接力、BC7、默认 2048 可按效果调整、手游 ≤ 1024）；spec §7「素材包整理」（8 顶点、估省 &lt; 10% 不出、包内去重，4.9.38）；spec §10C（柳类竖长格，例 8 × 16）；CHANGELOG A16（尾缀 16 × 1）。页面不写「必须 2048」（用户 10-02：按效果可调）。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 · 导入器（建议 40 秒）</a:t>
            </a:r>
          </a:p>
          <a:p/>
          <a:p>
            <a:r>
              <a:t>第二个工具是导入器，灵感来自我们之前特效工作台的配表入口。它读取烘焙器导出的素材包，先检查命名、尺寸和规范项，不合格的先拦下来；再按平台创建贴图、材质实例和发射器，按规范设好；写完再读回来对照一遍。和性能组定下的贴图规范，比如手游保留 Mip 和流送、最大 1024，都写在导入器里，不用每次靠人记。自动检查不会改工程，我确认后点导入才写进去。</a:t>
            </a:r>
          </a:p>
          <a:p/>
          <a:p>
            <a:r>
              <a:t>依据：采访记录（灵感来源）；CLAUDE.md §2（导入器写 false、DistantVFX、PC/手游分平台，v2.31）；spec/workspace_resource_v1.md（检查不写 UE，点导入才写）。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 · 编排：先从舞台推出规则（建议 50 秒）</a:t>
            </a:r>
          </a:p>
          <a:p/>
          <a:p>
            <a:r>
              <a:t>排节目的思路是先推规则。舞台是一段宽约 800 米、高约 150 米的坝，坝顶按 100 米左右的点距排主发射点，加上中间点和前台一共 24 个。花分不分得清，看花径和点距的比例：一点五倍左右分得清，两倍多连成花墙，再大就糊。据此把花分成 S、M、L 和主角四档，定好开花高度，再配对应的升空尾缀。这些写进编排宪章，每一版编排都按它自动检查。实机机位和设计有出入时，以实机校正。</a:t>
            </a:r>
          </a:p>
          <a:p/>
          <a:p>
            <a:r>
              <a:t>依据：对话框22；协作/跨年秀编排宪章.md；本机第二版第 6、7 页已核口径（800 × 150、100 米、24 点、1.5 / 2–2.3 倍、90 / 150 / 230 / 280 米）。0.55 重叠阈值只适用于具体检测模型，台词不说（本机审查意见）。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 · 编排工作台（建议 30 秒）</a:t>
            </a:r>
          </a:p>
          <a:p/>
          <a:p>
            <a:r>
              <a:t>规则定了，还需要一个能排的工具。编排工作台把音乐波形、点位和烟花模板放在同一条时间轴上，可以对着音乐改。每改一次，就按宪章检查重叠、档位和预算，然后一键导出导演蓝图要的子模板、模板和时序三张表。UE 里只负责按表播放；节奏要改，回到工作台改完重新出表就行。</a:t>
            </a:r>
          </a:p>
          <a:p/>
          <a:p>
            <a:r>
              <a:t>依据：tool/workbench/src/Timeline.jsx（波形）✓；A3 三张表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 · 完整操作演示（建议 150 秒，含录屏）</a:t>
            </a:r>
          </a:p>
          <a:p/>
          <a:p>
            <a:r>
              <a:t>三个工具介绍完，看一段完整操作：选一个案例调参，在引擎回放里确认，一次导出 PC 和手游两套，导入器检查后写进 UE，最后在 UE 里播放。（播放录屏，约 2 分钟）录屏经过剪辑，实际用时 ×× 分钟。</a:t>
            </a:r>
          </a:p>
          <a:p/>
          <a:p>
            <a:r>
              <a:t>依据：用户 10-30 02:08「录屏我会出」；步骤同第一版第 11 页；实际用时由用户录完填写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 · 成果一：资源（建议 40 秒）</a:t>
            </a:r>
          </a:p>
          <a:p/>
          <a:p>
            <a:r>
              <a:t>再看成果，和前面三个问题一一对应。先说出图。最终进了跨年 3.0 资源表的，有 26 种开花花型、按尺寸共 30 个规格，升空尾缀 6 档，另外还有一套窜天猴；手游覆盖其中 12 种开花和全部尾缀。26 种开花里，20 种找到了烘焙器的导出材料，其中 19 种留有配方和导出记录，要调整时改参数重新导出就行。</a:t>
            </a:r>
          </a:p>
          <a:p/>
          <a:p>
            <a:r>
              <a:t>依据：26 / 30 / 6 / 1 套、手游 12 + 6 + 6 行、212 / 115 ✓（verify_A1_A2 §1）；20 种保留导出材料 ✓（verify §6，19 种带回执或修订、1 种旧包，不推作者归属）；按尺寸行数 ◎（A1 草稿为小号 6 / 小型 13〔含金锦冠 4 段〕/ 中型 7 / 大型 7，合计 33 开花行，和 46 − 6 − 7 = 33 对得上；但 A3 记的资源编号段大型只有 2826–2829 四个，本机按 UE 表核对后再填）；扇形 △（候选按名称有金锦冠〔4 段〕、银星扇等，本机按 UE 表和实际形态归类，归不清就删这一行）。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 · 成果二：进引擎（建议 30 秒）</a:t>
            </a:r>
          </a:p>
          <a:p/>
          <a:p>
            <a:r>
              <a:t>第二是进引擎。我们做过两轮整批修正：一轮是 115 个包，包括粒子系统和材质实例，统一了几项发射器和材质设置，读回没有错误；另一轮是和性能组定下贴图规范以后，149 张贴图整批重设，读回全部一致，别的项目也在用的共享贴图单独列出来，不跟着改。这些规则之后都写进了导入器，新资源导入时自动按规范设置。</a:t>
            </a:r>
          </a:p>
          <a:p/>
          <a:p>
            <a:r>
              <a:t>依据：analysis/results/TEX_SPEC_20261018/verify.json、资源规范统一_20261016/改后读回.json ✓（本机已核）。◎ 这次整批修正是用导入器还是配套脚本完成的，本机按记录选词；台词用「我们做过一次整批修正」不点工具名，两种情况都成立。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 · 成果三：排节目（建议 30 秒）</a:t>
            </a:r>
          </a:p>
          <a:p/>
          <a:p>
            <a:r>
              <a:t>第三是排节目。编排一共迭代了 11 个大版本，每一版都有自动检查记录。同一份编排可以按平台和画质分档筛选：PC 从高配的一千一百多次播放到低配的四百多次，手游从四百多次到一百八十次左右，不用每个档位单独排一遍。也要如实说，目前节拍对齐的指标还没完全达到宪章定的目标，还在继续调。</a:t>
            </a:r>
          </a:p>
          <a:p/>
          <a:p>
            <a:r>
              <a:t>依据：B11 修订 3 编排检查 ✓（导演表播放次数 PC 1145 / 852 / 438，手游 448 / 349 / 181，「次播放」沿用本机第二版用词，不改称「发」；对拍 78.3%、强拍 46.6%，宪章目标 85% / 80%）。页面用约数，不放 1570 次展开事件、37 次发布、38 份存档。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 · 投入与角色（建议 35 秒）</a:t>
            </a:r>
          </a:p>
          <a:p/>
          <a:p>
            <a:r>
              <a:t>这一个多月里，我一个人对接 AI，角色大致三类：定方向，包括需求、目标和编排设计；做判断，包括美术把关、UE 验收和规范取舍；还有维护规则和交接，让工作能一段段接续。这一版累计提交两千多次，其中三百多次是显卡后台自动回传；烘焙器迭代了近 200 个版本号。</a:t>
            </a:r>
          </a:p>
          <a:p/>
          <a:p>
            <a:r>
              <a:t>依据：verify_A1_A2 §1、§4 ✓（约 2200、352 次 gpu 前缀、约 200 个版本记录；不写「人工 1783 次」）。程序和性能组的归属已在第 6 页说过，这里不重复。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 · 尾缀：近段和远段（建议 45 秒）</a:t>
            </a:r>
          </a:p>
          <a:p/>
          <a:p>
            <a:r>
              <a:t>接下来讲过程中学到的东西，先讲升空尾缀。近段和远段不是相机远近的切换，而是火星的年龄：近段用循环面片跟着弹体，表现刚喷出的火星；远段用一次性序列，表现留在空中慢慢落下的老火星。卡不卡顿也从凭感觉变成了计算：按观看距离把火星运动换算成屏幕上的像素位移，再按 30 帧的节拍分配帧数。远看流畅，近看略软，这是有意的取舍。</a:t>
            </a:r>
          </a:p>
          <a:p/>
          <a:p>
            <a:r>
              <a:t>依据：本机第二版第 14、21 页与 verify_A4 ✓（非相机 LOD；PC S / M / L / Hero 启用 2 个发射器，不说「1 层」）。0.77 像素只放附录第 21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 · 仙女棒：13 类火星合成一张（建议 50 秒）</a:t>
            </a:r>
          </a:p>
          <a:p/>
          <a:p>
            <a:r>
              <a:t>第二个例子是仙女棒。它的火星有好几层：一级分叉、二级分叉，有清晰也有模糊。项目里已有的窜天猴拖尾，就用了 10 个发射器和多张贴图来拼。这次 13 类火星的结构来自我之前 Blender 工程里的版本，AI 把它移植成通用的母子分叉：子火星在母火星破裂的位置出生，继承一部分速度；快门和景深形成清晰和模糊的层次。合成后每个平台只要一张 64 帧主序列加一个发射器。目前看的是导出包回放，UE 里的观感还要再验收。</a:t>
            </a:r>
          </a:p>
          <a:p/>
          <a:p>
            <a:r>
              <a:t>依据：verify_A4、本机第二版第 13、22 页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 · 模糊与方头（建议 45 秒）</a:t>
            </a:r>
          </a:p>
          <a:p/>
          <a:p>
            <a:r>
              <a:t>第三个是排查。模糊和方头一开始混在一起，说不清是哪一个。后来我们固定机位、固定画质档位、同时播放对比，一次只改一个变量，才把它们分开：方头是长条格被压扁后取了较低的 Mip，星头就变方，高配看不出来，低配才出现；开花先糊后清，是贴图第一次出现时还没流送到位。最后的规则按平台分：PC 主序列不生成 Mip；手游根据性能组的内存反馈，保留 Mip 和流送、最大 1024，还要再实测。经验是先把对比条件固定住，再下结论。</a:t>
            </a:r>
          </a:p>
          <a:p/>
          <a:p>
            <a:r>
              <a:t>依据：LOWQ_FIX_20261018 ✓；CLAUDE.md §2 ✓；方头只在低配出现 ✓（第二版附录第 24 页、A4）。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页 · 黑点与 Ramp 末格（建议 40 秒）</a:t>
            </a:r>
          </a:p>
          <a:p/>
          <a:p>
            <a:r>
              <a:t>最后两个小问题：黑点和末格黑块。黑点是旧导出把淡出写在颜色里，透明度一直是 1，颜色变黑了还挡在那里；新写法保持颜色，把淡出写进 Alpha。末格黑块是最亮的地方采样碰到了 Ramp 最后一格的黑色；末格涂黑本来是为了去掉光晕灰线，所以保留它，另把 EmissiveDissolve 设为 0.98。修好以后都写进了导出和导入规则，新资源默认按新写法出。</a:t>
            </a:r>
          </a:p>
          <a:p/>
          <a:p>
            <a:r>
              <a:t>依据：verify_A4 ✓；对话框23；tool/src/js/62_resource_rules.js。不宣称黑点新写法已过 UE 实机验收。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页 · 规则落到界面：宪章与令牌（建议 45 秒）</a:t>
            </a:r>
          </a:p>
          <a:p/>
          <a:p>
            <a:r>
              <a:t>参数多了以后，界面本身也成了问题。做法还是先立规则：参数宪章要求每个参数先说清是物理量、引擎字段还是预览设置，调了不生效的要变灰并写明原因；交互宪章约定入口、状态和反馈怎么写；颜色这些基础值从已有的 DF 特效工作台反推成设计令牌，三个工具按同一套配色收口。目前配色已经统一，组件和形状还在逐步收口。</a:t>
            </a:r>
          </a:p>
          <a:p/>
          <a:p>
            <a:r>
              <a:t>依据：协作/参数宪章.md、协作/交互宪章.md、tool/design-system/tokens.json ✓；只说配色共用，不说三工具组件已统一 ✓（A5、本机审查）。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页 · 心得：遇到批量需求，这样和 AI 一起做（建议 80 秒）</a:t>
            </a:r>
          </a:p>
          <a:p/>
          <a:p>
            <a:r>
              <a:t>最后是我这一个多月最大的心得：遇到批量需求，可以分三步和 AI 一起做。第一步想清楚：把目标、引擎限制和怎样算做完说清楚，让 AI 讲清要用哪些技术，选最简单可行的路线；做效果的先拆原理再调参数。第二步定规矩：任务一多，几条线会互相覆盖，所以按效果、工具和编排分给不同的 AI 对话负责，共享文件先认领；规则写成宪章和规范，每次开工先读规范和上次的交接。第三步守结果：先让机器检查，再进 UE 验收；执行结束、AI 自检通过和我验收通过分开记；通过的版本锁定下来复用。大家可以先从一件重复的小事开始。</a:t>
            </a:r>
          </a:p>
          <a:p/>
          <a:p>
            <a:r>
              <a:t>依据：用户 01:42 第 2 条（沟通需求 → 技术栈 → 拆分 → 宪章规范 → 每次执行先读）与原五步（规则成文、原理先行、机器把关、状态分开、锁版本复用）合并；CLAUDE.md §0（开工先读）、§3（原理先行、交付前检查）、§4（合入门禁）、§5（负责人、认领、底层同时只由一方改）、§6（交接、状态清单）。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页 · 工具与致谢（建议 35 秒）</a:t>
            </a:r>
          </a:p>
          <a:p/>
          <a:p>
            <a:r>
              <a:t>工具包我会放在 xx 处。现在可以先拿到烘焙器和案例，导入器和编排工作台补齐后一起放上去。烘焙器可以从案例开始改；导入器需要 UE 插件和本机服务，第一次请在测试工程里试；编排工作台是离线页面。今天的案例只是载体，我真正想分享的是这种工作方式：从具体问题出发，让 AI 参与实现，把可检查、可复用的结果留下来。谢谢大家。</a:t>
            </a:r>
          </a:p>
          <a:p/>
          <a:p>
            <a:r>
              <a:t>依据：本机第二版第 19 页与派活 T24（导入器、编排工作台尚待补进工具包）。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4" name="Picture 3" descr="p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示意图</a:t>
            </a:r>
          </a:p>
        </p:txBody>
      </p:sp>
      <p:sp>
        <p:nvSpPr>
          <p:cNvPr id="7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76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组内分享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435100"/>
            <a:ext cx="8255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39"/>
              </a:lnSpc>
            </a:pP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烟花秀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全流程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511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烟花烘焙器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导入器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8194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一个多月，从做效果、进引擎到排节目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3274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556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分享人：____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546600"/>
            <a:ext cx="20320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736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73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9657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4965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2578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" y="52578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5499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5549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经验与方法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8420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800" y="5842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今年的烟花秀，种类和时长都比去年大得多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64008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0"/>
              </a:lnSpc>
            </a:pPr>
            <a:r>
              <a:rPr sz="100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6000" b="1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60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6000" b="1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19400"/>
            <a:ext cx="6400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去年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种烟花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今年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种开花花型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365500"/>
            <a:ext cx="6400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568700"/>
            <a:ext cx="1651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1100" y="35814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节目时长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1100" y="3835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今年约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30700"/>
            <a:ext cx="1651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1100" y="43434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升空尾缀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1100" y="4597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按开花高度分档，另有一套窜天猴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092700"/>
            <a:ext cx="1651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1100" y="51054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两个平台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1100" y="53594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PC、手游各一套，各自再分画质档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9055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9"/>
              </a:lnSpc>
            </a:pP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花型按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资源表「跨年烟花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3.0」统计，同名不同尺寸、同一花的分段合并计</a:t>
            </a:r>
          </a:p>
        </p:txBody>
      </p:sp>
      <p:pic>
        <p:nvPicPr>
          <p:cNvPr id="19" name="Picture 18" descr="p02_sh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58900"/>
            <a:ext cx="4267200" cy="47117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391400" y="5740400"/>
            <a:ext cx="1201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ource_tag"/>
          <p:cNvSpPr txBox="1"/>
          <p:nvPr/>
        </p:nvSpPr>
        <p:spPr>
          <a:xfrm>
            <a:off x="7391400" y="5740400"/>
            <a:ext cx="12014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今年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出图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每种烟花都要单独处理出图规格，手工做不过来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3_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4064000" cy="406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4064000" cy="4064000"/>
          </a:xfrm>
          <a:prstGeom prst="rect">
            <a:avLst/>
          </a:prstGeom>
          <a:noFill/>
          <a:ln w="12700">
            <a:solidFill>
              <a:srgbClr val="F5F5F5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23350" y="2737164"/>
            <a:ext cx="2788216" cy="1605230"/>
          </a:xfrm>
          <a:prstGeom prst="rect">
            <a:avLst/>
          </a:prstGeom>
          <a:noFill/>
          <a:ln w="12700">
            <a:solidFill>
              <a:srgbClr val="0FF796">
                <a:alpha val="9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88474" y="4424190"/>
            <a:ext cx="114300" cy="1143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9924" y="445594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爆点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3350" y="2483164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实际内容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14605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面片（贴图里的一格）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37200"/>
            <a:ext cx="4064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四周的黑也占着分辨率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烘焙器导出效果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扇形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一格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512×512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8400" y="13589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出图前，每种烟花要定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件事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8400" y="1778000"/>
            <a:ext cx="3238500" cy="749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0800" y="18415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1800" y="18669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1800" y="21717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面片取多大，爆点放在哪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3900" y="1778000"/>
            <a:ext cx="3238500" cy="749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6300" y="18415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7300" y="18669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7300" y="21717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几十帧分给开花、下垂、熄灭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8400" y="2641600"/>
            <a:ext cx="3238500" cy="749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0800" y="27051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1800" y="27305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格子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1800" y="30353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圆形、下垂、细长，排法不同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3900" y="2641600"/>
            <a:ext cx="3238500" cy="749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6300" y="27051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7300" y="27305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打包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7300" y="30353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几十帧装进一张贴图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78400" y="3505200"/>
            <a:ext cx="3238500" cy="749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0800" y="35687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1800" y="35941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颜色与裁剪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1800" y="38989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查色，Cutout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去透明区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3900" y="3505200"/>
            <a:ext cx="3238500" cy="749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6300" y="35687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7300" y="35941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两个平台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7300" y="3898900"/>
            <a:ext cx="2603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PC、手游分辨率与发射器不同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78400" y="4533900"/>
            <a:ext cx="6604000" cy="1536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78400" y="4533900"/>
            <a:ext cx="38100" cy="1536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400" y="468630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之前的做法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2400" y="4978400"/>
            <a:ext cx="609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Aft>
                <a:spcPts val="500"/>
              </a:spcAft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手工：渲染后在软件里裁、排、合通道，再回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Cascade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手算尺寸和曲线，一改就重来。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脚本：让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写脚本驱动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出图，能出，但每轮要等渲染，调参看不到最终效果。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进引擎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进引擎时，每张贴图、每个实例都要按规范设置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4_t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5372100" cy="2794000"/>
          </a:xfrm>
          <a:prstGeom prst="rect">
            <a:avLst/>
          </a:prstGeom>
        </p:spPr>
      </p:pic>
      <p:pic>
        <p:nvPicPr>
          <p:cNvPr id="7" name="Picture 6" descr="p04_c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358900"/>
            <a:ext cx="5372100" cy="279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216400"/>
            <a:ext cx="53721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序列贴图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300" y="4216400"/>
            <a:ext cx="53721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发射器模块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635500"/>
            <a:ext cx="3488267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8895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4800600"/>
            <a:ext cx="3310467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5130800"/>
            <a:ext cx="3234267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流送、贴图组、Mip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等，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按用途和平台各不相同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1867" y="4635500"/>
            <a:ext cx="3488267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1867" y="48895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9667" y="4800600"/>
            <a:ext cx="3310467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材质实例与发射器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667" y="5130800"/>
            <a:ext cx="3234267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参数、包围盒、朝向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都要设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4133" y="4635500"/>
            <a:ext cx="3488267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4133" y="48895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1933" y="4800600"/>
            <a:ext cx="3310467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每改一版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1933" y="5130800"/>
            <a:ext cx="3234267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重新创建、重新设置；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漏一项往往到实机才发现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867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跨年烟花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3.0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资源共引用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212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张贴图（两个平台合计）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去年在定序器里手工排，今年这样排已经改不动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5_sequen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4711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740400"/>
            <a:ext cx="1963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5740400"/>
            <a:ext cx="19634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去年的定序器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去年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25600"/>
            <a:ext cx="42672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定序器里手工拼：12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条子序列、</a:t>
            </a:r>
          </a:p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两千多条轨道</a:t>
            </a:r>
          </a:p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改一处节奏要重新对很多条</a:t>
            </a:r>
          </a:p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性能组反馈内存占用偏高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3020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4798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今年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846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秒节目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3053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个发射点位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8260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PC、手游各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档画质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4483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版本时间紧；新做了导演蓝图（与程序共同设计），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但对着表格手工对音乐节奏，仍然很难改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三个问题对应三个工具，用固定格式首尾衔接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06_b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365250"/>
            <a:ext cx="2273300" cy="1282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urce_tag"/>
          <p:cNvSpPr txBox="1"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问题一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出图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模拟、取景、打包，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一次导出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91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8956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素材包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52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06_impor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1365250"/>
            <a:ext cx="2273300" cy="12827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84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问题二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进引擎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84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4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检查素材包，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按规范创建与设置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47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57912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06_work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50" y="1365250"/>
            <a:ext cx="2273300" cy="12827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ource_tag"/>
          <p:cNvSpPr txBox="1"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问题三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0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音乐、点位、模板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生成导演表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3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86868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964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06_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50" y="1365250"/>
            <a:ext cx="2273300" cy="12827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ource_tag"/>
          <p:cNvSpPr txBox="1"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96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96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按子模板、模板、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时序三张表播放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635500"/>
            <a:ext cx="64008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635500"/>
            <a:ext cx="38100" cy="1435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600" y="4813300"/>
            <a:ext cx="584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分工：我定方向，AI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写工具，关键结果进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" y="5168900"/>
            <a:ext cx="5842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目标、审美和引擎限制由我定；工具由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写；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结果先在引擎回放里查，关键的再进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验收。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635500"/>
            <a:ext cx="42672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9200" y="48133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和其他组一起定的部分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9200" y="51689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导演蓝图：与程序共同设计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贴图规范：与性能组共同确定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出图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烘焙器：让出图看得见、出得快、按项目定制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5621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1841500"/>
            <a:ext cx="381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写脚本驱动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Blender</a:t>
            </a:r>
          </a:p>
          <a:p>
            <a:pPr algn="l">
              <a:lnSpc>
                <a:spcPts val="229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输出贴图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600" y="2813050"/>
            <a:ext cx="88900" cy="88900"/>
          </a:xfrm>
          <a:prstGeom prst="rect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2730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能出图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32067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4100" y="31242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每轮要等离线渲染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600" y="36004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4100" y="35179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调参时看到的不是最终输出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39941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100" y="3911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规格要等出完才能确认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4445000"/>
            <a:ext cx="3759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4597400"/>
            <a:ext cx="37592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烟花在游戏里是朝向镜头的面片，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播的是粒子运动。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所以只做游戏视角的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2D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不追求完整三维场景。</a:t>
            </a:r>
          </a:p>
        </p:txBody>
      </p:sp>
      <p:pic>
        <p:nvPicPr>
          <p:cNvPr id="19" name="Picture 18" descr="p07_rep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358900"/>
            <a:ext cx="6400800" cy="2667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81600" y="4089400"/>
            <a:ext cx="64008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烘焙器「引擎回放」：按导出的贴图和配置在浏览器里播放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0" y="44577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600" y="4724400"/>
            <a:ext cx="19812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看得见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0" y="50673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实时模拟调参；</a:t>
            </a:r>
          </a:p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导出后在引擎回放里看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1400" y="44577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1400" y="4724400"/>
            <a:ext cx="19812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出得快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50673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改完参数当场看；</a:t>
            </a:r>
          </a:p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直接导出引擎要的格式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4577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724400"/>
            <a:ext cx="19812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按项目定制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0673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按这次的舞台、视距</a:t>
            </a:r>
          </a:p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和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Cascade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规范设计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0" y="5778500"/>
            <a:ext cx="6400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重点不是换软件，而是让预览、输出和引擎里的效果对得上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出图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取景流程化：让贴图的像素尽量用在烟花上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8_fix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3505200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600" y="1447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14800"/>
            <a:ext cx="3505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固定框（默认）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45000"/>
            <a:ext cx="3505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整段的最大范围一个框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800" y="41148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pic>
        <p:nvPicPr>
          <p:cNvPr id="11" name="Picture 10" descr="p08_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58900"/>
            <a:ext cx="3505200" cy="2667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70400" y="1447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114800"/>
            <a:ext cx="3505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随开花放大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445000"/>
            <a:ext cx="3505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以爆点为中心长大；扇形开满反而更空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41148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pic>
        <p:nvPicPr>
          <p:cNvPr id="16" name="Picture 15" descr="p08_anch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358900"/>
            <a:ext cx="3505200" cy="2667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04200" y="1447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4114800"/>
            <a:ext cx="3505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锚在爆点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4445000"/>
            <a:ext cx="3505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偏一侧的花，只朝有内容的方向放大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0" y="41148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6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4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724400"/>
            <a:ext cx="109728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示意图只画开满那一刻（绿点为爆点）；「约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x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成」是单个扇形测试中，全程各帧内容占面片比例的中位数（取景计划估算）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016500"/>
            <a:ext cx="10972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143500"/>
            <a:ext cx="2552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烘完收紧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448300"/>
            <a:ext cx="25527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按每帧实际内容再收一次；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几乎全黑的帧不收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6300" y="5143500"/>
            <a:ext cx="2552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曲线精简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6300" y="5448300"/>
            <a:ext cx="25527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面片大小最多分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级；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曲线点从近百个减到二十几个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5143500"/>
            <a:ext cx="2552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帧数分配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000" y="5448300"/>
            <a:ext cx="25527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动得快的阶段帧给得密，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慢的阶段少给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700" y="5143500"/>
            <a:ext cx="2552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停用紧凑取景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9700" y="5448300"/>
            <a:ext cx="25527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逐帧紧裁、面片跟着跑，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在引擎里会抖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出图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打包流程化：一张图装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帧，PC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和手游一次导出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600200"/>
            <a:ext cx="27940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0"/>
              </a:lnSpc>
            </a:pPr>
            <a:r>
              <a:rPr sz="8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7686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帧装进一张贴图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175000"/>
            <a:ext cx="2667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4×4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格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RGBA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四个通道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填满再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G、B、A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9000" y="4064000"/>
            <a:ext cx="26670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42418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贴图只存灰度，颜色交给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查色：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同一套序列换颜色不用重烘</a:t>
            </a:r>
          </a:p>
        </p:txBody>
      </p:sp>
      <p:pic>
        <p:nvPicPr>
          <p:cNvPr id="13" name="Picture 12" descr="p09_fan_atl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358900"/>
            <a:ext cx="3625850" cy="2247900"/>
          </a:xfrm>
          <a:prstGeom prst="rect">
            <a:avLst/>
          </a:prstGeom>
        </p:spPr>
      </p:pic>
      <p:pic>
        <p:nvPicPr>
          <p:cNvPr id="14" name="Picture 13" descr="p09_trail_atl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0" y="1358900"/>
            <a:ext cx="3625850" cy="2247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3700" y="3670300"/>
            <a:ext cx="3625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扇形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4×4×RGBA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帧（烘焙器贴图视图）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6550" y="3670300"/>
            <a:ext cx="3625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升空尾缀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16×1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长条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RGBA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3700" y="4216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4200" y="4127500"/>
            <a:ext cx="337185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格子跟形状走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4200" y="4432300"/>
            <a:ext cx="33718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圆形用方格，下垂的柳用竖长格，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细长尾缀用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16×1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长条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0050" y="4216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0550" y="4127500"/>
            <a:ext cx="337185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减透明区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0550" y="4432300"/>
            <a:ext cx="33718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所有帧叠出轮廓，裁成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8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顶点；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省得少就不出，重复的只留一张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3700" y="5232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4200" y="5143500"/>
            <a:ext cx="337185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两个平台一次导出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4200" y="5448300"/>
            <a:ext cx="33718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与手游各一套，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手游贴图不超过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0050" y="5232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0550" y="5143500"/>
            <a:ext cx="337185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出包前先回放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550" y="5448300"/>
            <a:ext cx="33718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在引擎回放里按导出的贴图放一遍，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再交给导入器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进引擎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导入器：把引擎设置规范写进工具，确认后才写入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0_impo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400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435600"/>
            <a:ext cx="6400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导入入口在烘焙器「资源交付」页；写进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靠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插件和本机交付服务</a:t>
            </a:r>
          </a:p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灵感来自原特效工作台的配表入口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600" y="13970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读包检查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17018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命名、尺寸、平台和规范项；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不合格的先拦下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876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600" y="24130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按平台创建与设置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7178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贴图、材质实例、发射器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按规范设好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4036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sz="2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8600" y="34290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读回核对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37338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写完再读一遍，和规范对照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4572000"/>
            <a:ext cx="4267200" cy="1498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4572000"/>
            <a:ext cx="38100" cy="1498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9200" y="47371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我点「导入」才写进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9200" y="50800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自动检查不改工程；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和性能组定的规范写在工具里，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不用每次靠人记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编排先从舞台推出规则，再按规则排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舞台与点位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设计值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2984500"/>
            <a:ext cx="6400800" cy="825500"/>
          </a:xfrm>
          <a:prstGeom prst="rect">
            <a:avLst/>
          </a:prstGeom>
          <a:solidFill>
            <a:srgbClr val="F5F5F5">
              <a:alpha val="6000"/>
            </a:srgbClr>
          </a:solidFill>
          <a:ln w="6350">
            <a:solidFill>
              <a:srgbClr val="F5F5F5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30734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坝体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宽约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m、高约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9" name="Oval 8"/>
          <p:cNvSpPr/>
          <p:nvPr/>
        </p:nvSpPr>
        <p:spPr>
          <a:xfrm>
            <a:off x="7937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92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938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93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939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194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940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95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941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96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942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97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943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198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44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9900" y="2844800"/>
            <a:ext cx="88900" cy="889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94550" y="2819400"/>
            <a:ext cx="139700" cy="1397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33320" y="3568700"/>
            <a:ext cx="3261360" cy="25400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8572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578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4584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2590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0596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8602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66080" y="3492500"/>
            <a:ext cx="76200" cy="762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3600" y="4140200"/>
            <a:ext cx="101600" cy="101600"/>
          </a:xfrm>
          <a:prstGeom prst="ellipse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400" y="4064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主点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P0–P8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9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个，点距约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36" name="Oval 35"/>
          <p:cNvSpPr/>
          <p:nvPr/>
        </p:nvSpPr>
        <p:spPr>
          <a:xfrm>
            <a:off x="863600" y="4419600"/>
            <a:ext cx="101600" cy="101600"/>
          </a:xfrm>
          <a:prstGeom prst="ellipse">
            <a:avLst/>
          </a:prstGeom>
          <a:solidFill>
            <a:srgbClr val="F5F5F5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400" y="43434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中间点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B0–B7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8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</a:t>
            </a:r>
          </a:p>
        </p:txBody>
      </p:sp>
      <p:sp>
        <p:nvSpPr>
          <p:cNvPr id="38" name="Oval 37"/>
          <p:cNvSpPr/>
          <p:nvPr/>
        </p:nvSpPr>
        <p:spPr>
          <a:xfrm>
            <a:off x="863600" y="4699000"/>
            <a:ext cx="101600" cy="101600"/>
          </a:xfrm>
          <a:prstGeom prst="ellipse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400" y="4622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前台点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F0–F6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7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4600" y="4064000"/>
            <a:ext cx="241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合计</a:t>
            </a:r>
          </a:p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24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个发射点位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0" y="1358900"/>
            <a:ext cx="3962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花径与点距之比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1625600"/>
            <a:ext cx="3962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1.5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倍还分得清；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两倍多连成花墙；再大就糊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24130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8500" y="24130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花径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1000" y="24130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与点距之比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23500" y="24130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开花高度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0" y="2667000"/>
            <a:ext cx="3962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0" y="2743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8500" y="2743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90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1000" y="2743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23500" y="2743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+150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20000" y="3073400"/>
            <a:ext cx="3962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0000" y="3149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149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1000" y="3149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23500" y="3149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+210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20000" y="3479800"/>
            <a:ext cx="3962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20000" y="355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18500" y="355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71000" y="355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3500" y="355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+330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20000" y="3886200"/>
            <a:ext cx="3962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20000" y="3962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主角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8500" y="3962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280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71000" y="3962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23500" y="3962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+400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20000" y="4292600"/>
            <a:ext cx="3962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20000" y="4368800"/>
            <a:ext cx="3962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每档配同名升空尾缀（主角配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Hero）；高度相对坝顶</a:t>
            </a:r>
          </a:p>
          <a:p>
            <a:pPr algn="l">
              <a:lnSpc>
                <a:spcPts val="1500"/>
              </a:lnSpc>
            </a:pP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主角只放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P0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P4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P8，不与同档相邻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5156200"/>
            <a:ext cx="1587500" cy="4572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960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舞台与点位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235200" y="5384800"/>
            <a:ext cx="21336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72" name="Rectangle 71"/>
          <p:cNvSpPr/>
          <p:nvPr/>
        </p:nvSpPr>
        <p:spPr>
          <a:xfrm>
            <a:off x="2486660" y="5156200"/>
            <a:ext cx="1587500" cy="4572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8666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花径与点距之比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12260" y="5384800"/>
            <a:ext cx="21336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75" name="Rectangle 74"/>
          <p:cNvSpPr/>
          <p:nvPr/>
        </p:nvSpPr>
        <p:spPr>
          <a:xfrm>
            <a:off x="4363720" y="5156200"/>
            <a:ext cx="1587500" cy="4572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6372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分档定高度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989320" y="5384800"/>
            <a:ext cx="21336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78" name="Rectangle 77"/>
          <p:cNvSpPr/>
          <p:nvPr/>
        </p:nvSpPr>
        <p:spPr>
          <a:xfrm>
            <a:off x="6240780" y="5156200"/>
            <a:ext cx="1587500" cy="4572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4078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重叠与同刻检查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866380" y="5384800"/>
            <a:ext cx="21336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81" name="Rectangle 80"/>
          <p:cNvSpPr/>
          <p:nvPr/>
        </p:nvSpPr>
        <p:spPr>
          <a:xfrm>
            <a:off x="8117840" y="5156200"/>
            <a:ext cx="1587500" cy="457200"/>
          </a:xfrm>
          <a:prstGeom prst="rect">
            <a:avLst/>
          </a:prstGeom>
          <a:solidFill>
            <a:srgbClr val="0FF796">
              <a:alpha val="16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1784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编排宪章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743440" y="5384800"/>
            <a:ext cx="213360" cy="0"/>
          </a:xfrm>
          <a:prstGeom prst="line">
            <a:avLst/>
          </a:prstGeom>
          <a:ln w="12700">
            <a:solidFill>
              <a:srgbClr val="0FF796">
                <a:alpha val="70000"/>
              </a:srgbClr>
            </a:solidFill>
            <a:tailEnd type="triangle" w="med" len="med"/>
          </a:ln>
        </p:spPr>
      </p:cxnSp>
      <p:sp>
        <p:nvSpPr>
          <p:cNvPr id="84" name="Rectangle 83"/>
          <p:cNvSpPr/>
          <p:nvPr/>
        </p:nvSpPr>
        <p:spPr>
          <a:xfrm>
            <a:off x="9994900" y="5156200"/>
            <a:ext cx="1587500" cy="457200"/>
          </a:xfrm>
          <a:prstGeom prst="rect">
            <a:avLst/>
          </a:prstGeom>
          <a:solidFill>
            <a:srgbClr val="0FF796">
              <a:alpha val="8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9490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每版自动检查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" y="57531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9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编排宪章：写成文档、每一版都自动检查的编排规则。以上为设计值，实机机位与点距不同时以实机校正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编排工作台：在时间轴上排，导出导演蓝图要的三张表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2_work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10972800" cy="279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2037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470400"/>
            <a:ext cx="6400800" cy="1600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470400"/>
            <a:ext cx="38100" cy="1600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46101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4889500"/>
            <a:ext cx="584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音乐波形、点位、烟花模板在同一条时间轴上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5245100"/>
            <a:ext cx="584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对着音乐改节奏、换模板；改完就能看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470400"/>
            <a:ext cx="4267200" cy="1600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9200" y="46101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程序化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9200" y="4889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按宪章检查，一键出三张表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9200" y="52451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重叠、档位、预算每次都查；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子模板、模板、时序三张表给导演蓝图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演示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三个工具串起来：从调参到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里播放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dem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7620000" cy="428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solidFill>
            <a:srgbClr val="0A0A0A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noFill/>
          <a:ln w="19050">
            <a:solidFill>
              <a:srgbClr val="0FF796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057525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录屏位：完整操作（约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27425"/>
            <a:ext cx="685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选案例调参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导入器检查写入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314950"/>
            <a:ext cx="12700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ource_tag"/>
          <p:cNvSpPr txBox="1"/>
          <p:nvPr/>
        </p:nvSpPr>
        <p:spPr>
          <a:xfrm>
            <a:off x="685800" y="531495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底图：工具界面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13589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0800" y="13589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选案例、调参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0800" y="1625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烘焙器实时模拟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20447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0800" y="2044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看引擎回放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800" y="2311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按导出的贴图播放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0" y="2730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0800" y="27305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一次导出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0800" y="29972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与手游两套素材包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34163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0800" y="34163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检查并导入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0800" y="3683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点「导入」才写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41021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0800" y="4102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0800" y="4368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粒子系统、贴图、材质实例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4400" y="4889500"/>
            <a:ext cx="3048000" cy="76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4400" y="4889500"/>
            <a:ext cx="38100" cy="762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00" y="48895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1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实际用时</a:t>
            </a: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出图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资源成果：26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种开花、6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档尾缀和一套窜天猴进了资源表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600200"/>
            <a:ext cx="2794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00"/>
              </a:lnSpc>
            </a:pPr>
            <a:r>
              <a:rPr sz="5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3622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种开花花型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27178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按尺寸共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个规格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9000" y="3302000"/>
            <a:ext cx="26670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34798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其中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20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种找到烘焙器导出材料，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19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种留有配方和导出记录，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要调整时改参数重新导出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461000"/>
            <a:ext cx="2667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按资源表花型统计，含素材复用，</a:t>
            </a:r>
          </a:p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不等于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套独立模拟</a:t>
            </a:r>
          </a:p>
        </p:txBody>
      </p:sp>
      <p:pic>
        <p:nvPicPr>
          <p:cNvPr id="14" name="Picture 13" descr="p1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358900"/>
            <a:ext cx="1787525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3700" y="3314700"/>
            <a:ext cx="1787525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扇面（UE）</a:t>
            </a:r>
          </a:p>
        </p:txBody>
      </p:sp>
      <p:pic>
        <p:nvPicPr>
          <p:cNvPr id="16" name="Picture 15" descr="p1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5" y="1358900"/>
            <a:ext cx="1787525" cy="190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67425" y="3314700"/>
            <a:ext cx="1787525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彩色组合（UE）</a:t>
            </a:r>
          </a:p>
        </p:txBody>
      </p:sp>
      <p:pic>
        <p:nvPicPr>
          <p:cNvPr id="18" name="Picture 17" descr="p1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150" y="1358900"/>
            <a:ext cx="1787525" cy="1905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31150" y="3314700"/>
            <a:ext cx="1787525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金芒爆裂菊</a:t>
            </a:r>
          </a:p>
        </p:txBody>
      </p:sp>
      <p:pic>
        <p:nvPicPr>
          <p:cNvPr id="20" name="Picture 19" descr="p1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4875" y="1358900"/>
            <a:ext cx="1787525" cy="1905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94875" y="3314700"/>
            <a:ext cx="1787525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小青柠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99980" y="2933700"/>
            <a:ext cx="15062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ource_tag"/>
          <p:cNvSpPr txBox="1"/>
          <p:nvPr/>
        </p:nvSpPr>
        <p:spPr>
          <a:xfrm>
            <a:off x="9999980" y="2933700"/>
            <a:ext cx="15062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700" y="3746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5700" y="3746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700" y="3746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1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3700" y="3987800"/>
            <a:ext cx="73787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3700" y="3987800"/>
            <a:ext cx="317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开花花型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5700" y="3987800"/>
            <a:ext cx="19685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个规格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700" y="3987800"/>
            <a:ext cx="20447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3700" y="4508500"/>
            <a:ext cx="73787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3700" y="4508500"/>
            <a:ext cx="317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升空尾缀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5700" y="4508500"/>
            <a:ext cx="19685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7700" y="4508500"/>
            <a:ext cx="20447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3700" y="5029200"/>
            <a:ext cx="73787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3700" y="5029200"/>
            <a:ext cx="317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窜天猴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5700" y="5029200"/>
            <a:ext cx="19685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7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个组件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7700" y="5029200"/>
            <a:ext cx="20447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个组件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3700" y="5549900"/>
            <a:ext cx="73787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3700" y="5549900"/>
            <a:ext cx="31750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引用贴图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5700" y="5549900"/>
            <a:ext cx="19685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212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张（两个平台合计）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37700" y="5549900"/>
            <a:ext cx="2044700" cy="520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5"/>
              </a:lnSpc>
            </a:p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进引擎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接入成果：两轮整批修正，读回全部一致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10-18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和性能组定下贴图规范后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63700"/>
            <a:ext cx="63500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0"/>
              </a:lnSpc>
            </a:pPr>
            <a:r>
              <a:rPr sz="7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149</a:t>
            </a:r>
            <a:r>
              <a:rPr sz="4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/149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68600"/>
            <a:ext cx="635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张贴图整批重设，读回全部一致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11500"/>
            <a:ext cx="635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别的项目也在用的共享贴图单独列出核对，不跟着改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632200"/>
            <a:ext cx="6400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10-16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更早一轮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14800"/>
            <a:ext cx="635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9000"/>
            <a:ext cx="635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个粒子系统、67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个材质实例，统一几项发射器与材质设置，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读回无错误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4600" y="1587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之后都写进了导入器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94600" y="2247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85100" y="21590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导出时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5100" y="24511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按平台写好设置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94600" y="3073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85100" y="29845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5100" y="32766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按包写入，再读回核对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94600" y="3898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5100" y="38100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共享贴图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5100" y="4102100"/>
            <a:ext cx="3429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单独列出来问，不跟着改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4600" y="4953000"/>
            <a:ext cx="37084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新资源导入时自动按规范设置，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不用每次靠人记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编排成果：同一份节目，按平台和画质分档出表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10972800" cy="2984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52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同一份编排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各档一场的播放次数（导演表）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5600" y="2095500"/>
            <a:ext cx="952500" cy="1714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8600" y="1828800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2100" y="2534232"/>
            <a:ext cx="952500" cy="1275768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5100" y="2267532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850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21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600" y="3154148"/>
            <a:ext cx="952500" cy="655852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1600" y="2887448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5600" y="40640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1100" y="3139174"/>
            <a:ext cx="952500" cy="67082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4100" y="2872474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1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67600" y="3287414"/>
            <a:ext cx="952500" cy="52258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0600" y="3020714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6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74100" y="3538974"/>
            <a:ext cx="952500" cy="27102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7100" y="3272274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41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1100" y="40640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810000"/>
            <a:ext cx="9448800" cy="6350"/>
          </a:xfrm>
          <a:prstGeom prst="rect">
            <a:avLst/>
          </a:prstGeom>
          <a:solidFill>
            <a:srgbClr val="F5F5F5">
              <a:alpha val="2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4533900"/>
            <a:ext cx="6400800" cy="1536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4533900"/>
            <a:ext cx="38100" cy="1536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600" y="4699000"/>
            <a:ext cx="571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80"/>
              </a:lnSpc>
            </a:pPr>
            <a:r>
              <a:rPr sz="3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个大版本迭代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600" y="5308600"/>
            <a:ext cx="584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每一版都有自动检查记录；改节奏回工作台改完重新出表，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只按表播放，不用每档单独排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4533900"/>
            <a:ext cx="4267200" cy="1536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9200" y="46990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待改进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9200" y="4991100"/>
            <a:ext cx="381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节拍对齐的指标还没达到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宪章定的目标，仍在调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投入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一个人对接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AI，贯穿需求、制作、验收和编排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454400" cy="330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1587500"/>
            <a:ext cx="127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22606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定方向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794000"/>
            <a:ext cx="2921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需求、目标与限制</a:t>
            </a:r>
          </a:p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舞台与编排设计</a:t>
            </a:r>
          </a:p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审美方向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4318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800" y="1358900"/>
            <a:ext cx="3454400" cy="330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8200" y="1587500"/>
            <a:ext cx="127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22606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做判断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2794000"/>
            <a:ext cx="2921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美术把关</a:t>
            </a:r>
          </a:p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里验收</a:t>
            </a:r>
          </a:p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规范取舍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4318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8000" y="1358900"/>
            <a:ext cx="3454400" cy="330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7400" y="1587500"/>
            <a:ext cx="127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0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400" y="22606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维护规则和交接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7400" y="2794000"/>
            <a:ext cx="2921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把要求写成规则</a:t>
            </a:r>
          </a:p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每段工作留交接</a:t>
            </a:r>
          </a:p>
          <a:p>
            <a:pPr algn="l">
              <a:lnSpc>
                <a:spcPts val="2625"/>
              </a:lnSpc>
            </a:pPr>
            <a:r>
              <a:rPr sz="15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让工作能一段段接续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7400" y="4318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5016500"/>
            <a:ext cx="10972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5207000"/>
            <a:ext cx="10972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这一版累计约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2200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次项目提交（其中约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350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次为显卡后台自动回传），烘焙器迭代近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200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个版本号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5499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导演蓝图与程序共同设计；贴图规范与性能组共同确定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经验与方法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尾缀：近段和远段分别表现不同年龄的火星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7_tr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393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72100"/>
            <a:ext cx="6400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上：实拍参考；中：实时模拟；下：导出贴图回放</a:t>
            </a:r>
          </a:p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导出行里，亮头附近一小段是近段，下面拖着的长尾是远段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47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5700" y="1358900"/>
            <a:ext cx="4076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近段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5700" y="1676400"/>
            <a:ext cx="4076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循环面片跟着弹体，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表现刚喷出的火星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63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5700" y="2374900"/>
            <a:ext cx="4076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远段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700" y="2692400"/>
            <a:ext cx="4076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一次性序列，表现留在空中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慢慢落下的老火星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39090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注意：不是相机远近的切换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10000"/>
            <a:ext cx="4267200" cy="2260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810000"/>
            <a:ext cx="38100" cy="2260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9200" y="39751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帧数怎么分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9200" y="4267200"/>
            <a:ext cx="3810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按游戏里的观看距离，把火星运动换算成屏幕上每帧移动多少像素，再按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帧的节拍分配帧数。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200" y="5334000"/>
            <a:ext cx="381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远看流畅，近看略软：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这是有意做的取舍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经验与方法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仙女棒：13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类火星在烘焙时合成，一个发射器播放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663700"/>
            <a:ext cx="2857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00"/>
              </a:lnSpc>
            </a:pPr>
            <a:r>
              <a:rPr sz="6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667000"/>
            <a:ext cx="2730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类火星</a:t>
            </a:r>
          </a:p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合成每平台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帧主序列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3530600"/>
            <a:ext cx="26670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000" y="3683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以往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3949700"/>
            <a:ext cx="2730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已有的窜天猴拖尾用了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个发射器、多张贴图来拼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46355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这次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902200"/>
            <a:ext cx="2730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移植成通用的母子分叉：子火星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在母火星破裂处出生、继承部分速度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3700" y="1358900"/>
            <a:ext cx="7378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类火星（结构来自之前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工程里的版本）</a:t>
            </a:r>
          </a:p>
        </p:txBody>
      </p:sp>
      <p:pic>
        <p:nvPicPr>
          <p:cNvPr id="16" name="Picture 15" descr="p18_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625600"/>
            <a:ext cx="7378700" cy="1193800"/>
          </a:xfrm>
          <a:prstGeom prst="rect">
            <a:avLst/>
          </a:prstGeom>
        </p:spPr>
      </p:pic>
      <p:pic>
        <p:nvPicPr>
          <p:cNvPr id="17" name="Picture 16" descr="p18_l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0" y="2870200"/>
            <a:ext cx="7378700" cy="1193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03700" y="4203700"/>
            <a:ext cx="7378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合成后的一张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帧主序列（导出贴图；UE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观感待验收）</a:t>
            </a:r>
          </a:p>
        </p:txBody>
      </p:sp>
      <p:pic>
        <p:nvPicPr>
          <p:cNvPr id="19" name="Picture 18" descr="p18_she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4470400"/>
            <a:ext cx="7378700" cy="1600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经验与方法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模糊与方头：固定条件对比后，分开定位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9_sq_n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1524000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482600" cy="241300"/>
          </a:xfrm>
          <a:prstGeom prst="rect">
            <a:avLst/>
          </a:prstGeom>
          <a:solidFill>
            <a:srgbClr val="0A0A0A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358900"/>
            <a:ext cx="4826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修前</a:t>
            </a:r>
          </a:p>
        </p:txBody>
      </p:sp>
      <p:pic>
        <p:nvPicPr>
          <p:cNvPr id="9" name="Picture 8" descr="p19_sq_f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58900"/>
            <a:ext cx="1524000" cy="419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09800" y="1358900"/>
            <a:ext cx="1701800" cy="241300"/>
          </a:xfrm>
          <a:prstGeom prst="rect">
            <a:avLst/>
          </a:prstGeom>
          <a:solidFill>
            <a:srgbClr val="0FF796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9800" y="1358900"/>
            <a:ext cx="17018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0A0A0A"/>
                </a:solidFill>
                <a:latin typeface="Consolas"/>
                <a:ea typeface="微软雅黑"/>
                <a:cs typeface="微软雅黑"/>
              </a:rPr>
              <a:t>修后</a:t>
            </a:r>
            <a:r>
              <a:rPr sz="1200" b="1" lang="zh-CN" altLang="en-US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0A0A0A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0A0A0A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613400"/>
            <a:ext cx="3124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方头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升空尾缀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3.8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pic>
        <p:nvPicPr>
          <p:cNvPr id="13" name="Picture 12" descr="p19_bl_n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358900"/>
            <a:ext cx="1524000" cy="4191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86200" y="1358900"/>
            <a:ext cx="482600" cy="241300"/>
          </a:xfrm>
          <a:prstGeom prst="rect">
            <a:avLst/>
          </a:prstGeom>
          <a:solidFill>
            <a:srgbClr val="0A0A0A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358900"/>
            <a:ext cx="4826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修前</a:t>
            </a:r>
          </a:p>
        </p:txBody>
      </p:sp>
      <p:pic>
        <p:nvPicPr>
          <p:cNvPr id="16" name="Picture 15" descr="p19_bl_fi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58900"/>
            <a:ext cx="1524000" cy="4191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0" y="1358900"/>
            <a:ext cx="1701800" cy="241300"/>
          </a:xfrm>
          <a:prstGeom prst="rect">
            <a:avLst/>
          </a:prstGeom>
          <a:solidFill>
            <a:srgbClr val="0FF796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358900"/>
            <a:ext cx="17018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0A0A0A"/>
                </a:solidFill>
                <a:latin typeface="Consolas"/>
                <a:ea typeface="微软雅黑"/>
                <a:cs typeface="微软雅黑"/>
              </a:rPr>
              <a:t>修后</a:t>
            </a:r>
            <a:r>
              <a:rPr sz="1200" b="1" lang="zh-CN" altLang="en-US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0A0A0A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0A0A0A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5613400"/>
            <a:ext cx="3124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先糊后清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金芒菊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0.29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880100"/>
            <a:ext cx="64008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低档、同机位、同时播放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447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5700" y="1358900"/>
            <a:ext cx="4076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700" y="1676400"/>
            <a:ext cx="4076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长条格被压扁后取了较低的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Mip；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高配看不出，低配才出现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463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5700" y="2374900"/>
            <a:ext cx="4076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先糊后清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5700" y="2692400"/>
            <a:ext cx="4076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贴图第一次出现时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还没流送到位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479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5700" y="3390900"/>
            <a:ext cx="40767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规则按平台分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5700" y="3708400"/>
            <a:ext cx="40767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主序列不用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Mip；手游按内存反馈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保留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与流送，最大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1024，待实测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800600"/>
            <a:ext cx="4267200" cy="1270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4800600"/>
            <a:ext cx="38100" cy="1270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9200" y="49403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9200" y="5219700"/>
            <a:ext cx="3810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固定机位、画质档位和播放时刻，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一次只改一个变量，再下结论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经验与方法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黑点与末格黑块：修好一次，写进导出和导入规则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663700"/>
            <a:ext cx="2730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修一次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16000" y="2222500"/>
            <a:ext cx="0" cy="381000"/>
          </a:xfrm>
          <a:prstGeom prst="line">
            <a:avLst/>
          </a:prstGeom>
          <a:ln w="19050">
            <a:solidFill>
              <a:srgbClr val="0FF796">
                <a:alpha val="80000"/>
              </a:srgbClr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889000" y="2692400"/>
            <a:ext cx="2730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0"/>
              </a:lnSpc>
            </a:pPr>
            <a:r>
              <a:rPr sz="2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写成规则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6000" y="3251200"/>
            <a:ext cx="0" cy="381000"/>
          </a:xfrm>
          <a:prstGeom prst="line">
            <a:avLst/>
          </a:prstGeom>
          <a:ln w="19050">
            <a:solidFill>
              <a:srgbClr val="0FF796">
                <a:alpha val="80000"/>
              </a:srgbClr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889000" y="37211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新资源默认</a:t>
            </a:r>
          </a:p>
          <a:p>
            <a:pPr algn="l">
              <a:lnSpc>
                <a:spcPts val="3000"/>
              </a:lnSpc>
            </a:pPr>
            <a:r>
              <a:rPr sz="2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按新写法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207000"/>
            <a:ext cx="2667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导出时按新写法出；</a:t>
            </a:r>
          </a:p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导入时按包写入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3700" y="1358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黑点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3700" y="1625600"/>
            <a:ext cx="7378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颜色变黑了，透明度还是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1，挡住了后面的画面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3700" y="1993900"/>
            <a:ext cx="3302000" cy="952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4200" y="2095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修前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200" y="2362200"/>
            <a:ext cx="292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淡出写在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RGB，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Alpha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始终为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7300" y="2470150"/>
            <a:ext cx="571500" cy="0"/>
          </a:xfrm>
          <a:prstGeom prst="line">
            <a:avLst/>
          </a:prstGeom>
          <a:ln w="19050">
            <a:solidFill>
              <a:srgbClr val="0FF796">
                <a:alpha val="90000"/>
              </a:srgbClr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8280400" y="1993900"/>
            <a:ext cx="3302000" cy="952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0400" y="1993900"/>
            <a:ext cx="38100" cy="952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0900" y="2095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0900" y="2362200"/>
            <a:ext cx="292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颜色保持不变，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淡出写进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Alpha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700" y="3009900"/>
            <a:ext cx="73787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两版真实导出参数对比；新写法尚无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成对截图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3700" y="3365500"/>
            <a:ext cx="73787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3700" y="35306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末格黑块</a:t>
            </a:r>
          </a:p>
        </p:txBody>
      </p:sp>
      <p:pic>
        <p:nvPicPr>
          <p:cNvPr id="27" name="Picture 26" descr="p20_ra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3848100"/>
            <a:ext cx="2095500" cy="20955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279900" y="56134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ource_tag"/>
          <p:cNvSpPr txBox="1"/>
          <p:nvPr/>
        </p:nvSpPr>
        <p:spPr>
          <a:xfrm>
            <a:off x="4279900" y="56134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示意图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3848100"/>
            <a:ext cx="50292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  <a:spcAft>
                <a:spcPts val="600"/>
              </a:spcAft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最亮的地方采样碰到了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最后一格的黑色。</a:t>
            </a:r>
          </a:p>
          <a:p>
            <a:pPr algn="l">
              <a:lnSpc>
                <a:spcPts val="2080"/>
              </a:lnSpc>
              <a:spcAft>
                <a:spcPts val="600"/>
              </a:spcAft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末格涂黑本来是为了去掉光晕灰线，保留；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另把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设为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0.98，让最亮处碰不到末格。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经验与方法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参数和界面也立规则：宪章加令牌，向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DF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特效工作台风格收口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21_b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10972800" cy="317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847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烟花烘焙器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4.9.124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978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4889500"/>
            <a:ext cx="3310467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参数宪章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5245100"/>
            <a:ext cx="3246967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每个参数先说清是物理量、引擎字段还是预览设置；调了不生效的要变灰并写原因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1867" y="4978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9667" y="4889500"/>
            <a:ext cx="3310467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交互宪章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设计令牌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9667" y="5245100"/>
            <a:ext cx="3246967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入口、状态、反馈统一写法；令牌是颜色、字号等统一取值，从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DF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特效工作台反推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4133" y="4978400"/>
            <a:ext cx="76200" cy="76200"/>
          </a:xfrm>
          <a:prstGeom prst="rect">
            <a:avLst/>
          </a:prstGeom>
          <a:solidFill>
            <a:srgbClr val="F5F5F5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1933" y="4889500"/>
            <a:ext cx="3310467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1933" y="5245100"/>
            <a:ext cx="3246967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三个工具按同一套配色收口；组件和形状还在逐步统一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分享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遇到批量需求，我会分三步和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一起做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13589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3589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93900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想清楚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9600" y="13843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需求说清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目标、引擎限制、怎样算做完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9600" y="17907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摸清技术栈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让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讲清要用哪些技术，选最简单的路线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9600" y="21971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原理先行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先拆清结构，再调参数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9600" y="2755900"/>
            <a:ext cx="513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9600" y="29464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9464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81400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定规矩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9600" y="29718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拆分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几条线会互相覆盖，按效果、工具、编排分给不同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对话负责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9600" y="33782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写成宪章与规范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标准、参数、交互、编排、贴图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9600" y="37846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每次执行先读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读规范和上次交接，中断也能接上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9600" y="4343400"/>
            <a:ext cx="5130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600" y="45339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5339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168900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守结果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9600" y="45593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机器先检查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标准检查、回放检查、合入门禁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9600" y="49657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状态分开记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执行结束、AI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自检通过、我验收通过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9600" y="5372100"/>
            <a:ext cx="5130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锁版本复用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通过的版本锁定，在同一套规则上派生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4600" y="1587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你们也可以这样用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4600" y="2311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222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重复的设置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514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让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写成工具，按规范批量做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4600" y="3136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048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难做的效果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340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先拆结构，再模拟、烘焙成序列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94600" y="3962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873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大规模编排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165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用表来驱动，改表比改轨道快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4600" y="4826000"/>
            <a:ext cx="381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从一件重复的小事开始：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先写清输入、标准和检查方法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94600" y="5715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分享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三个工具和案例，会按同一套流程继续复用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怎么用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638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790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1790700"/>
            <a:ext cx="3556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模拟、取景、打包、引擎回放，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一次导出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500" y="1790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从案例开始改参数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双击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HTML，Chrome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或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654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806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0" y="2806700"/>
            <a:ext cx="3556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检查素材包，按规范设置，</a:t>
            </a:r>
            <a:br/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确认后写入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2500" y="2806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入口在烘焙器「资源交付」页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需要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插件和本机交付服务；先在测试工程试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670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822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3822700"/>
            <a:ext cx="3556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音乐、点位、模板生成导演表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2500" y="3822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离线页面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打开节目文件即可编辑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686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8260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工具包我会放在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xx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2197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现在先放烘焙器和案例；导入器、编排工作台补齐后一起放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562600"/>
            <a:ext cx="698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案例只是载体，想分享的是一种工作方式：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从具体问题出发，让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参与实现，把可检查、可复用的结果留下来。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0" y="4826000"/>
            <a:ext cx="33274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6600"/>
              </a:lnSpc>
            </a:pPr>
            <a:r>
              <a:rPr sz="6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25200" y="58166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烟花秀 AI 全流程</dc:title>
  <dc:subject>VFX 组内分享 · 2026-10-30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