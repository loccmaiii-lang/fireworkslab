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25 秒）</a:t>
            </a:r>
          </a:p>
          <a:p/>
          <a:p>
            <a:r>
              <a:t>大家好，我是____。今天分享这一个多月制作跨年烟花秀的过程。效果制作、引擎接入和节目编排三个环节，我都借助 AI 开发了工具。下面按问题、解决思路、实践成果、经验与方法、分享五部分展开。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规模：花型由 3 种增至 26 种，时长约为去年 3 倍（约 25 秒）</a:t>
            </a:r>
          </a:p>
          <a:p/>
          <a:p>
            <a:r>
              <a:t>先看规模。去年只有 3 种烟花；今年开花花型有 26 种，升空尾缀分 6 档，另有一套窜天猴。节目约 220 秒，约为去年的 3 倍，PC 与手游还各需一套。规模扩大后，出图、引擎接入和编排三个环节都难以按原有方式完成。</a:t>
            </a:r>
          </a:p>
          <a:p/>
          <a:p>
            <a:r>
              <a:t>依据：去年 3 种、时长约 3 倍 = 讲者口述（01:42；本机 T26 未能核实，旧定序器子序列播放范围 0–70.2 秒仅作参考）；26 种 / 6 档 / 1 套 ✓（verify_A1_A2 §1）；219.5 秒 ✓（B11 修订 3）；219.5 ÷ 70.2 ≈ 3.1。用户说「几十种」，页面用核过的 26，不往大说。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出图：每种烟花的规格需单独处理（约 40 秒）</a:t>
            </a:r>
          </a:p>
          <a:p/>
          <a:p>
            <a:r>
              <a:t>第一个问题是出图。烟花在引擎中以面片播放序列帧，每种烟花都要单独确定取景、帧数、格子、打包、Ramp 与 Cutout，并分别输出 PC 和手游版本。手工处理需要裁切、排格、合通道，再计算尺寸与曲线，效果一调整就要重做。此前也尝试过用 AI 脚本驱动 Blender 出图，可以出图，但每轮都要等待渲染，无法实时预览。</a:t>
            </a:r>
          </a:p>
          <a:p/>
          <a:p>
            <a:r>
              <a:t>依据：spec/cascade_params_v1.md §7、§10；CLAUDE.md §2（灰度、RGBA 接力、Ramp、两平台）；Blender 每轮等待 ✓（verify_A1_A2 §3：项目记录一轮 2–28 分钟，页面不写数字、不比倍数）。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引擎接入：贴图与实例需逐项设置（约 25 秒）</a:t>
            </a:r>
          </a:p>
          <a:p/>
          <a:p>
            <a:r>
              <a:t>第二个问题是引擎接入。每张贴图都要按用途和平台设置流送、贴图组和 Mip，材质实例与发射器还要设置参数、包围盒和朝向。这批资源共引用 212 张贴图，每次版本更新都要重新创建和设置，人工操作很难避免漏项。</a:t>
            </a:r>
          </a:p>
          <a:p/>
          <a:p>
            <a:r>
              <a:t>依据：212 / 115 ✓（verify_A1_A2 §1）；设置项 CLAUDE.md §2「烟花贴图规范」。按用户 12 条第 2 条，不逐项念勾了什么。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编排：定序器手工排轨难以支撑今年规模（约 30 秒）</a:t>
            </a:r>
          </a:p>
          <a:p/>
          <a:p>
            <a:r>
              <a:t>第三个问题是编排。去年在定序器中手工拼接，共 12 条子序列、两千余条轨道，调整节奏需要逐条对齐，性能组也反馈内存占用偏高。今年节目约 220 秒、24 个发射点位，PC 与手游各分 3 档画质。新的导演蓝图已与程序共同设计，但手工匹配音乐节奏仍然困难。</a:t>
            </a:r>
          </a:p>
          <a:p/>
          <a:p>
            <a:r>
              <a:t>依据：12 条子序列 / 2726 条轨道 ✓（A3，本机已核）；内存偏高 = 口述（性能组，没有数字，不写百分比）；导演蓝图与程序共同设计 = 口述（采访记录）；24 点位 ✓。页面写「两千多条」，不用 2726 做大字。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解决思路：三个环节，三个工具（约 30 秒）</a:t>
            </a:r>
          </a:p>
          <a:p/>
          <a:p>
            <a:r>
              <a:t>解决思路是三个环节各开发一个工具：烘焙器负责出图，导入器负责引擎接入，编排工作台负责编排，工具之间以固定格式衔接。分工上，目标、审美与引擎约束由我确定，工具由 AI 开发，关键结果在 UE 中验收。导演蓝图与程序共同设计，贴图规范与性能组共同确定。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烟花烘焙器：可视化、快速出图、按项目定制（约 40 秒）</a:t>
            </a:r>
          </a:p>
          <a:p/>
          <a:p>
            <a:r>
              <a:t>出图环节使用烟花烘焙器。原有的 Blender 脚本方式可以出图，但每轮需要等待渲染，预览与最终输出也不一致。烘焙器只输出游戏视角所需的 2D 序列，不构建完整的三维场景。它有三个特点：可视化，实时调参，导出后可在引擎回放中复核；快速输出，即改即看，直接输出引擎格式；项目定制，按本项目的舞台、视距与 Cascade 规范设计。</a:t>
            </a:r>
          </a:p>
          <a:p/>
          <a:p>
            <a:r>
              <a:t>依据：verify_A1_A2 §3（Blender 一轮需等待、视口不等于最终输出，均为项目记录；不写跨软件提速倍数）；用户 01:42 第 4 条（可视化、快、定制）；协作/标准.md 观看距离 800–1200 米。「2D」指输出视角，模拟里仍保留粒子深度用于景深模糊（与本机第二版第 4 页口径一致）。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取景规范：提高贴图像素利用率（约 35 秒）</a:t>
            </a:r>
          </a:p>
          <a:p/>
          <a:p>
            <a:r>
              <a:t>导出规范是烘焙器投入最多的部分，首先是取景。烟花在面片中占比越小，分辨率浪费越多。固定框为默认方式；随开花放大以爆点为中心，单侧花型开满后反而留白更多；锚在爆点只向内容方向放大。在扇形测试中，内容占比由约两成提高到约四成。烘焙后再按每帧内容收紧，帧数按运动快慢分配。这些步骤原本靠手工完成，现在每次导出自动执行。</a:t>
            </a:r>
          </a:p>
          <a:p/>
          <a:p>
            <a:r>
              <a:t>依据：三种取景、锚点取景 ✓（tool/CHANGELOG.md 4.9.81：扇形 FC6O 内容占比中位数 固定 0.20 / 随开花放大 0.21 / 锚点 0.41，为取景计划估算）◎ 本机确认该扇形是否进了正式库，没进就保持台词里的「拿一个扇形测试」；烘完收紧、暗帧不收、最多 12 级、曲线点 96 → 24 ✓（4.9.33，用户 10-07 提出点位太多）；紧凑取景停用 ✓（spec §10A，09-29 引擎实测会抖）；帧数分配 ✓（spec §10C 柳类开头密后段疏；4.9.89「按运动分」）。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打包规范：单张贴图 64 帧，双平台同时导出（约 30 秒）</a:t>
            </a:r>
          </a:p>
          <a:p/>
          <a:p>
            <a:r>
              <a:t>其次是打包。一张贴图分为 4×4 格，按 RGBA 四个通道依次填充，可容纳 64 帧。贴图只存灰度，颜色由 Ramp 查色，换色无需重新烘焙。格子随形状选择，Cutout 收益不足一成时不输出。PC 与手游同时导出，交付前在引擎回放中复核。</a:t>
            </a:r>
          </a:p>
          <a:p/>
          <a:p>
            <a:r>
              <a:t>依据：CLAUDE.md §2（灰度、RGBA 接力、BC7、默认 2048 可按效果调整、手游 ≤ 1024）；spec §7「素材包整理」（8 顶点、估省 &lt; 10% 不出、包内去重，4.9.38）；spec §10C（柳类竖长格，例 8 × 16）；CHANGELOG A16（尾缀 16 × 1）。页面不写「必须 2048」（用户 10-02：按效果可调）。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导入器：规范内置于工具，确认后写入 UE（约 25 秒）</a:t>
            </a:r>
          </a:p>
          <a:p/>
          <a:p>
            <a:r>
              <a:t>第二个工具是导入器，设计参考了原有特效工作台的配表入口。导入器先检查素材包的命名、尺寸与规范项，再列出待创建的资源与设置，确认后写入 UE 并读回核对。与性能组确定的贴图规范由工具执行，无需人工记忆。</a:t>
            </a:r>
          </a:p>
          <a:p/>
          <a:p>
            <a:r>
              <a:t>依据：采访记录（灵感来源）；CLAUDE.md §2（导入器写 false、DistantVFX、PC/手游分平台，v2.31）；spec/workspace_resource_v1.md（检查不写 UE，点导入才写）。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编排规则：由舞台尺度推导分档与构图（约 40 秒）</a:t>
            </a:r>
          </a:p>
          <a:p/>
          <a:p>
            <a:r>
              <a:t>编排先推导规则。舞台为宽约 800 米、高约 150 米的坝体，按约 100 米点距布置主发射点，加上中间点和前台点共 24 个。花径约为点距 1.5 倍时可以分辨，2 倍以上形成花墙。据此将花型分为 S、M、L 和主角四档，确定开花高度并配置对应尾缀。这些规则写入编排宪章，每版编排都按宪章自动检查；设计值与实机不同时，以实机校正。</a:t>
            </a:r>
          </a:p>
          <a:p/>
          <a:p>
            <a:r>
              <a:t>依据：对话框22；协作/跨年秀编排宪章.md；本机第二版第 6、7 页已核口径（800 × 150、100 米、24 点、1.5 / 2–2.3 倍、90 / 150 / 230 / 280 米）。0.55 重叠阈值只适用于具体检测模型，台词不说（本机审查意见）。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烟花编排工作台：时间轴编排，输出导演表（约 20 秒）</a:t>
            </a:r>
          </a:p>
          <a:p/>
          <a:p>
            <a:r>
              <a:t>规则确定后，由编排工作台执行。音乐、点位和烟花模板在同一条时间轴上，可按音乐调整节奏与模板。每次修改后按宪章自动检查，并一键输出导演蓝图所需的三张表；UE 只按表播放。</a:t>
            </a:r>
          </a:p>
          <a:p/>
          <a:p>
            <a:r>
              <a:t>依据：tool/workbench/src/Timeline.jsx（波形）✓；A3 三张表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流程演示：从调参到 UE 播放（建议 150 秒，含录屏）</a:t>
            </a:r>
          </a:p>
          <a:p/>
          <a:p>
            <a:r>
              <a:t>下面用一段录屏演示完整流程：调参、回放复核、双平台导出、导入，最后在 UE 中播放。（播放录屏，约 2 分钟）录屏经过剪辑，实际用时 ×× 分钟。</a:t>
            </a:r>
          </a:p>
          <a:p/>
          <a:p>
            <a:r>
              <a:t>依据：用户 10-30 02:08「录屏我会出」；步骤同第一版第 11 页；实际用时由用户录完填写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资源成果：26 种开花、6 档尾缀、1 套窜天猴（约 40 秒）</a:t>
            </a:r>
          </a:p>
          <a:p/>
          <a:p>
            <a:r>
              <a:t>接下来是实践成果，与三个问题一一对应。出图方面，26 种开花花型、30 个规格进入资源表，按形态包括球形开花 9 种、冠 3 种、柳 1 种、扇形 1 种、彗星 5 种、特殊星效 6 种；另有 6 档升空尾缀和一套窜天猴。手游覆盖其中 12 种开花和全部尾缀。26 种开花中有 20 种有烘焙器导出材料，可调参后重新导出。</a:t>
            </a:r>
          </a:p>
          <a:p/>
          <a:p>
            <a:r>
              <a:t>依据：26 / 30 / 6 / 1 套、手游 12 + 6 + 6 行、212 / 115 ✓（verify_A1_A2 §1）；20 种保留导出材料 ✓（verify §6，19 种带回执或修订、1 种旧包，不推作者归属）；按尺寸行数 ◎（A1 草稿为小号 6 / 小型 13〔含金锦冠 4 段〕/ 中型 7 / 大型 7，合计 33 开花行，和 46 − 6 − 7 = 33 对得上；但 A3 记的资源编号段大型只有 2826–2829 四个，本机按 UE 表核对后再填）；扇形 △（候选按名称有金锦冠〔4 段〕、银星扇等，本机按 UE 表和实际形态归类，归不清就删这一行）。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接入成果：两轮批量修正，读回一致（约 20 秒）</a:t>
            </a:r>
          </a:p>
          <a:p/>
          <a:p>
            <a:r>
              <a:t>引擎接入方面，共进行两轮批量修正：贴图规范确定后，149 张贴图批量重设，读回一致；更早一轮修正了 115 个包，读回无错误。这些规则已内置于导入器，新资源导入时自动执行。</a:t>
            </a:r>
          </a:p>
          <a:p/>
          <a:p>
            <a:r>
              <a:t>依据：analysis/results/TEX_SPEC_20261018/verify.json、资源规范统一_20261016/改后读回.json ✓（本机已核）。◎ 这次整批修正是用导入器还是配套脚本完成的，本机按记录选词；台词用「我们做过一次整批修正」不点工具名，两种情况都成立。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编排成果：同一编排按平台与画质分档输出（约 25 秒）</a:t>
            </a:r>
          </a:p>
          <a:p/>
          <a:p>
            <a:r>
              <a:t>编排方面，共迭代 11 个大版本，每版都有自动检查记录。同一编排按平台与画质分档输出，PC 每场约 1100 到 440 次播放，手游约 450 到 180 次，无需逐档编排。目前节拍对齐指标尚未达到宪章目标，仍在优化。</a:t>
            </a:r>
          </a:p>
          <a:p/>
          <a:p>
            <a:r>
              <a:t>依据：B11 修订 3 编排检查 ✓（导演表播放次数 PC 1145 / 852 / 438，手游 448 / 349 / 181，「次播放」沿用本机第二版用词，不改称「发」；对拍 78.3%、强拍 46.6%，宪章目标 85% / 80%）。页面用约数，不放 1570 次展开事件、37 次发布、38 份存档。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个人投入：一人对接 AI，贯穿全流程（约 20 秒）</a:t>
            </a:r>
          </a:p>
          <a:p/>
          <a:p>
            <a:r>
              <a:t>这一个多月由我一人对接 AI，主要负责方向制定、质量判断，以及规则与交接的维护。图中是每日提交量，累计约 2200 次，烘焙器迭代近 200 个版本。</a:t>
            </a:r>
          </a:p>
          <a:p/>
          <a:p>
            <a:r>
              <a:t>依据：verify_A1_A2 §1、§4 ✓（约 2200、352 次 gpu 前缀、约 200 个版本记录；不写「人工 1783 次」）。程序和性能组的归属已在第 6 页说过，这里不重复。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升空尾缀：近段与远段对应不同年龄的火星（约 30 秒）</a:t>
            </a:r>
          </a:p>
          <a:p/>
          <a:p>
            <a:r>
              <a:t>接下来是经验，先看升空尾缀。近段与远段并非按相机距离切换，而是对应火星的不同年龄：近段为循环面片，随弹体移动；远段为一次性序列，表现下落的老火星。帧数按观看距离换算屏幕位移后，再按 30 帧节拍分配，远景流畅、近景略软，是有意的取舍。</a:t>
            </a:r>
          </a:p>
          <a:p/>
          <a:p>
            <a:r>
              <a:t>依据：本机第二版第 14、21 页与 verify_A4 ✓（非相机 LOD；PC S / M / L / Hero 启用 2 个发射器，不说「1 层」）。0.77 像素只放附录第 21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仙女棒：13 类火星合成一张序列（约 35 秒）</a:t>
            </a:r>
          </a:p>
          <a:p/>
          <a:p>
            <a:r>
              <a:t>第二个案例是仙女棒。火星有一级、二级分叉，也有清晰与模糊的层次。项目中现有的窜天猴拖尾用了 10 个发射器拼合。本次 13 类火星的结构来自我之前的 Blender 工程，AI 将其移植为通用的母子分叉，并在烘焙时合成，每个平台只需一张 64 帧主序列和一个发射器。UE 中的观感仍待验收。</a:t>
            </a:r>
          </a:p>
          <a:p/>
          <a:p>
            <a:r>
              <a:t>依据：verify_A4、本机第二版第 13、22 页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 · 模糊与方头：控制变量，分别定位（约 30 秒）</a:t>
            </a:r>
          </a:p>
          <a:p/>
          <a:p>
            <a:r>
              <a:t>第三个案例是排查。模糊和方头最初难以区分。固定机位、画质档位和播放时刻，每次只改变一个变量后，才确认方头是长条格采样到低 Mip，仅在低配出现；先糊后清是贴图首次出现时尚未流送到位。最终规则按平台区分：PC 主序列不使用 Mip，手游保留 Mip、最大 1024。</a:t>
            </a:r>
          </a:p>
          <a:p/>
          <a:p>
            <a:r>
              <a:t>依据：LOWQ_FIX_20261018 ✓；CLAUDE.md §2 ✓；方头只在低配出现 ✓（第二版附录第 24 页、A4）。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 · 黑点与末格黑块：定位原因，写入规则（约 35 秒）</a:t>
            </a:r>
          </a:p>
          <a:p/>
          <a:p>
            <a:r>
              <a:t>最后是黑点和末格黑块。黑点是因为淡出写在颜色中、透明度恒为 1，颜色变黑后仍遮挡画面；现在改为淡出写入 Alpha。末格黑块是最亮处采到 Ramp 末格的黑色；末格用于去除光晕灰线，予以保留，另将 EmissiveDissolve 设为 0.98。两项规则均已写入导出与导入流程。</a:t>
            </a:r>
          </a:p>
          <a:p/>
          <a:p>
            <a:r>
              <a:t>依据：verify_A4 ✓；对话框23；tool/src/js/62_resource_rules.js。不宣称黑点新写法已过 UE 实机验收。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22 页 · 参数与界面规范：宪章与设计令牌（约 25 秒）</a:t>
            </a:r>
          </a:p>
          <a:p/>
          <a:p>
            <a:r>
              <a:t>参数增多后，界面也需要规范。参数宪章要求明确每个参数的类型，不生效的参数置灰并说明原因；交互宪章统一入口、状态与反馈；设计令牌的颜色等取值源自现有 DF 特效工作台。目前配色已统一，组件与形状仍在逐步统一。</a:t>
            </a:r>
          </a:p>
          <a:p/>
          <a:p>
            <a:r>
              <a:t>依据：协作/参数宪章.md、协作/交互宪章.md、tool/design-system/tokens.json ✓；只说配色共用，不说三工具组件已统一 ✓（A5、本机审查）。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23 页 · 工作方法：批量需求的三阶段协作（约 45 秒）</a:t>
            </a:r>
          </a:p>
          <a:p/>
          <a:p>
            <a:r>
              <a:t>最后是这一个多月的主要心得：批量需求可以分三个阶段与 AI 协作。第一，明确需求：定义目标、约束和验收标准，由 AI 梳理所需技术并选择最简方案，效果类工作先拆结构再调参数。第二，建立规范：按效果、工具和编排分配 AI 负责人，规则写成宪章，每次执行前先读规范与交接。第三，结果把关：先自动检查，再在 UE 验收，执行、自检和验收分开记录，通过的版本锁定后复用。建议从一项重复性工作开始。</a:t>
            </a:r>
          </a:p>
          <a:p/>
          <a:p>
            <a:r>
              <a:t>依据：用户 01:42 第 2 条（沟通需求 → 技术栈 → 拆分 → 宪章规范 → 每次执行先读）与原五步（规则成文、原理先行、机器把关、状态分开、锁版本复用）合并；CLAUDE.md §0（开工先读）、§3（原理先行、交付前检查）、§4（合入门禁）、§5（负责人、认领、底层同时只由一方改）、§6（交接、状态清单）。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24 页 · 工具获取（约 30 秒）</a:t>
            </a:r>
          </a:p>
          <a:p/>
          <a:p>
            <a:r>
              <a:t>工具包存放位置为 xx。首批提供烘焙器和案例，导入器与编排工作台后续补充。导入器需要 UE 插件与本机服务，首次请在测试工程中使用。案例只是载体，重点是一种工作方式：从具体问题出发，由 AI 参与实现，沉淀可复用的成果。谢谢大家。</a:t>
            </a:r>
          </a:p>
          <a:p/>
          <a:p>
            <a:r>
              <a:t>依据：本机第二版第 19 页与派活 T24（导入器、编排工作台尚待补进工具包）。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22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512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5466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6736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673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965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4965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2578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25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549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5549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经验与方法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842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800" y="5842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规模：花型由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种增至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种，时长约为去年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194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种烟花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365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36195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100" y="36322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1100" y="38862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196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1100" y="44323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100" y="46863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另有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219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1100" y="5232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1100" y="5486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各自分画质档位</a:t>
            </a:r>
          </a:p>
        </p:txBody>
      </p:sp>
      <p:pic>
        <p:nvPicPr>
          <p:cNvPr id="18" name="Picture 17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4711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391400" y="57404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7391400" y="57404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出图：每种烟花的规格需单独处理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3_f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064000" cy="406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064000" cy="4064000"/>
          </a:xfrm>
          <a:prstGeom prst="rect">
            <a:avLst/>
          </a:prstGeom>
          <a:noFill/>
          <a:ln w="12700">
            <a:solidFill>
              <a:srgbClr val="F5F5F5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23350" y="2737164"/>
            <a:ext cx="2788216" cy="1605230"/>
          </a:xfrm>
          <a:prstGeom prst="rect">
            <a:avLst/>
          </a:prstGeom>
          <a:noFill/>
          <a:ln w="12700">
            <a:solidFill>
              <a:srgbClr val="0FF796">
                <a:alpha val="9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88474" y="4424190"/>
            <a:ext cx="114300" cy="1143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9924" y="445594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爆点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3350" y="2483164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实际内容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14605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5372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空白区域同样占用分辨率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8400" y="1358900"/>
            <a:ext cx="660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出图前需确定的规格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784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08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18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18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面片尺寸、爆点位置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39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63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773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73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各阶段帧数分配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84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08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18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18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按形态排布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39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3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773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73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多帧合入一张贴图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784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08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18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颜色与裁剪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18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Ramp、Cutout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39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63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73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73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与手游分别输出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8400" y="4533900"/>
            <a:ext cx="66040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784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2400" y="46863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原有方式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2400" y="5003800"/>
            <a:ext cx="6096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Aft>
                <a:spcPts val="6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手工：裁切、排格、合通道，再计算尺寸与曲线；效果调整即重做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脚本：AI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驱动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出图；需等待渲染，无法实时预览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引擎接入：贴图与实例需逐项设置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4_te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711700" cy="292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949700"/>
            <a:ext cx="8737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949700"/>
            <a:ext cx="8737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</a:p>
        </p:txBody>
      </p:sp>
      <p:pic>
        <p:nvPicPr>
          <p:cNvPr id="9" name="Picture 8" descr="p04_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9900" y="1358900"/>
            <a:ext cx="6032500" cy="2921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626100" y="3949700"/>
            <a:ext cx="8737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ource_tag"/>
          <p:cNvSpPr txBox="1"/>
          <p:nvPr/>
        </p:nvSpPr>
        <p:spPr>
          <a:xfrm>
            <a:off x="5626100" y="3949700"/>
            <a:ext cx="8737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7400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7400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流送、贴图组、Mip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按用途与平台设置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1867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1867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667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材质实例与发射器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9667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参数、包围盒、朝向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4133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4133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1933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版本更新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933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重新创建与设置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漏项难以及时发现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8674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共引用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编排：定序器手工排轨难以支撑今年规模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定序器手工拼接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条子序列、两千余条轨道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调整节奏需逐条对齐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内存占用偏高（性能组反馈）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302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34798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846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3053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8260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55245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新导演蓝图已与程序共同设计，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手工匹配音乐节奏仍然困难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解决思路：三个环节，三个工具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按规范写入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按音乐编排，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按三张表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080000"/>
            <a:ext cx="5842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目标、审美与引擎约束由我确定；</a:t>
            </a:r>
          </a:p>
          <a:p>
            <a:pPr algn="l">
              <a:lnSpc>
                <a:spcPts val="2240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工具由</a:t>
            </a:r>
            <a:r>
              <a:rPr sz="14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4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开发；关键结果在</a:t>
            </a:r>
            <a:r>
              <a:rPr sz="14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4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跨组协作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080000"/>
            <a:ext cx="3810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烟花烘焙器：可视化、快速出图、按项目定制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原有方式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脚本驱动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495550"/>
            <a:ext cx="88900" cy="88900"/>
          </a:xfrm>
          <a:prstGeom prst="rect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413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可以出图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28892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28067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每轮等待离线渲染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2829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100" y="32004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预览与输出不一致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6766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4100" y="3594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规格导出后才能确认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600" y="4318000"/>
            <a:ext cx="3759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600" y="4495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烘焙器的取舍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4775200"/>
            <a:ext cx="37592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只输出游戏视角所需的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2D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序列，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不构建完整三维场景</a:t>
            </a:r>
          </a:p>
        </p:txBody>
      </p:sp>
      <p:pic>
        <p:nvPicPr>
          <p:cNvPr id="20" name="Picture 19" descr="p07_rep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28321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257800" y="3860800"/>
            <a:ext cx="15976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ource_tag"/>
          <p:cNvSpPr txBox="1"/>
          <p:nvPr/>
        </p:nvSpPr>
        <p:spPr>
          <a:xfrm>
            <a:off x="5257800" y="3860800"/>
            <a:ext cx="15976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4831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1600" y="47625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1600" y="51181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实时调参，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导出后回放复核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4831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91400" y="47625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快速输出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91400" y="51181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即改即看，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直接输出引擎格式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4831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47625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项目定制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1181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按本项目舞台、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视距与规范设计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取景规范：提高贴图像素利用率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052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66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取整段最大范围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1" name="Picture 10" descr="p08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58900"/>
            <a:ext cx="3505200" cy="2667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以爆点为中心放大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86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6" name="Picture 15" descr="p08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1358900"/>
            <a:ext cx="3505200" cy="2667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042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72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72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只向内容方向放大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24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7625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示意图；数字为扇形测试中内容占面片的比例（中位数）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0800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257800"/>
            <a:ext cx="34882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烘焙后收紧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575300"/>
            <a:ext cx="3488267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按每帧实际内容二次收紧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1867" y="5257800"/>
            <a:ext cx="34882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曲线精简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1867" y="5575300"/>
            <a:ext cx="3488267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面片尺寸最多分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4133" y="5257800"/>
            <a:ext cx="34882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4133" y="5575300"/>
            <a:ext cx="3488267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运动快的阶段分配更多帧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打包规范：单张贴图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帧，双平台同时导出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8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68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张贴图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75000"/>
            <a:ext cx="2667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四通道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3810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39878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灰度存储，Ramp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换色无需重新烘焙</a:t>
            </a:r>
          </a:p>
        </p:txBody>
      </p:sp>
      <p:pic>
        <p:nvPicPr>
          <p:cNvPr id="13" name="Picture 12" descr="p09_fan_atl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247900"/>
          </a:xfrm>
          <a:prstGeom prst="rect">
            <a:avLst/>
          </a:prstGeom>
        </p:spPr>
      </p:pic>
      <p:pic>
        <p:nvPicPr>
          <p:cNvPr id="14" name="Picture 13" descr="p09_trail_atl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247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655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3700" y="4279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4200" y="41910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格子随形状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4200" y="4495800"/>
            <a:ext cx="33718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方格、竖长格、16×1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0050" y="4279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0550" y="41910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550" y="4495800"/>
            <a:ext cx="33718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顶点轮廓；收益不足一成不输出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370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420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4200" y="5448300"/>
            <a:ext cx="33718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手游贴图不超过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005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055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回放复核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0550" y="5448300"/>
            <a:ext cx="33718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交付前在引擎回放中检查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导入器：规范内置于工具，确认后写入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0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029200"/>
            <a:ext cx="15976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029200"/>
            <a:ext cx="15976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测试数据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461000"/>
            <a:ext cx="640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入口在特效工作台；烘焙器交付页可直接进入导入清单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71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397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配置素材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600" y="1701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检查命名、尺寸与规范项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3241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3495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核对清单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8600" y="26543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列出待创建的资源与设置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276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302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8600" y="3606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写入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UE，并读回核对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572000"/>
            <a:ext cx="4267200" cy="1498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572000"/>
            <a:ext cx="38100" cy="1498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9200" y="47371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确认后才写入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9200" y="50927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检查阶段不修改工程；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与性能组确定的规范由工具执行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编排规则：由舞台尺度推导分档与构图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2984500"/>
            <a:ext cx="6400800" cy="698500"/>
          </a:xfrm>
          <a:prstGeom prst="rect">
            <a:avLst/>
          </a:prstGeom>
          <a:solidFill>
            <a:srgbClr val="F5F5F5">
              <a:alpha val="6000"/>
            </a:srgbClr>
          </a:solidFill>
          <a:ln w="6350">
            <a:solidFill>
              <a:srgbClr val="F5F5F5">
                <a:alpha val="2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200" y="30734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坝体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宽约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m、高约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9" name="Oval 8"/>
          <p:cNvSpPr/>
          <p:nvPr/>
        </p:nvSpPr>
        <p:spPr>
          <a:xfrm>
            <a:off x="7937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92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938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193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939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194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940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95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941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196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942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97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943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98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4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199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945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33320" y="3454400"/>
            <a:ext cx="3261360" cy="22860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85720" y="33782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65780" y="33782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45840" y="33782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25900" y="33782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05960" y="33782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86020" y="33782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66080" y="33782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3600" y="4013200"/>
            <a:ext cx="101600" cy="1016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1400" y="3937000"/>
            <a:ext cx="2413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9（点距约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m）</a:t>
            </a:r>
          </a:p>
        </p:txBody>
      </p:sp>
      <p:sp>
        <p:nvSpPr>
          <p:cNvPr id="36" name="Oval 35"/>
          <p:cNvSpPr/>
          <p:nvPr/>
        </p:nvSpPr>
        <p:spPr>
          <a:xfrm>
            <a:off x="2959100" y="4013200"/>
            <a:ext cx="101600" cy="1016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36900" y="3937000"/>
            <a:ext cx="2413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中间点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</a:p>
        </p:txBody>
      </p:sp>
      <p:sp>
        <p:nvSpPr>
          <p:cNvPr id="38" name="Oval 37"/>
          <p:cNvSpPr/>
          <p:nvPr/>
        </p:nvSpPr>
        <p:spPr>
          <a:xfrm>
            <a:off x="4229100" y="4013200"/>
            <a:ext cx="101600" cy="1016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06900" y="3937000"/>
            <a:ext cx="2413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前台点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89600" y="3937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共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个点位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0" y="135890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0000" y="1625600"/>
            <a:ext cx="3962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花径约为点距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倍可分辨，2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倍以上形成花墙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0" y="2286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500" y="2286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98000" y="2286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4500" y="2286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20000" y="2540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20000" y="2616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18500" y="2616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98000" y="2616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4500" y="2616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20000" y="2921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200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85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980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45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20000" y="3302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20000" y="3378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18500" y="3378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98000" y="3378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4500" y="3378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20000" y="3683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0000" y="3759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18500" y="3759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98000" y="3759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4500" y="3759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20000" y="4064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9600" y="5016500"/>
            <a:ext cx="19050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01650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565400" y="5245100"/>
            <a:ext cx="26035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2876550" y="5016500"/>
            <a:ext cx="19050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876550" y="501650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分档与高度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832350" y="5245100"/>
            <a:ext cx="26035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74" name="Rectangle 73"/>
          <p:cNvSpPr/>
          <p:nvPr/>
        </p:nvSpPr>
        <p:spPr>
          <a:xfrm>
            <a:off x="5143500" y="5016500"/>
            <a:ext cx="19050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43500" y="501650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重叠检查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099300" y="5245100"/>
            <a:ext cx="26035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77" name="Rectangle 76"/>
          <p:cNvSpPr/>
          <p:nvPr/>
        </p:nvSpPr>
        <p:spPr>
          <a:xfrm>
            <a:off x="7410450" y="5016500"/>
            <a:ext cx="1905000" cy="457200"/>
          </a:xfrm>
          <a:prstGeom prst="rect">
            <a:avLst/>
          </a:prstGeom>
          <a:solidFill>
            <a:srgbClr val="161616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10450" y="501650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366250" y="5245100"/>
            <a:ext cx="26035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80" name="Rectangle 79"/>
          <p:cNvSpPr/>
          <p:nvPr/>
        </p:nvSpPr>
        <p:spPr>
          <a:xfrm>
            <a:off x="9677400" y="5016500"/>
            <a:ext cx="19050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677400" y="501650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56515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以上为设计值，实机机位不同时以实机校正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烟花编排工作台：时间轴编排，输出导演表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2_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514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5433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5433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127500"/>
            <a:ext cx="6400800" cy="1943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4127500"/>
            <a:ext cx="38100" cy="1943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4318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4610100"/>
            <a:ext cx="584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音乐、点位、模板在同一时间轴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5016500"/>
            <a:ext cx="584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按音乐调整节奏与模板，即时预览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4127500"/>
            <a:ext cx="4267200" cy="1943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9200" y="4318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程序化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9200" y="46101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按宪章检查，一键出表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9200" y="5016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输出导演蓝图所需的三张表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流程演示：从调参到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选择案例、调参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与手游两套素材包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粒子系统、贴图、材质实例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种开花、6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档尾缀、1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</a:pPr>
            <a:r>
              <a:rPr sz="5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27178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按尺寸共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个规格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32385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3416300"/>
            <a:ext cx="2667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20</a:t>
            </a:r>
            <a:r>
              <a:rPr sz="17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7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3975100"/>
            <a:ext cx="2667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有烘焙器导出材料，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可调参后重新导出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000" y="4826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000" y="5003800"/>
            <a:ext cx="2667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手游覆盖其中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与全部尾缀</a:t>
            </a:r>
          </a:p>
        </p:txBody>
      </p:sp>
      <p:pic>
        <p:nvPicPr>
          <p:cNvPr id="16" name="Picture 15" descr="p13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1787525" cy="177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0370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整场扇面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pic>
        <p:nvPicPr>
          <p:cNvPr id="18" name="Picture 17" descr="p13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425" y="1358900"/>
            <a:ext cx="1787525" cy="177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742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彩色组合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pic>
        <p:nvPicPr>
          <p:cNvPr id="20" name="Picture 19" descr="p13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150" y="1358900"/>
            <a:ext cx="1787525" cy="177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93115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金芒爆裂菊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pic>
        <p:nvPicPr>
          <p:cNvPr id="22" name="Picture 21" descr="p13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4875" y="1358900"/>
            <a:ext cx="1787525" cy="177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79487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18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700" y="37338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3700" y="37338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球形开花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3700" y="37338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18700" y="37338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3700" y="39941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3700" y="39941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3700" y="39941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18700" y="39941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3700" y="42545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3700" y="42545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3700" y="42545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18700" y="42545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03700" y="45148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3700" y="45148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扇形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3700" y="45148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种（金锦冠）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8700" y="45148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700" y="47752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3700" y="47752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彗星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3700" y="47752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18700" y="47752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3700" y="50355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3700" y="50355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特殊星效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3700" y="50355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18700" y="50355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3700" y="52959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03700" y="52959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3700" y="52959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18700" y="52959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3700" y="55562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3700" y="55562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窜天猴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3700" y="55562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5562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700" y="58166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03700" y="5867400"/>
            <a:ext cx="73787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另有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种形态未定；共引用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接入成果：两轮批量修正，读回一致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4_ue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5941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622800"/>
            <a:ext cx="13538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622800"/>
            <a:ext cx="13538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修正后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1435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规则已内置于导入器，新资源导入时自动执行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贴图规范确定后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663700"/>
            <a:ext cx="42672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5400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张贴图批量重设，读回一致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3048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2258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530600"/>
            <a:ext cx="4267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1148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粒子系统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个、材质实例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编排成果：同一编排按平台与画质分档输出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5600" y="2095500"/>
            <a:ext cx="952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8600" y="1828800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2100" y="2534232"/>
            <a:ext cx="952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5100" y="2267532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8600" y="3154148"/>
            <a:ext cx="952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1600" y="2887448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1100" y="3139174"/>
            <a:ext cx="952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4100" y="28724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7600" y="3287414"/>
            <a:ext cx="952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0600" y="302071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4100" y="3538974"/>
            <a:ext cx="952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7100" y="32722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4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11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3810000"/>
            <a:ext cx="944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64008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72100"/>
            <a:ext cx="584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每版自动检查；调整节奏只需重新出表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533900"/>
            <a:ext cx="42672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9200" y="4699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9200" y="50165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节拍对齐指标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尚未达到宪章目标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投入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个人投入：一人对接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AI，贯穿全流程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454400" cy="1460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146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15113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1943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方向制定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00" y="2324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需求、目标、编排设计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800" y="1358900"/>
            <a:ext cx="3454400" cy="1460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2800" y="15113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2800" y="1943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质量判断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2800" y="2324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美术把关、UE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0" y="1358900"/>
            <a:ext cx="3454400" cy="1460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0" y="15113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1943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规则与交接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2324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规则成文、交接留存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175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每日提交量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3175000"/>
            <a:ext cx="525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次提交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烘焙器近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个版本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5715000"/>
            <a:ext cx="10972800" cy="6350"/>
          </a:xfrm>
          <a:prstGeom prst="rect">
            <a:avLst/>
          </a:prstGeom>
          <a:solidFill>
            <a:srgbClr val="F5F5F5">
              <a:alpha val="1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2752" y="5604933"/>
            <a:ext cx="186205" cy="1100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15261" y="5494867"/>
            <a:ext cx="186205" cy="2201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47770" y="5469467"/>
            <a:ext cx="186205" cy="245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80279" y="4876800"/>
            <a:ext cx="186205" cy="8382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12788" y="4859867"/>
            <a:ext cx="186205" cy="8551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45297" y="4394200"/>
            <a:ext cx="186205" cy="13208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77807" y="4885267"/>
            <a:ext cx="186205" cy="8297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10316" y="4927600"/>
            <a:ext cx="186205" cy="7874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42825" y="4902200"/>
            <a:ext cx="186205" cy="8128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5334" y="4732867"/>
            <a:ext cx="186205" cy="9821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07843" y="3683000"/>
            <a:ext cx="186205" cy="20320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0352" y="4250267"/>
            <a:ext cx="186205" cy="14647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72861" y="5223933"/>
            <a:ext cx="186205" cy="4910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05370" y="4690533"/>
            <a:ext cx="186205" cy="10244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37879" y="5401733"/>
            <a:ext cx="186205" cy="3132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70388" y="5317067"/>
            <a:ext cx="186205" cy="3979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02897" y="4792133"/>
            <a:ext cx="186205" cy="9228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35407" y="4741333"/>
            <a:ext cx="186205" cy="9736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67916" y="5054600"/>
            <a:ext cx="186205" cy="6604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00425" y="4834467"/>
            <a:ext cx="186205" cy="880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32934" y="5215467"/>
            <a:ext cx="186205" cy="499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5443" y="5342467"/>
            <a:ext cx="186205" cy="372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97952" y="5376333"/>
            <a:ext cx="186205" cy="3386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30461" y="5613400"/>
            <a:ext cx="186205" cy="1016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62970" y="5702300"/>
            <a:ext cx="186205" cy="127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95479" y="5325533"/>
            <a:ext cx="186205" cy="3894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27988" y="5537200"/>
            <a:ext cx="186205" cy="1778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660497" y="5638800"/>
            <a:ext cx="186205" cy="762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93007" y="5452533"/>
            <a:ext cx="186205" cy="2624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58025" y="5638800"/>
            <a:ext cx="186205" cy="762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90534" y="5613400"/>
            <a:ext cx="186205" cy="1016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323043" y="5588000"/>
            <a:ext cx="186205" cy="1270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600" y="58166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含约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350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次显卡后台自动回传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升空尾缀：近段与远段对应不同年龄的火星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7_t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93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97500"/>
            <a:ext cx="640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上：实拍　中：模拟　下：导出回放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1676400"/>
            <a:ext cx="40767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循环面片，随弹体移动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2733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05700" y="21844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501900"/>
            <a:ext cx="40767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一次性序列，表现下落的老火星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0099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并非按相机距离切换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810000"/>
            <a:ext cx="4267200" cy="2260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810000"/>
            <a:ext cx="38100" cy="2260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9200" y="3987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9200" y="4292600"/>
            <a:ext cx="381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按观看距离换算每帧屏幕位移，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再按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帧节拍分配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5397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远景流畅，近景略软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类火星合成一张序列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857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00"/>
              </a:lnSpc>
            </a:pPr>
            <a:r>
              <a:rPr sz="6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67000"/>
            <a:ext cx="27305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5306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7084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3987800"/>
            <a:ext cx="2730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窜天猴拖尾用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个发射器拼合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533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本次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813300"/>
            <a:ext cx="2730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通用母子分叉，烘焙时合成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类火星（源自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工程）</a:t>
            </a:r>
          </a:p>
        </p:txBody>
      </p:sp>
      <p:pic>
        <p:nvPicPr>
          <p:cNvPr id="16" name="Picture 15" descr="p18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17" name="Picture 16" descr="p18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</a:t>
            </a:r>
          </a:p>
        </p:txBody>
      </p:sp>
      <p:pic>
        <p:nvPicPr>
          <p:cNvPr id="19" name="Picture 18" descr="p18_she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模糊与方头：控制变量，分别定位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9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524000" cy="419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9" name="Picture 8" descr="p19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58900"/>
            <a:ext cx="1524000" cy="4191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09800" y="13589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98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pic>
        <p:nvPicPr>
          <p:cNvPr id="13" name="Picture 12" descr="p19_bl_n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358900"/>
            <a:ext cx="1524000" cy="4191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6" name="Picture 15" descr="p19_bl_fi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58900"/>
            <a:ext cx="1524000" cy="4191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486400" y="13589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先糊后清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8801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700" y="1676400"/>
            <a:ext cx="40767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长条格采样到低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Mip，仅低配出现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2987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05700" y="22098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先糊后清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5700" y="2527300"/>
            <a:ext cx="40767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贴图首次出现时未流送到位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31496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05700" y="30607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5700" y="3378200"/>
            <a:ext cx="40767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Mip；手游保留，最大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4800600"/>
            <a:ext cx="4267200" cy="1270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0" y="4800600"/>
            <a:ext cx="38100" cy="1270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69200" y="49403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9200" y="52451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固定机位、档位与时刻，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单变量对比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黑点与末格黑块：定位原因，写入规则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定位原因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16000" y="22225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0" name="TextBox 9"/>
          <p:cNvSpPr txBox="1"/>
          <p:nvPr/>
        </p:nvSpPr>
        <p:spPr>
          <a:xfrm>
            <a:off x="889000" y="26924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写入规则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6000" y="32512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889000" y="37211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新资源默认执行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3700" y="13589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3700" y="16256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颜色变黑但不透明，遮挡后方画面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37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42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42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RGB，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恒为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07300" y="2470150"/>
            <a:ext cx="571500" cy="0"/>
          </a:xfrm>
          <a:prstGeom prst="line">
            <a:avLst/>
          </a:prstGeom>
          <a:ln w="19050">
            <a:solidFill>
              <a:srgbClr val="0FF796">
                <a:alpha val="90000"/>
              </a:srgbClr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82804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0400" y="1993900"/>
            <a:ext cx="38100" cy="952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09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09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颜色不变，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淡出写入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3700" y="3009900"/>
            <a:ext cx="7378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导出参数对比；尚无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成对截图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3700" y="3365500"/>
            <a:ext cx="73787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3700" y="35306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末格黑块</a:t>
            </a:r>
          </a:p>
        </p:txBody>
      </p:sp>
      <p:pic>
        <p:nvPicPr>
          <p:cNvPr id="26" name="Picture 25" descr="p20_ra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3848100"/>
            <a:ext cx="2095500" cy="20955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ource_tag"/>
          <p:cNvSpPr txBox="1"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3200" y="3848100"/>
            <a:ext cx="50292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Aft>
                <a:spcPts val="7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最亮处采到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末格的黑色</a:t>
            </a:r>
          </a:p>
          <a:p>
            <a:pPr algn="l">
              <a:lnSpc>
                <a:spcPts val="2080"/>
              </a:lnSpc>
              <a:spcAft>
                <a:spcPts val="7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末格保留（用于去除光晕灰线）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参数与界面规范：宪章与设计令牌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21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3175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203700"/>
            <a:ext cx="17500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203700"/>
            <a:ext cx="17500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参数宪章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00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明确每个参数的类型；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不生效即置灰并说明原因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1867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9667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交互宪章与设计令牌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667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统一入口、状态与反馈；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颜色等取值源自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特效工作台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4133" y="4978400"/>
            <a:ext cx="76200" cy="76200"/>
          </a:xfrm>
          <a:prstGeom prst="rect">
            <a:avLst/>
          </a:prstGeom>
          <a:solidFill>
            <a:srgbClr val="F5F5F5">
              <a:alpha val="4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1933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933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配色已统一；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组件与形状逐步统一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工作方法：批量需求的三阶段协作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明确需求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6600" y="1384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需求定义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目标、约束、验收标准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6600" y="1778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技术选型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梳理技术，取最简方案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6600" y="2171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先拆结构，再调参数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600" y="27305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建立规范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6600" y="29718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任务拆分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按效果、工具、编排分配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33655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宪章规范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规则成文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06600" y="37592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执行前读取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先读规范与交接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6600" y="43180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结果把关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6600" y="4559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自动检查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6600" y="4953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执行、自检、验收分开记录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6600" y="5346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版本锁定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通过后锁定，复用派生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适用场景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31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222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重复性设置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514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开发工具，批量处理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13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048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340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拆结构后模拟、烘焙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96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873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165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以表驱动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4600" y="49530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从一项重复性工作开始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946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工具获取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5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使用方式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38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90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1790700"/>
            <a:ext cx="3556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模拟、取景、打包、导出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500" y="1790700"/>
            <a:ext cx="42799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基于案例调参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Chrome</a:t>
            </a:r>
            <a:r>
              <a:rPr sz="13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或</a:t>
            </a:r>
            <a:r>
              <a:rPr sz="13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Edge</a:t>
            </a:r>
            <a:r>
              <a:rPr sz="13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打开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5908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7432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2743200"/>
            <a:ext cx="3556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检查并写入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2500" y="2743200"/>
            <a:ext cx="42799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插件与本机服务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首次请在测试工程使用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543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695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3695700"/>
            <a:ext cx="3556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2500" y="3695700"/>
            <a:ext cx="42799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离线页面</a:t>
            </a:r>
          </a:p>
          <a:p>
            <a:pPr algn="l">
              <a:lnSpc>
                <a:spcPts val="2015"/>
              </a:lnSpc>
            </a:pPr>
          </a:p>
        </p:txBody>
      </p:sp>
      <p:sp>
        <p:nvSpPr>
          <p:cNvPr id="21" name="Rectangle 20"/>
          <p:cNvSpPr/>
          <p:nvPr/>
        </p:nvSpPr>
        <p:spPr>
          <a:xfrm>
            <a:off x="609600" y="44958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9530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工具包存放位置：xx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372100"/>
            <a:ext cx="698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首批：烘焙器与案例；导入器与编排工作台后续补充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71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案例是载体，重点是工作方式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0" y="4826000"/>
            <a:ext cx="33274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66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125200" y="5816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