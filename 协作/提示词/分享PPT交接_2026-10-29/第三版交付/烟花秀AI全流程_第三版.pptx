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25 秒）</a:t>
            </a:r>
          </a:p>
          <a:p/>
          <a:p>
            <a:r>
              <a:t>大家好，我是____。今天分享这一个多月制作跨年烟花秀的过程。效果制作、引擎接入和节目编排三个环节，我都借助 AI 开发了工具。内容按问题、解决思路、实践成果、经验与方法的顺序展开，最后介绍批量需求的协作方法和工具获取方式。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规模：开花花型由 3 种增至 26 种，时长约为去年 3 倍（约 30 秒）</a:t>
            </a:r>
          </a:p>
          <a:p/>
          <a:p>
            <a:r>
              <a:t>首先是规模。去年的烟花秀只有 3 种烟花；今年按资源表统计，开花花型达到 26 种，升空尾缀按开花高度分为 6 档，另有一套窜天猴。节目时长约 220 秒，约为去年的 3 倍，并且 PC 与手游各需一套资源。规模扩大后，原有做法在出图、引擎接入和编排三个环节都难以支撑。</a:t>
            </a:r>
          </a:p>
          <a:p/>
          <a:p>
            <a:r>
              <a:t>依据：去年 3 种、时长约 3 倍 = 讲者口述（01:42；本机 T26 未能核实，旧定序器子序列播放范围 0–70.2 秒仅作参考）；26 种 / 6 档 / 1 套 ✓（verify_A1_A2 §1）；219.5 秒 ✓（B11 修订 3）；219.5 ÷ 70.2 ≈ 3.1。用户说「几十种」，页面用核过的 26，不往大说。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出图：每种烟花的规格需单独处理，人工成本高（约 50 秒）</a:t>
            </a:r>
          </a:p>
          <a:p/>
          <a:p>
            <a:r>
              <a:t>第一个问题是出图。烟花在引擎中以面片播放序列帧，每种烟花出图前都需要确定多项规格：面片尺寸与爆点位置、帧数分配、格子排布、打包方式，以及 Ramp 和 Cutout；PC 与手游还要分别输出。原有方式需要在后期软件中手工裁切、排格、合通道，再在 Cascade 中计算尺寸与曲线，效果一旦调整就要全部重做。此前也尝试过由 AI 编写脚本驱动 Blender 出图，可以输出，但每轮需要等待离线渲染，调参时无法预览最终效果。</a:t>
            </a:r>
          </a:p>
          <a:p/>
          <a:p>
            <a:r>
              <a:t>依据：spec/cascade_params_v1.md §7、§10；CLAUDE.md §2（灰度、RGBA 接力、Ramp、两平台）；Blender 每轮等待 ✓（verify_A1_A2 §3：项目记录一轮 2–28 分钟，页面不写数字、不比倍数）。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引擎接入：贴图与实例需逐项按规范设置（约 30 秒）</a:t>
            </a:r>
          </a:p>
          <a:p/>
          <a:p>
            <a:r>
              <a:t>第二个问题是引擎接入。素材导出后，每张贴图都需要按用途和平台设置流送、贴图组和 Mip，材质实例与发射器还要设置参数、包围盒和朝向。这批资源共引用 212 张贴图，每次版本更新都要重新创建和设置。依靠人工逐项操作，漏项通常要到实机阶段才会暴露。</a:t>
            </a:r>
          </a:p>
          <a:p/>
          <a:p>
            <a:r>
              <a:t>依据：212 / 115 ✓（verify_A1_A2 §1）；设置项 CLAUDE.md §2「烟花贴图规范」。按用户 12 条第 2 条，不逐项念勾了什么。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编排：定序器手工排轨难以支撑今年的规模（约 40 秒）</a:t>
            </a:r>
          </a:p>
          <a:p/>
          <a:p>
            <a:r>
              <a:t>第三个问题是编排。去年在定序器中手工拼接，每发烟花包含粒子、位移、声音等轨道，工程共有 12 条子序列、两千余条轨道，调整一处节奏需要重新对齐多条轨道；性能组也反馈过内存占用偏高。今年节目约 220 秒，有 24 个发射点位，PC 与手游各分 3 档画质，版本周期也很紧。我与程序共同设计了新的导演蓝图，但以表格手工匹配音乐节奏，修改成本仍然较高。</a:t>
            </a:r>
          </a:p>
          <a:p/>
          <a:p>
            <a:r>
              <a:t>依据：12 条子序列 / 2726 条轨道 ✓（A3，本机已核）；内存偏高 = 口述（性能组，没有数字，不写百分比）；导演蓝图与程序共同设计 = 口述（采访记录）；24 点位 ✓。页面写「两千多条」，不用 2726 做大字。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解决思路：三个环节对应三个工具，以固定格式衔接（约 40 秒）</a:t>
            </a:r>
          </a:p>
          <a:p/>
          <a:p>
            <a:r>
              <a:t>对应的解决思路是：三个环节各开发一个工具。烘焙器负责出图，导入器负责引擎接入，编排工作台负责节目编排。工具之间以固定格式衔接：烘焙器导出的素材包由导入器直接读取，编排工作台输出导演蓝图所需的表。分工上，目标、审美与引擎约束由我确定，工具由 AI 开发；结果先经引擎回放检查，关键节点在 UE 中验收。导演蓝图与程序共同设计，贴图规范与性能组共同确定。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烟花烘焙器：可视化调参、快速出图、按项目定制（约 50 秒）</a:t>
            </a:r>
          </a:p>
          <a:p/>
          <a:p>
            <a:r>
              <a:t>出图环节使用烟花烘焙器。前面提到的脚本方式可以出图，但速度慢，也无法直观预览。游戏中的烟花是朝向镜头的面片序列，因此烘焙器不构建完整的三维场景，而是依据本项目的舞台尺度、观看距离和 Cascade 规范，只输出游戏视角所需的 2D 序列。它有三个特点：一是可视化，实时模拟调参，导出结果可在引擎回放中复核；二是快速输出，参数修改即时生效，直接输出引擎所需格式；三是项目定制，所有规格围绕本次需求设计。</a:t>
            </a:r>
          </a:p>
          <a:p/>
          <a:p>
            <a:r>
              <a:t>依据：verify_A1_A2 §3（Blender 一轮需等待、视口不等于最终输出，均为项目记录；不写跨软件提速倍数）；用户 01:42 第 4 条（可视化、快、定制）；协作/标准.md 观看距离 800–1200 米。「2D」指输出视角，模拟里仍保留粒子深度用于景深模糊（与本机第二版第 4 页口径一致）。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取景规范：提高贴图的像素利用率（约 45 秒）</a:t>
            </a:r>
          </a:p>
          <a:p/>
          <a:p>
            <a:r>
              <a:t>导出规范是烘焙器中投入最多的部分，首先是取景。烟花在面片中所占比例越小，分辨率浪费越多。固定框为默认方式；随开花放大可以让开花初期获得更多像素，但单侧花型在后期留白反而增加，因此增加了锚在爆点的方式，只向内容方向放大。在一个扇形测试中，内容占面片的比例由约两成提高到约四成。烘焙后再按每帧实际内容收紧，帧数也按运动快慢分配。这些步骤原本需要手工完成，现在每次导出自动执行。</a:t>
            </a:r>
          </a:p>
          <a:p/>
          <a:p>
            <a:r>
              <a:t>依据：三种取景、锚点取景 ✓（tool/CHANGELOG.md 4.9.81：扇形 FC6O 内容占比中位数 固定 0.20 / 随开花放大 0.21 / 锚点 0.41，为取景计划估算）◎ 本机确认该扇形是否进了正式库，没进就保持台词里的「拿一个扇形测试」；烘完收紧、暗帧不收、最多 12 级、曲线点 96 → 24 ✓（4.9.33，用户 10-07 提出点位太多）；紧凑取景停用 ✓（spec §10A，09-29 引擎实测会抖）；帧数分配 ✓（spec §10C 柳类开头密后段疏；4.9.89「按运动分」）。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打包规范：单张贴图 64 帧，PC 与手游同时导出（约 45 秒）</a:t>
            </a:r>
          </a:p>
          <a:p/>
          <a:p>
            <a:r>
              <a:t>其次是打包。一张贴图分为 4×4 格，再按 RGBA 四个通道依次填充，单张贴图可容纳 64 帧。贴图只存灰度，颜色由 Ramp 查色，同一序列换色无需重新烘焙。格子随形状选择：圆形用方格，垂柳用竖长格，细长尾缀用 16×1 长条。Cutout 用于减少透明区域和 overdraw，收益不足一成时不输出，重复项只保留一份。PC 与手游同时导出，交付前在引擎回放中复核。</a:t>
            </a:r>
          </a:p>
          <a:p/>
          <a:p>
            <a:r>
              <a:t>依据：CLAUDE.md §2（灰度、RGBA 接力、BC7、默认 2048 可按效果调整、手游 ≤ 1024）；spec §7「素材包整理」（8 顶点、估省 &lt; 10% 不出、包内去重，4.9.38）；spec §10C（柳类竖长格，例 8 × 16）；CHANGELOG A16（尾缀 16 × 1）。页面不写「必须 2048」（用户 10-02：按效果可调）。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导入器：引擎设置规范内置于工具，确认后写入 UE（约 35 秒）</a:t>
            </a:r>
          </a:p>
          <a:p/>
          <a:p>
            <a:r>
              <a:t>第二个工具是导入器，设计参考了原有特效工作台的配表入口。导入器读取烘焙器导出的素材包，先检查命名、尺寸和规范项，不合格的先行拦截；再按平台列出需要创建的贴图、材质实例和发射器；确认后写入 UE，写入后读回核对。与性能组确定的贴图规范，例如手游保留 Mip 与流送、最大 1024，都已内置于导入器，无需人工记忆。</a:t>
            </a:r>
          </a:p>
          <a:p/>
          <a:p>
            <a:r>
              <a:t>依据：采访记录（灵感来源）；CLAUDE.md §2（导入器写 false、DistantVFX、PC/手游分平台，v2.31）；spec/workspace_resource_v1.md（检查不写 UE，点导入才写）。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编排规则：由舞台尺度推导分档与构图（约 50 秒）</a:t>
            </a:r>
          </a:p>
          <a:p/>
          <a:p>
            <a:r>
              <a:t>编排环节先推导规则。舞台为宽约 800 米、高约 150 米的坝体，坝顶按约 100 米点距布置主发射点，加上中间点和前台点共 24 个。花型能否分辨，取决于花径与点距之比：约 1.5 倍可以分辨，2 倍以上形成花墙，继续增大则糊成一片。据此将花型分为 S、M、L 和主角四档，确定各档开花高度，并配置对应的升空尾缀。这些规则写入编排宪章，每一版编排都按宪章自动检查。设计值与实机机位存在差异时，以实机为准校正。</a:t>
            </a:r>
          </a:p>
          <a:p/>
          <a:p>
            <a:r>
              <a:t>依据：对话框22；协作/跨年秀编排宪章.md；本机第二版第 6、7 页已核口径（800 × 150、100 米、24 点、1.5 / 2–2.3 倍、90 / 150 / 230 / 280 米）。0.55 重叠阈值只适用于具体检测模型，台词不说（本机审查意见）。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烟花编排工作台：时间轴编辑，输出导演蓝图三张表（约 30 秒）</a:t>
            </a:r>
          </a:p>
          <a:p/>
          <a:p>
            <a:r>
              <a:t>规则确定后，由烟花编排工作台执行编排。工作台将音乐波形、点位和烟花模板放在同一条时间轴上，可依据音乐调整节奏与模板。每次修改后按宪章检查重叠、档位和预算，并一键输出导演蓝图所需的子模板、模板和时序三张表。UE 只负责按表播放，节奏调整在工作台完成后重新输出即可。</a:t>
            </a:r>
          </a:p>
          <a:p/>
          <a:p>
            <a:r>
              <a:t>依据：tool/workbench/src/Timeline.jsx（波形）✓；A3 三张表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流程演示：从调参到 UE 播放（建议 150 秒，含录屏）</a:t>
            </a:r>
          </a:p>
          <a:p/>
          <a:p>
            <a:r>
              <a:t>下面通过一段录屏演示完整流程：选择案例并调参，在引擎回放中复核，同时导出 PC 与手游两套素材，经导入器检查后写入 UE，最后在 UE 中播放。（播放录屏，约 2 分钟）录屏经过剪辑，实际用时 ×× 分钟。</a:t>
            </a:r>
          </a:p>
          <a:p/>
          <a:p>
            <a:r>
              <a:t>依据：用户 10-30 02:08「录屏我会出」；步骤同第一版第 11 页；实际用时由用户录完填写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资源成果：26 种开花、6 档尾缀、1 套窜天猴入表（约 45 秒）</a:t>
            </a:r>
          </a:p>
          <a:p/>
          <a:p>
            <a:r>
              <a:t>再看实践成果，与前面三个问题一一对应。首先是出图：最终进入跨年 3.0 资源表的开花花型共 26 种，按尺寸为 30 个规格，其中球形开花 9 种、冠 3 种、柳 1 种、扇形 1 种、彗星 5 种、特殊星效 6 种；另有升空尾缀 6 档和一套窜天猴。手游覆盖其中 12 种开花和全部尾缀。26 种开花中，20 种有烘焙器导出材料，其中 19 种保留了配方与导出记录，可调参后重新导出。</a:t>
            </a:r>
          </a:p>
          <a:p/>
          <a:p>
            <a:r>
              <a:t>依据：26 / 30 / 6 / 1 套、手游 12 + 6 + 6 行、212 / 115 ✓（verify_A1_A2 §1）；20 种保留导出材料 ✓（verify §6，19 种带回执或修订、1 种旧包，不推作者归属）；按尺寸行数 ◎（A1 草稿为小号 6 / 小型 13〔含金锦冠 4 段〕/ 中型 7 / 大型 7，合计 33 开花行，和 46 − 6 − 7 = 33 对得上；但 A3 记的资源编号段大型只有 2826–2829 四个，本机按 UE 表核对后再填）；扇形 △（候选按名称有金锦冠〔4 段〕、银星扇等，本机按 UE 表和实际形态归类，归不清就删这一行）。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接入成果：两轮批量修正，读回结果一致（约 35 秒）</a:t>
            </a:r>
          </a:p>
          <a:p/>
          <a:p>
            <a:r>
              <a:t>其次是引擎接入，共进行过两轮批量修正。一轮针对 115 个包，包括粒子系统和材质实例，统一了几项发射器与材质设置，读回无错误；另一轮在与性能组确定贴图规范后，对 149 张贴图批量重设，读回结果一致，与其他项目共用的贴图单独列出核对，不随之修改。以上规则已内置于导入器，新资源导入时自动执行。</a:t>
            </a:r>
          </a:p>
          <a:p/>
          <a:p>
            <a:r>
              <a:t>依据：analysis/results/TEX_SPEC_20261018/verify.json、资源规范统一_20261016/改后读回.json ✓（本机已核）。◎ 这次整批修正是用导入器还是配套脚本完成的，本机按记录选词；台词用「我们做过一次整批修正」不点工具名，两种情况都成立。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编排成果：同一编排按平台与画质分档输出（约 30 秒）</a:t>
            </a:r>
          </a:p>
          <a:p/>
          <a:p>
            <a:r>
              <a:t>然后是编排。编排共迭代 11 个大版本，每版均有自动检查记录。同一编排可按平台与画质分档输出：PC 从高配约一千一百次播放到低配约四百四十次，手游从约四百五十次到约一百八十次，无需逐档编排。需要说明的是，目前节拍对齐指标尚未达到宪章目标，仍在持续优化。</a:t>
            </a:r>
          </a:p>
          <a:p/>
          <a:p>
            <a:r>
              <a:t>依据：B11 修订 3 编排检查 ✓（导演表播放次数 PC 1145 / 852 / 438，手游 448 / 349 / 181，「次播放」沿用本机第二版用词，不改称「发」；对拍 78.3%、强拍 46.6%，宪章目标 85% / 80%）。页面用约数，不放 1570 次展开事件、37 次发布、38 份存档。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个人投入：一人对接 AI，覆盖需求、制作、验收与编排（约 25 秒）</a:t>
            </a:r>
          </a:p>
          <a:p/>
          <a:p>
            <a:r>
              <a:t>这一个多月中，由我一人对接 AI，主要承担三类工作：方向制定、质量判断，以及规则与交接的维护。图中是项目每日的提交量，这一版累计约两千两百次提交，其中约三百五十次为显卡后台自动回传；烘焙器迭代了近 200 个版本号。</a:t>
            </a:r>
          </a:p>
          <a:p/>
          <a:p>
            <a:r>
              <a:t>依据：verify_A1_A2 §1、§4 ✓（约 2200、352 次 gpu 前缀、约 200 个版本记录；不写「人工 1783 次」）。程序和性能组的归属已在第 6 页说过，这里不重复。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升空尾缀：近段与远段对应不同年龄的火星（约 40 秒）</a:t>
            </a:r>
          </a:p>
          <a:p/>
          <a:p>
            <a:r>
              <a:t>接下来是过程中的经验，先看升空尾缀。近段与远段并非按相机距离切换，而是对应火星的不同年龄：近段为循环面片，随弹体移动，表现新喷出的火星；远段为一次性序列，表现滞留空中、缓慢下落的老火星。帧数也由经验判断改为计算：按游戏内观看距离，将火星运动换算为每帧屏幕位移，再按 30 帧节拍分配帧数。远景流畅、近景略软，属于有意取舍。</a:t>
            </a:r>
          </a:p>
          <a:p/>
          <a:p>
            <a:r>
              <a:t>依据：本机第二版第 14、21 页与 verify_A4 ✓（非相机 LOD；PC S / M / L / Hero 启用 2 个发射器，不说「1 层」）。0.77 像素只放附录第 21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仙女棒：13 类火星烘焙合成，单发射器播放（约 50 秒）</a:t>
            </a:r>
          </a:p>
          <a:p/>
          <a:p>
            <a:r>
              <a:t>第二个案例是仙女棒。它的火星包含一级分叉、二级分叉，以及清晰与模糊的多个层次。项目中现有的窜天猴拖尾由 10 个发射器和多张贴图拼合。本次 13 类火星的结构来自我之前 Blender 工程中的版本，AI 将其移植为通用的母子分叉：子火星在母火星破裂处生成，并继承部分速度；快门与景深形成清晰和模糊的层次。合成后，每个平台只需一张 64 帧主序列和一个发射器。目前展示的是导出包回放，UE 中的观感仍待验收。</a:t>
            </a:r>
          </a:p>
          <a:p/>
          <a:p>
            <a:r>
              <a:t>依据：verify_A4、本机第二版第 13、22 页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 · 模糊与方头：控制变量对比，分别定位（约 45 秒）</a:t>
            </a:r>
          </a:p>
          <a:p/>
          <a:p>
            <a:r>
              <a:t>第三个案例是问题排查。模糊和方头最初混在一起，难以区分。后来固定机位、画质档位和播放时刻，同时播放对比，每次只改变一个变量，才将两者分开：方头是长条格压扁后采样到较低 Mip，仅在低配出现；先糊后清是贴图首次出现时尚未流送到位。最终规则按平台区分：PC 主序列不使用 Mip；手游根据性能组的内存反馈保留 Mip 与流送，最大 1024，仍待实测。经验是先固定对比条件，再下结论。</a:t>
            </a:r>
          </a:p>
          <a:p/>
          <a:p>
            <a:r>
              <a:t>依据：LOWQ_FIX_20261018 ✓；CLAUDE.md §2 ✓；方头只在低配出现 ✓（第二版附录第 24 页、A4）。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21 页 · 黑点与末格黑块：定位原因，写入导出与导入规则（约 40 秒）</a:t>
            </a:r>
          </a:p>
          <a:p/>
          <a:p>
            <a:r>
              <a:t>最后两个问题是黑点和末格黑块。黑点的原因是旧导出将淡出写在颜色中，而透明度保持为 1，颜色变黑后仍遮挡后方画面；新规则保持颜色不变，将淡出写入 Alpha。末格黑块的原因是最亮处采样落在 Ramp 末格的黑色上；末格涂黑用于去除光晕灰线，予以保留，另将 EmissiveDissolve 设为 0.98。两项规则均已写入导出与导入流程，新资源默认执行。</a:t>
            </a:r>
          </a:p>
          <a:p/>
          <a:p>
            <a:r>
              <a:t>依据：verify_A4 ✓；对话框23；tool/src/js/62_resource_rules.js。不宣称黑点新写法已过 UE 实机验收。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22 页 · 参数与界面规范：以宪章和设计令牌统一工具风格（约 35 秒）</a:t>
            </a:r>
          </a:p>
          <a:p/>
          <a:p>
            <a:r>
              <a:t>参数增多后，界面本身也需要规范。参数宪章要求每个参数先明确是物理量、引擎字段还是预览设置，调整后不生效的参数必须置灰并说明原因；交互宪章统一入口、状态和反馈的写法；颜色等基础值从现有 DF 特效工作台反推为设计令牌，三个工具按同一套配色收口。目前配色已统一，组件与形状仍在逐步统一。</a:t>
            </a:r>
          </a:p>
          <a:p/>
          <a:p>
            <a:r>
              <a:t>依据：协作/参数宪章.md、协作/交互宪章.md、tool/design-system/tokens.json ✓；只说配色共用，不说三工具组件已统一 ✓（A5、本机审查）。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23 页 · 工作方法：批量需求的三阶段协作流程（约 60 秒）</a:t>
            </a:r>
          </a:p>
          <a:p/>
          <a:p>
            <a:r>
              <a:t>最后是这一个多月的主要心得：批量需求可以按三个阶段与 AI 协作。第一阶段明确需求：定义目标、引擎约束和验收标准，由 AI 梳理所需技术并选择最简可行方案；效果类工作先拆解原理，再调整参数。第二阶段建立规范：任务较多时，多条线容易互相覆盖，因此按效果、工具和编排划分 AI 负责人，共享文件先认领；规则写成宪章与规范，每次执行前先读取规范和上次交接。第三阶段结果把关：先由机器自动检查，再在 UE 验收；执行结束、AI 自检通过和人工验收分别记录；通过的版本锁定后复用。建议从一项重复性工作开始尝试。</a:t>
            </a:r>
          </a:p>
          <a:p/>
          <a:p>
            <a:r>
              <a:t>依据：用户 01:42 第 2 条（沟通需求 → 技术栈 → 拆分 → 宪章规范 → 每次执行先读）与原五步（规则成文、原理先行、机器把关、状态分开、锁版本复用）合并；CLAUDE.md §0（开工先读）、§3（原理先行、交付前检查）、§4（合入门禁）、§5（负责人、认领、底层同时只由一方改）、§6（交接、状态清单）。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24 页 · 工具获取与复用（约 35 秒）</a:t>
            </a:r>
          </a:p>
          <a:p/>
          <a:p>
            <a:r>
              <a:t>工具包存放位置为 xx。首批提供烘焙器和案例，导入器与编排工作台完善后补充。烘焙器可基于案例调整参数；导入器需要 UE 插件和本机交付服务，首次使用请在测试工程中进行；编排工作台为离线页面。案例只是载体，重点是一种工作方式：从具体问题出发，由 AI 参与实现，沉淀可检查、可复用的成果。谢谢大家。</a:t>
            </a:r>
          </a:p>
          <a:p/>
          <a:p>
            <a:r>
              <a:t>依据：本机第二版第 19 页与派活 T24（导入器、编排工作台尚待补进工具包）。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819400"/>
            <a:ext cx="698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历时一个多月</a:t>
            </a: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覆盖效果制作、引擎接入与节目编排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3274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560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5466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46736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800" y="4673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9657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800" y="4965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2578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800" y="525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549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800" y="5549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经验与方法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842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800" y="5842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规模：开花花型由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种增至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种，时长约为去年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00"/>
              </a:lnSpc>
            </a:pPr>
            <a:r>
              <a:rPr sz="10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19400"/>
            <a:ext cx="6400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种烟花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33655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3568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100" y="3581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1100" y="3835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330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1100" y="4343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100" y="4597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按开花高度分档，另有一套窜天猴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092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1100" y="5105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1100" y="5359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与手游各一套，分别设画质档位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59055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花型按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资源表「跨年烟花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3.0」统计，同名不同尺寸、同一花的分段合并计</a:t>
            </a:r>
          </a:p>
        </p:txBody>
      </p:sp>
      <p:pic>
        <p:nvPicPr>
          <p:cNvPr id="19" name="Picture 18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471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ource_tag"/>
          <p:cNvSpPr txBox="1"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出图：每种烟花的规格需单独处理，人工成本高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3_f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4064000" cy="406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064000" cy="4064000"/>
          </a:xfrm>
          <a:prstGeom prst="rect">
            <a:avLst/>
          </a:prstGeom>
          <a:noFill/>
          <a:ln w="12700">
            <a:solidFill>
              <a:srgbClr val="F5F5F5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23350" y="2737164"/>
            <a:ext cx="2788216" cy="1605230"/>
          </a:xfrm>
          <a:prstGeom prst="rect">
            <a:avLst/>
          </a:prstGeom>
          <a:noFill/>
          <a:ln w="12700">
            <a:solidFill>
              <a:srgbClr val="0FF796">
                <a:alpha val="9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88474" y="4424190"/>
            <a:ext cx="114300" cy="1143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9924" y="445594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爆点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3350" y="2483164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实际内容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14605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面片（贴图里的一格）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537200"/>
            <a:ext cx="4064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空白区域同样占用分辨率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烘焙器导出效果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一格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512×512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8400" y="1358900"/>
            <a:ext cx="6604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每种烟花出图前需确定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项规格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784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08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18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18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面片尺寸与爆点位置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39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63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773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73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开花、下垂、熄灭的帧数分配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784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08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18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18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圆形、下垂、细长形态排法不同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439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3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773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773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多帧合入单张贴图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784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08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18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颜色与裁剪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18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查色，Cutout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去透明区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39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963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773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73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PC、手游分辨率与发射器不同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78400" y="4533900"/>
            <a:ext cx="66040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784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2400" y="4686300"/>
            <a:ext cx="609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原有方式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2400" y="4978400"/>
            <a:ext cx="6096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Aft>
                <a:spcPts val="500"/>
              </a:spcAft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手工：渲染后裁切、排格、合通道，再在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中计算尺寸与曲线；效果调整后需全部重做。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脚本：AI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驱动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出图；每轮需等待离线渲染，调参时无法预览最终效果。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引擎接入：贴图与实例需逐项按规范设置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4_te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4711700" cy="2794000"/>
          </a:xfrm>
          <a:prstGeom prst="rect">
            <a:avLst/>
          </a:prstGeom>
        </p:spPr>
      </p:pic>
      <p:pic>
        <p:nvPicPr>
          <p:cNvPr id="7" name="Picture 6" descr="p04_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9900" y="1358900"/>
            <a:ext cx="6032500" cy="279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216400"/>
            <a:ext cx="4711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序列贴图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49900" y="4216400"/>
            <a:ext cx="6032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发射器模块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7400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流送、贴图组、Mip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等，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按用途和平台各不相同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51867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1867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9667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材质实例与发射器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667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参数、包围盒、朝向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均需设置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4133" y="4635500"/>
            <a:ext cx="3488267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4133" y="48895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1933" y="4800600"/>
            <a:ext cx="3310467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版本更新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1933" y="5130800"/>
            <a:ext cx="3234267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需重新创建与设置；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漏项通常在实机阶段才暴露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8674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资源共引用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张贴图（两个平台合计）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编排：定序器手工排轨难以支撑今年的规模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定序器手工拼接：12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条子序列、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两千余条轨道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调整节奏需重新对齐多条轨道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性能组反馈内存占用偏高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3020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34798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846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秒节目时长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3053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8260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54483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版本周期紧；已与程序共同设计新导演蓝图，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但以表格手工匹配音乐节奏，修改成本仍高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解决思路：三个环节对应三个工具，以固定格式衔接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按规范创建与设置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按子模板、模板、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时序三张表播放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13300"/>
            <a:ext cx="584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分工：本人定方向，AI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开发工具，关键结果在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168900"/>
            <a:ext cx="5842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目标、审美与引擎约束由本人确定，工具由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开发；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结果先经引擎回放检查，关键节点在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验收。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13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跨组协作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1689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烟花烘焙器：可视化调参、快速出图、按项目定制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原有方式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写脚本驱动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输出贴图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813050"/>
            <a:ext cx="88900" cy="88900"/>
          </a:xfrm>
          <a:prstGeom prst="rect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730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可输出贴图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32067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31242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每轮需等待离线渲染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6004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4100" y="35179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预览与最终输出不一致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9941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4100" y="3911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规格需导出后才能确认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600" y="4445000"/>
            <a:ext cx="3759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3600" y="4597400"/>
            <a:ext cx="37592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游戏中的烟花是朝向镜头的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面片序列，因此烘焙器只针对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游戏视角输出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2D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序列，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不构建完整三维场景。</a:t>
            </a:r>
          </a:p>
        </p:txBody>
      </p:sp>
      <p:pic>
        <p:nvPicPr>
          <p:cNvPr id="19" name="Picture 18" descr="p07_rep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2667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81600" y="40894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引擎回放：按导出的贴图与配置在浏览器中播放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实时模拟调参；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导出结果可在引擎回放中复核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914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快速输出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参数修改即时生效；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直接输出引擎所需格式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4577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7244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项目定制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50673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依据本项目舞台、视距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规范设计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0" y="5778500"/>
            <a:ext cx="6400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目标：预览、导出与引擎内效果保持一致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取景规范：提高贴图的像素利用率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505200" cy="266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66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按整段最大范围取一个框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1" name="Picture 10" descr="p08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58900"/>
            <a:ext cx="3505200" cy="2667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以爆点为中心逐级放大；单侧花型后期留白增加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86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6" name="Picture 15" descr="p08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0" y="1358900"/>
            <a:ext cx="3505200" cy="2667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042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72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7200" y="4445000"/>
            <a:ext cx="3505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单侧花型仅向内容方向放大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2400" y="4114800"/>
            <a:ext cx="1270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7244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示意图只画开满那一刻（绿点为爆点）；「约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x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成」是单个扇形测试中，全程各帧内容占面片比例的中位数（取景计划估算）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0165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60960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正式资源中有交付记录的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17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组：固定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组、随开花放大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组、尾缀锚在发射点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组（共用一个源包）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烘焙后收紧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按每帧实际内容二次收紧；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近全黑帧不收紧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63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曲线精简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63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面片尺寸最多分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级；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曲线关键点由近百个减至二十余个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0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30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运动快的阶段分配更多帧，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慢阶段相应减少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9700" y="51435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停用紧凑取景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29700" y="54483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逐帧紧裁导致面片位移，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引擎内出现抖动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打包规范：单张贴图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帧，PC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与手游同时导出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500"/>
              </a:lnSpc>
            </a:pPr>
            <a:r>
              <a:rPr sz="8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686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帧装进一张贴图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175000"/>
            <a:ext cx="2667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4×4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格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四个通道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填满再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G、B、A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4064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42418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贴图仅存灰度，颜色由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查色：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同一序列换色无需重新烘焙</a:t>
            </a:r>
          </a:p>
        </p:txBody>
      </p:sp>
      <p:pic>
        <p:nvPicPr>
          <p:cNvPr id="13" name="Picture 12" descr="p09_fan_atl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247900"/>
          </a:xfrm>
          <a:prstGeom prst="rect">
            <a:avLst/>
          </a:prstGeom>
        </p:spPr>
      </p:pic>
      <p:pic>
        <p:nvPicPr>
          <p:cNvPr id="14" name="Picture 13" descr="p09_trail_atl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247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370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4×4×RGBA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帧（烘焙器贴图视图）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655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370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420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格子随形状选择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420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圆形用方格，垂柳用竖长格，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细长尾缀用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005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055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减少透明区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055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叠加全部帧生成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顶点轮廓；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收益不足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10%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不输出，重复项只保留一份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370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420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双平台同时导出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420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与手游各一套，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手游贴图不超过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005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055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交付前回放复核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055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按导出贴图在引擎回放中复核，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再交给导入器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导入器：引擎设置规范内置于工具，确认后写入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0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000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435600"/>
            <a:ext cx="6400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测试数据（Fixture）界面；导入器在特效工作台里，挨着原来的配表入口，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烘焙器「资源交付」页导出后也能直接进导入清单；写进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靠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插件和本机交付服务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371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8600" y="1397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配置素材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701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读素材包，检查命名、尺寸、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平台和规范项，不合格先拦下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387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600" y="2413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核对清单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717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按平台列出要建的贴图、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材质实例、发射器和设置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403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8600" y="3429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执行导入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733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按规范写进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UE，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写完再读回核对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4572000"/>
            <a:ext cx="4267200" cy="1498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4572000"/>
            <a:ext cx="38100" cy="1498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9200" y="47371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9200" y="50800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自动检查阶段不修改工程；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与性能组确定的规范内置于工具，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无需人工记忆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编排规则：由舞台尺度推导分档与构图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舞台与点位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设计值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302000"/>
            <a:ext cx="6400800" cy="698500"/>
          </a:xfrm>
          <a:prstGeom prst="rect">
            <a:avLst/>
          </a:prstGeom>
          <a:solidFill>
            <a:srgbClr val="F5F5F5">
              <a:alpha val="6000"/>
            </a:srgbClr>
          </a:solidFill>
          <a:ln w="6350">
            <a:solidFill>
              <a:srgbClr val="F5F5F5">
                <a:alpha val="2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5200" y="33909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坝体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宽约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m、高约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m（高度线为示意，不按比例）</a:t>
            </a:r>
          </a:p>
        </p:txBody>
      </p:sp>
      <p:sp>
        <p:nvSpPr>
          <p:cNvPr id="9" name="Oval 8"/>
          <p:cNvSpPr/>
          <p:nvPr/>
        </p:nvSpPr>
        <p:spPr>
          <a:xfrm>
            <a:off x="7937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192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938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193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3939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194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940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95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9941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196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942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197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943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98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44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19900" y="31623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94550" y="31369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33320" y="3771900"/>
            <a:ext cx="3261360" cy="22860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8572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6578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4584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2590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0596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8602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66080" y="36957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63600" y="266065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35" name="TextBox 34"/>
          <p:cNvSpPr txBox="1"/>
          <p:nvPr/>
        </p:nvSpPr>
        <p:spPr>
          <a:xfrm>
            <a:off x="5867400" y="244475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3600" y="247015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37" name="TextBox 36"/>
          <p:cNvSpPr txBox="1"/>
          <p:nvPr/>
        </p:nvSpPr>
        <p:spPr>
          <a:xfrm>
            <a:off x="5867400" y="225425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63600" y="208915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39" name="TextBox 38"/>
          <p:cNvSpPr txBox="1"/>
          <p:nvPr/>
        </p:nvSpPr>
        <p:spPr>
          <a:xfrm>
            <a:off x="5867400" y="187325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63600" y="1866900"/>
            <a:ext cx="6400800" cy="0"/>
          </a:xfrm>
          <a:prstGeom prst="line">
            <a:avLst/>
          </a:prstGeom>
          <a:ln w="6350">
            <a:solidFill>
              <a:srgbClr val="F5F5F5">
                <a:alpha val="18000"/>
              </a:srgbClr>
            </a:solidFill>
            <a:prstDash val="dash"/>
          </a:ln>
        </p:spPr>
      </p:cxnSp>
      <p:sp>
        <p:nvSpPr>
          <p:cNvPr id="41" name="TextBox 40"/>
          <p:cNvSpPr txBox="1"/>
          <p:nvPr/>
        </p:nvSpPr>
        <p:spPr>
          <a:xfrm>
            <a:off x="5867400" y="1651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0"/>
              </a:lnSpc>
            </a:pP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主角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9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863600" y="4203700"/>
            <a:ext cx="101600" cy="1016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1400" y="41275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P0–P8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个，点距约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44" name="Oval 43"/>
          <p:cNvSpPr/>
          <p:nvPr/>
        </p:nvSpPr>
        <p:spPr>
          <a:xfrm>
            <a:off x="863600" y="4483100"/>
            <a:ext cx="101600" cy="1016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1400" y="44069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中间点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B0–B7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6" name="Oval 45"/>
          <p:cNvSpPr/>
          <p:nvPr/>
        </p:nvSpPr>
        <p:spPr>
          <a:xfrm>
            <a:off x="863600" y="4762500"/>
            <a:ext cx="101600" cy="1016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400" y="46863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前台点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F0–F6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54600" y="4127500"/>
            <a:ext cx="2413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合计</a:t>
            </a:r>
          </a:p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0000" y="1358900"/>
            <a:ext cx="3962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花径与点距之比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20000" y="1625600"/>
            <a:ext cx="3962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1.5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倍可分辨；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倍以上形成花墙；继续增大则糊成一片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20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185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235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20000" y="26670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20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185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71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235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620000" y="30734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20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185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71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235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20000" y="34798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20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185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71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35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20000" y="38862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20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185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71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235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20000" y="42926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20000" y="4368800"/>
            <a:ext cx="3962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花径为构图目标；高度相对坝顶</a:t>
            </a:r>
          </a:p>
          <a:p>
            <a:pPr algn="l">
              <a:lnSpc>
                <a:spcPts val="15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主角只放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P0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P4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35200" y="5384800"/>
            <a:ext cx="21336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80" name="Rectangle 79"/>
          <p:cNvSpPr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花径与点距之比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2260" y="5384800"/>
            <a:ext cx="21336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83" name="Rectangle 82"/>
          <p:cNvSpPr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分档定高度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989320" y="5384800"/>
            <a:ext cx="21336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86" name="Rectangle 85"/>
          <p:cNvSpPr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重叠与同刻检查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866380" y="5384800"/>
            <a:ext cx="21336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89" name="Rectangle 88"/>
          <p:cNvSpPr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solidFill>
            <a:srgbClr val="161616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9743440" y="5384800"/>
            <a:ext cx="21336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92" name="Rectangle 91"/>
          <p:cNvSpPr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编排宪章：写成文档、每一版都自动检查的编排规则。以上为设计值，实机机位与点距不同时以实机校正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烟花编排工作台：时间轴编辑，输出导演蓝图三张表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2_workben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9243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烟花编排工作台：段落、音乐波形、各点位轨道在同一条时间轴上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4318000"/>
            <a:ext cx="6400800" cy="175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4318000"/>
            <a:ext cx="38100" cy="175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44704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4749800"/>
            <a:ext cx="584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音乐波形、点位、烟花模板在同一条时间轴上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5118100"/>
            <a:ext cx="584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依据音乐调整节奏与模板，修改后即时预览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4318000"/>
            <a:ext cx="4267200" cy="175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69200" y="44704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程序化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9200" y="47498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按宪章自动检查，一键输出三张表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9200" y="51181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每次检查重叠、档位与预算；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输出子模板、模板、时序三张表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流程演示：从调参到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选案例调参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导入器检查写入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ource_tag"/>
          <p:cNvSpPr txBox="1"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底图：工具界面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选择案例、调参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引擎回放复核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与手游两套素材包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粒子系统、贴图、材质实例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种开花、6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档尾缀、1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套窜天猴入表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</a:pPr>
            <a:r>
              <a:rPr sz="5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2692400"/>
            <a:ext cx="2667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5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按尺寸共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个规格：</a:t>
            </a:r>
          </a:p>
          <a:p>
            <a:pPr algn="l">
              <a:lnSpc>
                <a:spcPts val="1705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小型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中型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大型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</a:p>
          <a:p>
            <a:pPr algn="l">
              <a:lnSpc>
                <a:spcPts val="1705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（金锦冠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段算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3429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3594100"/>
            <a:ext cx="2667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其中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种有烘焙器导出材料，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19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种保留配方与导出记录，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可调参后重新导出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5461000"/>
            <a:ext cx="2667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按资源表花型统计，含素材复用，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不等于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套独立模拟</a:t>
            </a:r>
          </a:p>
        </p:txBody>
      </p:sp>
      <p:pic>
        <p:nvPicPr>
          <p:cNvPr id="14" name="Picture 13" descr="p13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1787525" cy="1778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3700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整场扇面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pic>
        <p:nvPicPr>
          <p:cNvPr id="16" name="Picture 15" descr="p13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425" y="1358900"/>
            <a:ext cx="1787525" cy="177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7425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彩色组合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pic>
        <p:nvPicPr>
          <p:cNvPr id="18" name="Picture 17" descr="p13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1150" y="1358900"/>
            <a:ext cx="1787525" cy="177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31150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金芒爆裂菊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pic>
        <p:nvPicPr>
          <p:cNvPr id="20" name="Picture 19" descr="p13_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4875" y="1358900"/>
            <a:ext cx="1787525" cy="177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794875" y="3175000"/>
            <a:ext cx="1787525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3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3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18700" y="3530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3700" y="37338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3700" y="37338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球形开花（菊、牡丹）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13700" y="37338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18700" y="37338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3700" y="39941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3700" y="39941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3700" y="39941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18700" y="39941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3700" y="42545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3700" y="42545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3700" y="42545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8700" y="42545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3700" y="45148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3700" y="45148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扇形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3700" y="45148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金锦冠，4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18700" y="45148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03700" y="47752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03700" y="47752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彗星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3700" y="47752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8700" y="47752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3700" y="50355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3700" y="50355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特殊星效（爆裂、分裂、辉星、点灭）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3700" y="50355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18700" y="50355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03700" y="52959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03700" y="529590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13700" y="529590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18700" y="529590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3700" y="55562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03700" y="5556250"/>
            <a:ext cx="3810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窜天猴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3700" y="5556250"/>
            <a:ext cx="19050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18700" y="5556250"/>
            <a:ext cx="16637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3700" y="58166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03700" y="5867400"/>
            <a:ext cx="73787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另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种（彩千轮）形态未定；PC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开花合计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种，手游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种；共引用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张贴图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接入成果：两轮批量修正，读回结果一致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4_ue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594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0165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4.24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实播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修正后的金垂柳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5372100"/>
            <a:ext cx="64008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以上规则已内置于导入器，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新资源导入时自动执行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10-18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和性能组定下贴图规范后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63700"/>
            <a:ext cx="42672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3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540000"/>
            <a:ext cx="4267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张贴图批量重设，读回结果一致；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共用贴图单独列出核对，不随之修改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32766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4544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759200"/>
            <a:ext cx="4267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343400"/>
            <a:ext cx="42672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个粒子系统、67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个材质实例，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统一几项发射器与材质设置，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读回无错误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编排成果：同一编排按平台与画质分档输出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10972800" cy="2984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2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同一份编排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各档一场的播放次数（导演表）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5600" y="2095500"/>
            <a:ext cx="952500" cy="1714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8600" y="1828800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2100" y="2534232"/>
            <a:ext cx="952500" cy="1275768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5100" y="2267532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2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38600" y="3154148"/>
            <a:ext cx="952500" cy="65585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1600" y="2887448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6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1100" y="3139174"/>
            <a:ext cx="952500" cy="6708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4100" y="28724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67600" y="3287414"/>
            <a:ext cx="952500" cy="52258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0600" y="302071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74100" y="3538974"/>
            <a:ext cx="952500" cy="27102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7100" y="3272274"/>
            <a:ext cx="1206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4100" y="3860800"/>
            <a:ext cx="9525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1100" y="4064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3810000"/>
            <a:ext cx="9448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" y="4533900"/>
            <a:ext cx="64008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3600" y="4699000"/>
            <a:ext cx="571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80"/>
              </a:lnSpc>
            </a:pP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个大版本迭代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" y="5308600"/>
            <a:ext cx="584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每版均有自动检查记录；节奏调整在工作台完成并重新输出，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按表播放，无需逐档编排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533900"/>
            <a:ext cx="42672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9200" y="4699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待改进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9200" y="4991100"/>
            <a:ext cx="3810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节拍对齐指标尚未达到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宪章目标，持续优化中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投入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个人投入：一人对接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AI，覆盖需求、制作、验收与编排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454400" cy="1587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1587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15113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19431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方向制定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00" y="2324100"/>
            <a:ext cx="2984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需求、目标与约束；舞台与编排设计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8800" y="1358900"/>
            <a:ext cx="3454400" cy="1587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2800" y="15113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2800" y="19431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质量判断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2800" y="2324100"/>
            <a:ext cx="2984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美术把关、UE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验收、规范取舍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0" y="1358900"/>
            <a:ext cx="3454400" cy="1587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0" y="15113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19431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规则与交接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2324100"/>
            <a:ext cx="2984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要求成文，每段工作留存交接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238500"/>
            <a:ext cx="698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项目每日提交量（历时一个多月）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4600" y="3238500"/>
            <a:ext cx="3987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次提交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烘焙器近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个版本号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5715000"/>
            <a:ext cx="10972800" cy="6350"/>
          </a:xfrm>
          <a:prstGeom prst="rect">
            <a:avLst/>
          </a:prstGeom>
          <a:solidFill>
            <a:srgbClr val="F5F5F5">
              <a:alpha val="1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2752" y="5604933"/>
            <a:ext cx="186205" cy="1100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15261" y="5494867"/>
            <a:ext cx="186205" cy="2201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47770" y="5469467"/>
            <a:ext cx="186205" cy="2455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80279" y="4876800"/>
            <a:ext cx="186205" cy="8382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12788" y="4859867"/>
            <a:ext cx="186205" cy="8551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45297" y="4394200"/>
            <a:ext cx="186205" cy="13208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77807" y="4885267"/>
            <a:ext cx="186205" cy="8297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10316" y="4927600"/>
            <a:ext cx="186205" cy="7874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42825" y="4902200"/>
            <a:ext cx="186205" cy="8128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75334" y="4732867"/>
            <a:ext cx="186205" cy="9821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07843" y="3683000"/>
            <a:ext cx="186205" cy="20320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40352" y="4250267"/>
            <a:ext cx="186205" cy="14647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72861" y="5223933"/>
            <a:ext cx="186205" cy="4910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05370" y="4690533"/>
            <a:ext cx="186205" cy="10244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37879" y="5401733"/>
            <a:ext cx="186205" cy="3132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70388" y="5317067"/>
            <a:ext cx="186205" cy="3979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02897" y="4792133"/>
            <a:ext cx="186205" cy="9228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35407" y="4741333"/>
            <a:ext cx="186205" cy="9736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67916" y="5054600"/>
            <a:ext cx="186205" cy="6604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00425" y="4834467"/>
            <a:ext cx="186205" cy="8805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32934" y="5215467"/>
            <a:ext cx="186205" cy="4995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5443" y="5342467"/>
            <a:ext cx="186205" cy="37253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97952" y="5376333"/>
            <a:ext cx="186205" cy="3386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30461" y="5613400"/>
            <a:ext cx="186205" cy="1016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62970" y="5702300"/>
            <a:ext cx="186205" cy="127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95479" y="5325533"/>
            <a:ext cx="186205" cy="3894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27988" y="5537200"/>
            <a:ext cx="186205" cy="1778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660497" y="5638800"/>
            <a:ext cx="186205" cy="762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93007" y="5452533"/>
            <a:ext cx="186205" cy="26246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58025" y="5638800"/>
            <a:ext cx="186205" cy="762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90534" y="5613400"/>
            <a:ext cx="186205" cy="1016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323043" y="5588000"/>
            <a:ext cx="186205" cy="1270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600" y="58166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其中约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350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次是显卡后台自动回传；导演蓝图与程序共同设计，贴图规范与性能组共同确定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升空尾缀：近段与远段对应不同年龄的火星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7_tr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93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372100"/>
            <a:ext cx="64008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上：实拍参考；中：实时模拟；下：导出贴图回放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导出行中：亮头附近为近段，下方长尾为远段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循环面片随弹体移动，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表现新喷出的火星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463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05700" y="2374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2692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一次性序列，表现滞留空中、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缓慢下落的老火星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390900"/>
            <a:ext cx="4267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注：并非按相机距离切换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810000"/>
            <a:ext cx="4267200" cy="2260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810000"/>
            <a:ext cx="38100" cy="2260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9200" y="3975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9200" y="4267200"/>
            <a:ext cx="3810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按游戏内观看距离，将火星运动换算为每帧屏幕位移，再按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帧节拍分配帧数。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9200" y="53340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远景流畅、近景略软，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属于有意取舍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类火星烘焙合成，单发射器播放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857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00"/>
              </a:lnSpc>
            </a:pPr>
            <a:r>
              <a:rPr sz="6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667000"/>
            <a:ext cx="27305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35306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000" y="36830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39497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现有窜天猴拖尾由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个发射器、多张贴图拼合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4635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本次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9022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移植为通用母子分叉：子火星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在母火星破裂处生成并继承部分速度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类火星（结构来自之前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工程里的版本）</a:t>
            </a:r>
          </a:p>
        </p:txBody>
      </p:sp>
      <p:pic>
        <p:nvPicPr>
          <p:cNvPr id="16" name="Picture 15" descr="p18_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17" name="Picture 16" descr="p18_l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合成后的一张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帧主序列（导出贴图；UE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观感待验收）</a:t>
            </a:r>
          </a:p>
        </p:txBody>
      </p:sp>
      <p:pic>
        <p:nvPicPr>
          <p:cNvPr id="19" name="Picture 18" descr="p18_she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模糊与方头：控制变量对比，分别定位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9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524000" cy="419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9" name="Picture 8" descr="p19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58900"/>
            <a:ext cx="1524000" cy="4191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09800" y="1358900"/>
            <a:ext cx="17018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09800" y="1358900"/>
            <a:ext cx="1701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  <a:r>
              <a:rPr sz="1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6134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3.8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pic>
        <p:nvPicPr>
          <p:cNvPr id="13" name="Picture 12" descr="p19_bl_n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358900"/>
            <a:ext cx="1524000" cy="4191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6" name="Picture 15" descr="p19_bl_fi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358900"/>
            <a:ext cx="1524000" cy="4191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486400" y="1358900"/>
            <a:ext cx="17018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358900"/>
            <a:ext cx="1701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  <a:r>
              <a:rPr sz="1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56134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先糊后清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金芒菊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0.29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8801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低档、同机位、同时播放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长条格压扁后采样到较低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仅在低配出现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463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05700" y="2374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先糊后清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5700" y="2692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贴图首次出现时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尚未流送到位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3479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05700" y="3390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规则按平台分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5700" y="3708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主序列不用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Mip；手游按内存反馈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保留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与流送，最大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1024，待实测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4800600"/>
            <a:ext cx="4267200" cy="1270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0" y="4800600"/>
            <a:ext cx="38100" cy="1270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69200" y="4940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9200" y="5219700"/>
            <a:ext cx="3810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固定机位、画质档位与播放时刻，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单变量对比后再下结论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黑点与末格黑块：定位原因，写入导出与导入规则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定位原因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16000" y="22225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0" name="TextBox 9"/>
          <p:cNvSpPr txBox="1"/>
          <p:nvPr/>
        </p:nvSpPr>
        <p:spPr>
          <a:xfrm>
            <a:off x="889000" y="26924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写入规则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6000" y="32512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889000" y="3721100"/>
            <a:ext cx="2730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新资源</a:t>
            </a:r>
          </a:p>
          <a:p>
            <a:pPr algn="l">
              <a:lnSpc>
                <a:spcPts val="3000"/>
              </a:lnSpc>
            </a:pPr>
            <a:r>
              <a:rPr sz="2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默认执行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52070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导出按新规则输出；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导入时按包写入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3700" y="13589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6256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颜色变黑但透明度保持为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1，遮挡后方画面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37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42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2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RGB，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始终为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7300" y="2470150"/>
            <a:ext cx="571500" cy="0"/>
          </a:xfrm>
          <a:prstGeom prst="line">
            <a:avLst/>
          </a:prstGeom>
          <a:ln w="19050">
            <a:solidFill>
              <a:srgbClr val="0FF796">
                <a:alpha val="90000"/>
              </a:srgbClr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82804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0400" y="1993900"/>
            <a:ext cx="38100" cy="952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09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09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颜色保持不变，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淡出写进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3009900"/>
            <a:ext cx="7378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两版真实导出参数对比；新写法尚无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成对截图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3700" y="3365500"/>
            <a:ext cx="73787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3700" y="35306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末格黑块</a:t>
            </a:r>
          </a:p>
        </p:txBody>
      </p:sp>
      <p:pic>
        <p:nvPicPr>
          <p:cNvPr id="27" name="Picture 26" descr="p20_ra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3848100"/>
            <a:ext cx="2095500" cy="20955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ource_tag"/>
          <p:cNvSpPr txBox="1"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200" y="3848100"/>
            <a:ext cx="50292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Aft>
                <a:spcPts val="6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最亮处采样落在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末格的黑色上。</a:t>
            </a:r>
          </a:p>
          <a:p>
            <a:pPr algn="l">
              <a:lnSpc>
                <a:spcPts val="2080"/>
              </a:lnSpc>
              <a:spcAft>
                <a:spcPts val="6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末格涂黑用于去除光晕灰线，予以保留；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另设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为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0.98，使最亮处不采到末格。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参数与界面规范：以宪章和设计令牌统一工具风格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21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317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84700"/>
            <a:ext cx="1097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4978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7400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参数宪章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7400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每个参数先说清：是物理量、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引擎字段，还是预览设置；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调了不生效的变灰并写原因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1867" y="4978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9667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交互宪章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设计令牌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9667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入口、状态、反馈统一写法；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令牌是颜色、字号等统一取值，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特效工作台反推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4133" y="4978400"/>
            <a:ext cx="76200" cy="76200"/>
          </a:xfrm>
          <a:prstGeom prst="rect">
            <a:avLst/>
          </a:prstGeom>
          <a:solidFill>
            <a:srgbClr val="F5F5F5">
              <a:alpha val="4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1933" y="4889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933" y="5245100"/>
            <a:ext cx="3246967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三个工具按同一套配色收口；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组件和形状还在逐步统一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工作方法：批量需求的三阶段协作流程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明确需求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9600" y="13843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需求定义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目标、引擎约束、验收标准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9600" y="17907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技术选型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由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梳理所需技术，选择最简可行方案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9600" y="21971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先拆解结构，再调整参数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9600" y="2755900"/>
            <a:ext cx="513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建立规范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9600" y="29718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任务拆分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按效果、工具、编排划分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负责人，避免互相覆盖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9600" y="33782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宪章与规范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标准、参数、交互、编排、贴图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9600" y="37846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执行前读取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先读规范与交接，中断后可接续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9600" y="4343400"/>
            <a:ext cx="513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016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结果把关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9600" y="45593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自动检查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9600" y="49657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状态分离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执行结束、AI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自检、人工验收分别记录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9600" y="5372100"/>
            <a:ext cx="5130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版本锁定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通过的版本锁定，在同一规则下派生复用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可复用的场景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311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222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重复性设置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514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由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开发工具，按规范批量处理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136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048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复杂效果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340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先拆解结构，再模拟并烘焙为序列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96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873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165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以表驱动，修改成本低于逐轨调整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4600" y="48260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建议从一项重复性工作入手：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先明确输入、标准与检查方式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946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工具获取与复用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功能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5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使用方式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1638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1790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000" y="1790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模拟、取景、打包、引擎回放，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2500" y="1790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基于案例调整参数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双击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HTML，使用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Chrome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或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Edge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654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806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2806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检查素材包，按规范设置，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2500" y="2806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入口在烘焙器「资源交付」页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需要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插件和本机交付服务；先在测试工程试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670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822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3822700"/>
            <a:ext cx="355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音乐、点位、模板生成导演表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2500" y="3822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离线页面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打开节目文件后编辑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4686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8260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工具包存放位置：xx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219700"/>
            <a:ext cx="698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首批提供烘焙器与案例；导入器与编排工作台完善后补充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562600"/>
            <a:ext cx="698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案例只是载体，重点是一种工作方式：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从具体问题出发，由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参与实现，沉淀可检查、可复用的成果。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5000" y="4826000"/>
            <a:ext cx="33274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66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125200" y="5816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