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bd024093d46d8" /><Relationship Type="http://schemas.openxmlformats.org/officeDocument/2006/relationships/extended-properties" Target="/docProps/app.xml" Id="Re8ad27f11ea34900" /><Relationship Type="http://schemas.openxmlformats.org/officeDocument/2006/relationships/officeDocument" Target="/ppt/presentation.xml" Id="R2fc39170a7c44f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570689efda48ae"/>
  </p:sldMasterIdLst>
  <p:notesMasterIdLst>
    <p:notesMasterId xmlns:r="http://schemas.openxmlformats.org/officeDocument/2006/relationships" r:id="Ra540d01565fb4b45"/>
  </p:notesMasterIdLst>
  <p:sldIdLst>
    <p:sldId xmlns:r="http://schemas.openxmlformats.org/officeDocument/2006/relationships" id="256" r:id="R7f69d05ac847471a"/>
    <p:sldId xmlns:r="http://schemas.openxmlformats.org/officeDocument/2006/relationships" id="257" r:id="Rb5d7fcf8b709431d"/>
    <p:sldId xmlns:r="http://schemas.openxmlformats.org/officeDocument/2006/relationships" id="258" r:id="R55a1e6bf822b49ea"/>
    <p:sldId xmlns:r="http://schemas.openxmlformats.org/officeDocument/2006/relationships" id="259" r:id="Re0ce5b73b12848ce"/>
    <p:sldId xmlns:r="http://schemas.openxmlformats.org/officeDocument/2006/relationships" id="260" r:id="Rf7f87d1a209445ff"/>
    <p:sldId xmlns:r="http://schemas.openxmlformats.org/officeDocument/2006/relationships" id="261" r:id="Rb706043319754d24"/>
    <p:sldId xmlns:r="http://schemas.openxmlformats.org/officeDocument/2006/relationships" id="262" r:id="R87dc7d49b90b40c0"/>
    <p:sldId xmlns:r="http://schemas.openxmlformats.org/officeDocument/2006/relationships" id="263" r:id="Re3ddd56d0bbb4a45"/>
    <p:sldId xmlns:r="http://schemas.openxmlformats.org/officeDocument/2006/relationships" id="264" r:id="R809e656971c344ed"/>
    <p:sldId xmlns:r="http://schemas.openxmlformats.org/officeDocument/2006/relationships" id="265" r:id="Rced2443356734558"/>
    <p:sldId xmlns:r="http://schemas.openxmlformats.org/officeDocument/2006/relationships" id="266" r:id="R078440a124e44b02"/>
    <p:sldId xmlns:r="http://schemas.openxmlformats.org/officeDocument/2006/relationships" id="267" r:id="R6fe2ab82063e4951"/>
    <p:sldId xmlns:r="http://schemas.openxmlformats.org/officeDocument/2006/relationships" id="268" r:id="R3817e09a5a034daa"/>
    <p:sldId xmlns:r="http://schemas.openxmlformats.org/officeDocument/2006/relationships" id="269" r:id="R494fcbd015a54a4b"/>
    <p:sldId xmlns:r="http://schemas.openxmlformats.org/officeDocument/2006/relationships" id="270" r:id="R5ecda3e819ab410b"/>
    <p:sldId xmlns:r="http://schemas.openxmlformats.org/officeDocument/2006/relationships" id="271" r:id="R7804c66d6cd44ccb"/>
    <p:sldId xmlns:r="http://schemas.openxmlformats.org/officeDocument/2006/relationships" id="272" r:id="R0d65ed5e2cb74d73"/>
    <p:sldId xmlns:r="http://schemas.openxmlformats.org/officeDocument/2006/relationships" id="273" r:id="Rd32971844f64483d"/>
    <p:sldId xmlns:r="http://schemas.openxmlformats.org/officeDocument/2006/relationships" id="274" r:id="Ra13c40fe84244a0a"/>
    <p:sldId xmlns:r="http://schemas.openxmlformats.org/officeDocument/2006/relationships" id="275" r:id="R6472df7fe1894427"/>
    <p:sldId xmlns:r="http://schemas.openxmlformats.org/officeDocument/2006/relationships" id="276" r:id="R99df7b5a82f645a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b4b774e9c45c7" /><Relationship Type="http://schemas.openxmlformats.org/officeDocument/2006/relationships/slideMaster" Target="/ppt/slideMasters/slideMaster1.xml" Id="R79570689efda48ae" /><Relationship Type="http://schemas.openxmlformats.org/officeDocument/2006/relationships/notesMaster" Target="/ppt/notesMasters/notesMaster1.xml" Id="Ra540d01565fb4b45" /><Relationship Type="http://schemas.openxmlformats.org/officeDocument/2006/relationships/presProps" Target="/ppt/presProps.xml" Id="Re93795471f61402a" /><Relationship Type="http://schemas.openxmlformats.org/officeDocument/2006/relationships/viewProps" Target="/ppt/viewProps.xml" Id="R70b970cae37e4767" /><Relationship Type="http://schemas.openxmlformats.org/officeDocument/2006/relationships/tableStyles" Target="/ppt/tableStyles.xml" Id="R3b7eb9ba8f7e44b1" /><Relationship Type="http://schemas.openxmlformats.org/officeDocument/2006/relationships/slide" Target="/ppt/slides/slide1.xml" Id="R7f69d05ac847471a" /><Relationship Type="http://schemas.openxmlformats.org/officeDocument/2006/relationships/slide" Target="/ppt/slides/slide2.xml" Id="Rb5d7fcf8b709431d" /><Relationship Type="http://schemas.openxmlformats.org/officeDocument/2006/relationships/slide" Target="/ppt/slides/slide3.xml" Id="R55a1e6bf822b49ea" /><Relationship Type="http://schemas.openxmlformats.org/officeDocument/2006/relationships/slide" Target="/ppt/slides/slide4.xml" Id="Re0ce5b73b12848ce" /><Relationship Type="http://schemas.openxmlformats.org/officeDocument/2006/relationships/slide" Target="/ppt/slides/slide5.xml" Id="Rf7f87d1a209445ff" /><Relationship Type="http://schemas.openxmlformats.org/officeDocument/2006/relationships/slide" Target="/ppt/slides/slide6.xml" Id="Rb706043319754d24" /><Relationship Type="http://schemas.openxmlformats.org/officeDocument/2006/relationships/slide" Target="/ppt/slides/slide7.xml" Id="R87dc7d49b90b40c0" /><Relationship Type="http://schemas.openxmlformats.org/officeDocument/2006/relationships/slide" Target="/ppt/slides/slide8.xml" Id="Re3ddd56d0bbb4a45" /><Relationship Type="http://schemas.openxmlformats.org/officeDocument/2006/relationships/slide" Target="/ppt/slides/slide9.xml" Id="R809e656971c344ed" /><Relationship Type="http://schemas.openxmlformats.org/officeDocument/2006/relationships/slide" Target="/ppt/slides/slide10.xml" Id="Rced2443356734558" /><Relationship Type="http://schemas.openxmlformats.org/officeDocument/2006/relationships/slide" Target="/ppt/slides/slide11.xml" Id="R078440a124e44b02" /><Relationship Type="http://schemas.openxmlformats.org/officeDocument/2006/relationships/slide" Target="/ppt/slides/slide12.xml" Id="R6fe2ab82063e4951" /><Relationship Type="http://schemas.openxmlformats.org/officeDocument/2006/relationships/slide" Target="/ppt/slides/slide13.xml" Id="R3817e09a5a034daa" /><Relationship Type="http://schemas.openxmlformats.org/officeDocument/2006/relationships/slide" Target="/ppt/slides/slide14.xml" Id="R494fcbd015a54a4b" /><Relationship Type="http://schemas.openxmlformats.org/officeDocument/2006/relationships/slide" Target="/ppt/slides/slide15.xml" Id="R5ecda3e819ab410b" /><Relationship Type="http://schemas.openxmlformats.org/officeDocument/2006/relationships/slide" Target="/ppt/slides/slide16.xml" Id="R7804c66d6cd44ccb" /><Relationship Type="http://schemas.openxmlformats.org/officeDocument/2006/relationships/slide" Target="/ppt/slides/slide17.xml" Id="R0d65ed5e2cb74d73" /><Relationship Type="http://schemas.openxmlformats.org/officeDocument/2006/relationships/slide" Target="/ppt/slides/slide18.xml" Id="Rd32971844f64483d" /><Relationship Type="http://schemas.openxmlformats.org/officeDocument/2006/relationships/slide" Target="/ppt/slides/slide19.xml" Id="Ra13c40fe84244a0a" /><Relationship Type="http://schemas.openxmlformats.org/officeDocument/2006/relationships/slide" Target="/ppt/slides/slide20.xml" Id="R6472df7fe1894427" /><Relationship Type="http://schemas.openxmlformats.org/officeDocument/2006/relationships/slide" Target="/ppt/slides/slide21.xml" Id="R99df7b5a82f645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044732706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092fd2b1024d65" /><Relationship Type="http://schemas.openxmlformats.org/officeDocument/2006/relationships/notesMaster" Target="/ppt/notesMasters/notesMaster1.xml" Id="Rc34abdc40dd14b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49d14021744a7" /><Relationship Type="http://schemas.openxmlformats.org/officeDocument/2006/relationships/notesMaster" Target="/ppt/notesMasters/notesMaster1.xml" Id="R7d6ed64bd30546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35eba74d444aa9" /><Relationship Type="http://schemas.openxmlformats.org/officeDocument/2006/relationships/notesMaster" Target="/ppt/notesMasters/notesMaster1.xml" Id="R86ec557d09384a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de2669189f4d9b" /><Relationship Type="http://schemas.openxmlformats.org/officeDocument/2006/relationships/notesMaster" Target="/ppt/notesMasters/notesMaster1.xml" Id="R2e961168b666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d2129764d244e2" /><Relationship Type="http://schemas.openxmlformats.org/officeDocument/2006/relationships/notesMaster" Target="/ppt/notesMasters/notesMaster1.xml" Id="R8e4279511ec349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e41e6d74d44c2" /><Relationship Type="http://schemas.openxmlformats.org/officeDocument/2006/relationships/notesMaster" Target="/ppt/notesMasters/notesMaster1.xml" Id="R507d04c29d8546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7a88a978404d9c" /><Relationship Type="http://schemas.openxmlformats.org/officeDocument/2006/relationships/notesMaster" Target="/ppt/notesMasters/notesMaster1.xml" Id="R52996258e79b46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3d29d8298463d" /><Relationship Type="http://schemas.openxmlformats.org/officeDocument/2006/relationships/notesMaster" Target="/ppt/notesMasters/notesMaster1.xml" Id="Rdeff7928aa664f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c1513320f84bc9" /><Relationship Type="http://schemas.openxmlformats.org/officeDocument/2006/relationships/notesMaster" Target="/ppt/notesMasters/notesMaster1.xml" Id="R88f43035189d48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fa2e481ff24049" /><Relationship Type="http://schemas.openxmlformats.org/officeDocument/2006/relationships/notesMaster" Target="/ppt/notesMasters/notesMaster1.xml" Id="R9475bef8079847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8730d2aec44edb" /><Relationship Type="http://schemas.openxmlformats.org/officeDocument/2006/relationships/notesMaster" Target="/ppt/notesMasters/notesMaster1.xml" Id="R3e0554690dbe4c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e57584296146aa" /><Relationship Type="http://schemas.openxmlformats.org/officeDocument/2006/relationships/notesMaster" Target="/ppt/notesMasters/notesMaster1.xml" Id="R4a16d9ea2e1a41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2b640a15134f05" /><Relationship Type="http://schemas.openxmlformats.org/officeDocument/2006/relationships/notesMaster" Target="/ppt/notesMasters/notesMaster1.xml" Id="Rc64b83abfe714d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623df846e14962" /><Relationship Type="http://schemas.openxmlformats.org/officeDocument/2006/relationships/notesMaster" Target="/ppt/notesMasters/notesMaster1.xml" Id="R0cf9f4c3381046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388c7b9828427a" /><Relationship Type="http://schemas.openxmlformats.org/officeDocument/2006/relationships/notesMaster" Target="/ppt/notesMasters/notesMaster1.xml" Id="Re4abe85b5fc345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2f568f75ad4a6d" /><Relationship Type="http://schemas.openxmlformats.org/officeDocument/2006/relationships/notesMaster" Target="/ppt/notesMasters/notesMaster1.xml" Id="R4ccd66be6ba74c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a9a43a98fa446f" /><Relationship Type="http://schemas.openxmlformats.org/officeDocument/2006/relationships/notesMaster" Target="/ppt/notesMasters/notesMaster1.xml" Id="Ra165f889f8a341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076bc958924b8f" /><Relationship Type="http://schemas.openxmlformats.org/officeDocument/2006/relationships/notesMaster" Target="/ppt/notesMasters/notesMaster1.xml" Id="Rc79254a426dd45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6c0e71a57f40cd" /><Relationship Type="http://schemas.openxmlformats.org/officeDocument/2006/relationships/notesMaster" Target="/ppt/notesMasters/notesMaster1.xml" Id="R79fb403156434d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cd85e686d54ef1" /><Relationship Type="http://schemas.openxmlformats.org/officeDocument/2006/relationships/notesMaster" Target="/ppt/notesMasters/notesMaster1.xml" Id="R375e057846214b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e0d09770d24604" /><Relationship Type="http://schemas.openxmlformats.org/officeDocument/2006/relationships/notesMaster" Target="/ppt/notesMasters/notesMaster1.xml" Id="R5d94e510ebe04a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今天想分享的是这次跨年烟花制作里，我怎么把资源制作、项目接入和音乐编排串到一起。过程中做了几块工具，也走了一些弯路。我会先讲它们为什么出现，再看实际产出，最后用几个具体问题讲清楚技术上怎么取舍，以及这些经验怎样留到下一次继续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这次分享的是一条烟花工具链。它从具体制作任务出发，逐步连起做效果、进入引擎和排节目。我负责目标、效果判断、规范和验收，AI按职责完成推导、实现与自检。接下来先说为什么需要它，再用几次具体取舍解释它怎样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第一版封面与模板；封面背景为原有示意图。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按跨年烟花3.0的开花名称归并，PC有26种花型，手游采用其中12种，尾缀与升空组件另外统计。这批资源直接引用212张贴图和115个材质实例。数量上来以后，负担不只在做效果：每次修改，都要再处理两端导出、资源合入、材质绑定和设置检查。漏掉一个步骤，往往到播放时才暴露。因此我希望把这些重复动作串起来，让每一轮修改都能按同样的入口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先把资源数和花型数分开。跨年烟花3.0按开花名称归并后，PC有26种，手游采用其中12种；尾缀和窜天猴部件另算。第一版的51是手游粒子资产数，包含档位和部件，不是51种烟花。这批库存直接引用212张贴图、115个材质实例。真正增加工作量的，是每次修改后都要再走制作、两端导出、合入、绑定和检查。这里把设置合并说明，具体勾选交给工具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核验依据/verify_A1_A2.md</a:t>
            </a:r>
          </a:p>
          <a:p xmlns:a="http://schemas.openxmlformats.org/drawingml/2006/main">
            <a:r>
              <a:t>analysis/local/20261028_LiteHDR_手游贴图Mip/inventory.json</a:t>
            </a:r>
          </a:p>
          <a:p xmlns:a="http://schemas.openxmlformats.org/drawingml/2006/main">
            <a:r>
              <a:t>analysis/local/_tmp/ppt2/me/tex_left.jpg；cas_emitters.jpg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去年主要靠手工匹配定序器，12个子序列里有2726条轨道。音乐或节奏一变，很多关联都要重新维护，资源和内存压力也比较大。今年演出目标更大、版本时间又紧。虽然我与程序共同设计了更新的导演蓝图，人工逐段对拍仍然困难。所以我把设计移到可视化的编排工作台：在时间线上改段落和节奏，再生成导演表。右边这套设计是219.5秒、24个点位和492个编排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去年主要靠手工匹配定序器。旧工程有12个子序列、2726条轨道，音乐或节奏一变，要维护的关联很多，用户也反馈了性能和内存压力。今年的目标更大，版本周期又紧。虽然我与程序共同设计了新的导演蓝图，人工逐段修改、匹配音乐仍然困难。因此把编排移到可视工作台，在时间线上改设计，再生成导演表。右侧是B11修订3的设计规模；两年的统计对象不同，不用它们计算增长倍数，也不据此宣称性能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核验依据/verify_A3_A5_A6.md</a:t>
            </a:r>
          </a:p>
          <a:p xmlns:a="http://schemas.openxmlformats.org/drawingml/2006/main">
            <a:r>
              <a:t>第一版旧定序器原图；B11r3编排记录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资源制作并不是从零开始。本机原本就有一套 Blender 烟花工程，里面有现成的粒子结构和多轮版本，可以帮助我理解花型和运动是怎样形成的。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继续做下去以后，我发现自己需要更快地判断：这个花在目标镜头里是否清楚，改完能不能稳定地导出，导出的东西怎样进入游戏。原有流程里，预览、等待和导入导出的边界会打断这个过程。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我把需求收窄到这次项目：围绕游戏的舞台、距离和交付规格，做一个专用的二维序列烘焙器。重点是让每轮迭代围绕同一组目标进行，预览、输出和接入能接得上。这里最大的收获，也是开始把“想要什么画面”写成能检查的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起点是我在本机已有的Blender烟花工程。它积累了粒子层、运动与外观经验，但在当时的工作流里，渲染等待、交互和预览导出不明确拖慢了迭代。我需要的是游戏镜头中的效果，不是完整的三维制作环境，所以把输出收敛到特定舞台、观察方向和制作规范。烘焙器内仍会计算粒子的运动和深度，最终交付是二维序列。旧工程的13类仙女棒火星等经验被继承；同时把旧项目踩过的坑写成职责、交接和验收约定。这里没有做跨软件基准测试，也不声称固定倍数的提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D:/Blender/Firework_FX_Lab；assets/Sparkler/V05/parameters.json</a:t>
            </a:r>
          </a:p>
          <a:p xmlns:a="http://schemas.openxmlformats.org/drawingml/2006/main">
            <a:r>
              <a:t>核验依据/verify_A1_A2.md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最后形成了三块工具。烘焙器负责把花型做成可交付的序列；接入工具负责按约定生成和检查项目资源；编排器负责把这些资源放进音乐和舞台结构里。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们之间最重要的是交接关系。同一个花型叫什么，尺寸和时间怎样描述，主图和辅助图怎样对应，哪些信息需要交给下一步，都要提前说清楚。这样一次调整才能沿着链路往下走，而不是每到一个环节都重新猜一遍。后面展示的成果，也会按这三块来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第一段是烘焙器，模拟和烘焙效果，一次生成PC、手游素材。第二段是导入器，读素材包，批量创建和设置资源。第三段是编排工作台，在音乐时间线上安排花型、点位和节奏，生成导演表，最后由UE导演蓝图播放。它们之间靠固定的素材包、导入清单和导演表衔接；一端修改，另一端仍然能识别。这使资源量产、接入和节目编排成为可重复的一条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第一版三工具流程及实际界面</a:t>
            </a:r>
          </a:p>
          <a:p xmlns:a="http://schemas.openxmlformats.org/drawingml/2006/main">
            <a:r>
              <a:t>核验依据/verify_A3_A5_A6.md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做花型之前，我先回到它最终出现的地方。这个设计以宽800米、坝顶高150米的场地为参照，坝顶有9个主点和8个点间位置，前台另有7个低位点。图上先展开坝顶主点，相邻间距100米。观看距离和分辨率决定画面里能看见多少细节，舞台与点位决定花型的大小、开花高度和组合。先建立共同尺度，再把它写进宪章，后续资源制作和编排才知道怎样判断偏小、偏密或互相遮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设计参照：坝体宽800m，坝顶高150m。P为坝顶主点9个，B为坝顶点间8个，F为前台低位7个。图只展开P，不把三组位置解释为前中后三排。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核验依据/verify_A3_A5_A6.md；编排22记录、现行宪章 v2.15及舞台设计材料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有了舞台尺度，还需要决定花和花之间是什么关系。我把花型分成不同尺寸档位，然后把花径和点位间距放在一起看。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花径比较小时，每个花能保持独立，适合看清节奏和单个形状；继续增大，就会逐渐形成连续的墙面；再往上加，中心区域容易互相盖住，层次开始糊在一起。前后排也要看重叠程度，不能只检查同一排。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所以这套规格不只是给资源起几个大小名字。它帮助我在编排前就知道哪些组合适合疏、哪些适合满，以及什么时候应该减掉内容。图里的比例是这次项目形成的设计经验，实际效果还要回到镜头里看。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同一个点距，花径越大，重叠越强。设计中把开花资源分成S、M、L和Hero，名义花径分别为90、150、230、280米；高度是在坝顶基准上的参考值。它们不是每个节目都固定不变，墙面构图还使用另一些中心高度。以100米点距为例，150米花径大约是1.5倍，仍可辨认单花；230米约2.3倍，会形成花墙；到3倍容易糊成一片。这是项目的构图经验，实际还看机位、形状和时序。最后把可用组合写进宪章，让后续做花、做尾缀和编排都有共同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核验依据/verify_A3_A5_A6.md；编排22及现行宪章 v2.15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这套工具的实现工作里，AI 参与得很多。我自己的主要工作，是把问题拆清楚，确定方向、标准和验收方式，再对结果作判断。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资源问题和编排问题需要不同的上下文，界面和技术验证也不能混成一件事。我会让不同职责沿着各自的范围推进，再把结果放回实际项目检查。遇到一个看起来合理的结论，要继续确认它对应的是源工程、导出包，还是游戏里的画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这样的分工让我能同时推进几块工作，但最后的取舍仍然要统一：哪些功能现在需要，哪些数据足以支持决定，哪些地方应该停下来补证据。这也是工具能保持同一方向的关键。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这个阶段约有2200次仓库提交，包含352次自动回传，烘焙器留下近200条版本记录。它们体现的是持续迭代，不是独立功能的数量。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我一个人对接AI，承担的不是单一执行角色，而是目标拆解、参考判断、规范设计、整合和验收。效果负责人关心运动与外观，底层负责人关心渲染、导出和检查，编排负责人关心音乐、构图和预算。职责之间靠明确任务边界和固定交接对齐；实现、自检和用户验收分开记录。这个版本阶段约有2200次仓库提交，其中352次为自动回传；烘焙器有近200条版本记录。这些是迭代记录，不等于全部手工操作或200项独立功能。导演蓝图和贴图规范也分别有程序、性能组的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核验依据/verify_A1_A2.md</a:t>
            </a:r>
          </a:p>
          <a:p xmlns:a="http://schemas.openxmlformats.org/drawingml/2006/main">
            <a:r>
              <a:t>A2 Blender与协作记录；A5方法论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先看资源制作的结果。这些都是现有的 UE 资产试放截图，可以看到不同花型在颜色、外轮廓和内部层次上的区别。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按艺术花型来统计，PC 这套跨年资源是二十六种，手游是十二种。尾缀和升空组件另外统计，平台高低档和组件拆分也不会重复算成新的花型。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我来说，铺量的意义在于同一个制作方法可以继续处理不同形态：不只做出一张好看的样例，而是能够按共同规格组织一组资源，再拿到游戏里逐个看效果。这里先让大家看画面，下一页再看这些结果怎样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这里直接看已有UE资产试放画面。六张图分别是金蕊柠、金锦菊、小青柠、小金花、银白菊和爆裂星，能看到放射、双色、亮点和爆裂等不同层次。跨年3.0库存归并为26种PC开花花型，手游包含其中12种。核对配方和导出材料，其中20种能找到烘焙器相关材料；这个数字不表示20套完全独立的原始模拟，其中也有复用和派生。这里展示的是已经存在的资产试放，不冒充整场最后版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analysis/local/20261022_LiteHDR_批量修正/shots/pc_after/；具体文件见素材索引</a:t>
            </a:r>
          </a:p>
          <a:p xmlns:a="http://schemas.openxmlformats.org/drawingml/2006/main">
            <a:r>
              <a:t>核验依据/verify_A1_A2.md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一个花型的输出，不只是主序列，还包括Ramp、Cutout，以及让下一步知道怎样使用它的描述信息。它们按同一套格式组织，导入器就能批量处理、检查缺项，减少零散文件之间的人工匹配。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存466份导出清单累计记录了4022份素材PNG，其中主序列1971份。这些记录包含同一资源的反复迭代。它们的意义，是每轮修改都有可以回看的交付结果：需要核对参数、恢复版本或重新导入时，都能沿着同一份包往下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一个资源输出的不只是主序列，还包括Ramp、Cutout和绑定配置。素材包让导入器知道每张图的作用，批量创建并执行对应规则。现存466份导出清单累计记录4022份素材PNG，其中主序列1971份；其余包括Ramp、Cutout和单帧。另外155张是检查图，不计入4022。这些都是含迭代的累计记录，不能当成4022个独立成品，也不能把466写成实际点击导出的次数。接入收益是把逐项设置变成读包、批量创建和检查，减少每一版的重复操作。本页主序列为仙女棒展开示例，导入器为Fixture接入流程示例，两图不表示同一个资源的前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核验依据/verify_A1_A2.md；466份导出清单.json复算</a:t>
            </a:r>
          </a:p>
          <a:p xmlns:a="http://schemas.openxmlformats.org/drawingml/2006/main">
            <a:r>
              <a:t>素材/16_仙女棒_64帧序列贴图.jpg；第一版第9页导入器Fixture流程示例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编排工作台把前面确定的资源规格和点位带到时间线上。现在调整一个段落时，可以同时看到音乐时间、花型选择和发射安排，修改也能在这个结构里进行。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同一份设计还需要面对不同平台和档位，所以输出时会按照对应规则生成不同结果，并做预算检查。这样调整设计和检查输出有了共同入口，后续修改不再完全依赖记住一大组手工轨道。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这套工具目前的价值，是把编排过程显式地组织起来，让修改有依据、结果能回查。最终运行表现仍然要以目标设备和完整演出的测试为准。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工作台把音乐、点位和事件放到同一时间线上。修改不再从大量轨道里找单次播放，而是调整编排设计，再按模板展开。节目从B01迭代到B11，保存了编排迭代记录；右侧是B11修订3分别面向PC与手游的高、中、低档播放事件数，不能相加成一场。按档位出表和预算检查已经存在，但音乐对拍仍有改进空间，强拍指标还没达到设定目标；目标设备整场性能也还需要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核验依据/verify_A3_A5_A6.md；B11r3与编排工作台历史截图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下面讲两个制作上的具体取舍。仙女棒看起来是一束连续的火星，但拆开以后，里面有主火星、细火星和由父粒子继续产生的子粒子，不同部分的速度和寿命也不一样。原来的 Blender 版本把这些内容分成了十三层。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我希望把复杂度留在制作阶段：先用父子关系、出生位置和部分速度继承，把运动组织出来，再把组合结果烘焙成主序列。这样交付到项目时，可以用一个 Main 发射器承载主要表现，而不用逐层重建同样的关系。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也不是把参数逐个照抄就结束。运动是否自然、密度是否合适、在目标镜头里还能不能看见，都需要围绕最终画面继续调整。这页大图是烘焙器历史回放，用来展示形态。4.9.118候选包已核对为每平台一个Main发射器和一张64帧主序列，另有Ramp、Cutout；候选游戏观感仍待UE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复杂火星放到这里讲，才能看清制作思路的转变。13类火星来自原Blender V05：一个系统里有13个发射层，不是13个独立系统。AI把它们迁入通用亲子粒子图，子粒在母粒事件位置出生，继承部分速度，形成一级、延迟与二级分叉；再通过快门积分、粒子深度和散焦组织清晰与模糊的层次。复杂度主要留在烘焙阶段。实际4.9.118候选包中，PC、手游各有一个CPU Main面片发射器和一张64帧主序列，另有Ramp和Cutout。大图是第一版沿用的烘焙器历史回放，独立于4.9.118候选实包结构核验，尚没有UE观感验收；不把这张图称为最终实机效果。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D:/Blender/Firework_FX_Lab/assets/Sparkler/V05/parameters.json</a:t>
            </a:r>
          </a:p>
          <a:p xmlns:a="http://schemas.openxmlformats.org/drawingml/2006/main">
            <a:r>
              <a:t>analysis/results/GraphFraming/SGS1/candidate/Sparkler_Graph.zip</a:t>
            </a:r>
          </a:p>
          <a:p xmlns:a="http://schemas.openxmlformats.org/drawingml/2006/main">
            <a:r>
              <a:t>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尾缀的问题与仙女棒不同。它的运动跨度很长，快的阶段如果采样太稀，位置就会一跳一跳；为了减少资源占用而把所有阶段都压成同样低的帧率，画面反而更容易露出问题。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后来我按运动阶段重新分配采样：移动快、变化明显的部分保留更多帧，运动缓慢的部分再收紧。近段和远段的表现也分开考虑，重点是每一帧之间在画面上移动了多少，而不是只看序列总共有多少帧。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同时还要看贴图形状。尾缀很细很长，如果压缩后有效像素太少，近一些的镜头就容易发软。所以这一页的取舍，需要把运动、观看距离和纹理规格一起判断，不能只用一个统一帧率回答。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尾缀不是简单增加帧数。先把表示方式拆开：近段随弹体，远段保留较老的火星；这里近远是年龄和表示范围，不是相机LOD。历史PC的S到Hero启用近段RiseLoop与远段TrailFar，Tiny、XS与手游则采用一条TrailFull。然后在800米、1080p的观察条件下，把速度积分换算成屏幕位移，快处密采样，慢处才减帧。旧L的最慢采样约1.9fps，远处仍有5到6像素跳动；4.9.31这一轮L上升段最慢提高到30fps。时间更密也有代价，L单格高度曾从2048降到512，近看会更软。公式、版本和发射器范围放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analysis/原理/升空尾缀.md</a:t>
            </a:r>
          </a:p>
          <a:p xmlns:a="http://schemas.openxmlformats.org/drawingml/2006/main">
            <a:r>
              <a:t>tool/src/js/31_plan40.js；tool/CHANGELOG.md 4.9.26、4.9.31</a:t>
            </a:r>
          </a:p>
          <a:p xmlns:a="http://schemas.openxmlformats.org/drawingml/2006/main">
            <a:r>
              <a:t>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里是实际UE的同条件对照。一开始看起来都是“不清楚”，继续拆查后，发现原因不同。左边是尾缀方头：细长序列格在缩放和Mip选择中丢失了形状细节。右边是金芒菊首次激活时模糊：主图分辨率还没有到位，后续播放才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所以修复也要分别处理采样和流送，再用同机位、同档位、同一时刻回看。最终接入规则按平台区分：PC主序列NoMip；手游保留Mip与流送，最大1024。这次经验是先把症状拆开，才知道应该固定哪一条规则。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这页都是已有UE受控对比，同机位、同档位、同一播放时刻，裁图没有增强亮度。左边是尾缀6.8秒，长条格缩放后取到低Mip，头部出现方块；右边是金芒菊0.29秒，首次激活时分辨率未到位，先糊后清。排查过程并非一次猜中：先后隔离半透明降分辨率、各向异性、主序列Mip和Ramp，最后把不同症状分开。最后的规则也不是全平台NoMip：PC主序列NoMip，手游因内存取舍保留Mip和流送并限制到1024。完整轮次和最终方案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analysis/results/LOWQ_FIX_20261018/方案与对比.md</a:t>
            </a:r>
          </a:p>
          <a:p xmlns:a="http://schemas.openxmlformats.org/drawingml/2006/main">
            <a:r>
              <a:t>同目录两幅UE对照原图；素材索引记录精确裁切坐标</a:t>
            </a:r>
          </a:p>
          <a:p xmlns:a="http://schemas.openxmlformats.org/drawingml/2006/main">
            <a:r>
              <a:t>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还有两类问题，最后都需要回到数据的表达方式。黑点的旧写法让RGB逐渐变黑，但Alpha仍为一，半透明混合时可能留下遮挡。新的导出把颜色和消失过程分开：颜色保留色相，淡出与闪烁交给Alpha，并加入生命周期控制；这套新写法还待UE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Ramp末格黑块则采用EmissiveDissolve设为0.98，用户确认问题解决，导出和导入也写入了这条规则。右边是规则应用后的UE画面，现存资料只有修后单侧。修复不只停留在一个文件里，还要让下一批资源沿用。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这里有两种问题，不能混成一个根因。黑点的旧导出让RGB变黑，而Alpha仍是一，半透明混合时可能留下遮挡；新写法保留颜色，把淡出和闪烁交给Alpha，同时加入Scale Color/Life。左右是实际JSON参数的前后概括，但新写法尚未找到UE验证记录。Ramp末格黑块则有用户明确确认：EmissiveDissolve设为0.98后问题直接解决，这一规则已写入导出和导入。右图是规则应用后的金垂柳UE实播，不是同条件前后对照。黑末格采样可解释现象；BC7或旧序列错配曾调查，不能写成已确证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analysis/results/RT6LE3/RiseTailL_cascade.json；RT6LE4/RiseTailL_cascade.json</a:t>
            </a:r>
          </a:p>
          <a:p xmlns:a="http://schemas.openxmlformats.org/drawingml/2006/main">
            <a:r>
              <a:t>analysis/results/资源规范统一_20261016/第2步UE证据.jpg</a:t>
            </a:r>
          </a:p>
          <a:p xmlns:a="http://schemas.openxmlformats.org/drawingml/2006/main">
            <a:r>
              <a:t>对话记录/对话框23.md；核验依据/verify_A4.md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做工具时，界面会直接影响调参效率。一个参数放在哪里、什么条件下有效、改动之后该看哪里，如果这些关系不清楚，就容易出现反复拖动一个当前不起作用的参数。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所以我把参数按使用任务分组，并尽量让失效条件和相关说明直接可见。常用操作保持稳定入口，预览和输出各自有明确位置。视觉上沿用团队工具的 DF 风格，把可以共享的颜色等基础规则集中起来。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这里的目标很具体：让工具在反复修改以后，仍然容易找、容易用，也能保持统一的观感。已经落地的公共基础继续复用，更大的界面方案则逐步验证。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参数越多，界面越容易变成一长列开关。我的要求是按真实制作任务组织：先生成，再看形状、初速、受力、寿命和亮度。对没有生效的参数，要能看到启用状态与依赖，减少反复试错。宪章约束行为和布局，颜色令牌约束视觉基础，让DF特效工作台形成稳定的三角洲风格。这里展示的是4.9.124生产版实际参数区与资源列表，裁掉了空预览区。共享颜色已经落地，组件、字阶与所有工具的全面统一还在逐步推进，V5隔离设计没有冒充生产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tool/design-system/tokens.json v0.1.1</a:t>
            </a:r>
          </a:p>
          <a:p xmlns:a="http://schemas.openxmlformats.org/drawingml/2006/main">
            <a:r>
              <a:t>analysis/results/20261028_V5视觉交互复核/01_124_编辑_1920.jpg</a:t>
            </a:r>
          </a:p>
          <a:p xmlns:a="http://schemas.openxmlformats.org/drawingml/2006/main">
            <a:r>
              <a:t>核验依据/verify_A3_A5_A6.md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回过头看，我觉得有三件事最值得留下。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第一，先建立共同尺度。舞台、观看条件、资源规格和交付格式说清楚，后面每一步才知道怎样判断。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第二，让修改有依据。任务分开、版本留存、关键结果回到实际项目检查，才能知道这次改动到底解决了什么。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第三，把重复问题固化成规则。技术问题变成导出和导入约束，界面问题变成参数分组和公共设计基础。这样工具才会随着使用逐渐稳定，下一次可以从已有成果继续推进。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最后收成三条。第一，先把目标、限制、交付和验收标准写清楚，减少每轮对话重新解释。第二，以最后真正使用的结果为准，实现完成、自检通过和用户认可分别记录；遇到问题用同条件对比。第三，把修复落到工具与规则，稳定版本保留可回退基线，不靠人记住所有例外。对同事来说，可以从一件重复的小事开始：批量设置、复杂效果拆层，或者用数据表管理一组重复播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第一版方法页；A5与协作标准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这次沉淀下来的，是资源制作、项目接入和编排三块工具，以及配套的规格、检查方法和问题案例。现有烘焙器分享包带18个案例，可以先选一个效果跑完整制作流程。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把重复工作变成工具，把关键判断留给人。今天先分享到这里；如果大家对某个花型、尾缀采样或接入方式感兴趣，可以再结合附录和工程展开聊。谢谢。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这套方法可以先从一个案例跑完整流程：调整效果、导出素材包、检查接入，再看编排如何生成导演表。已有分享包包含烘焙器与18个案例；导入器、服务和编排工具的完整分发仍需要整理确认，发布位置也待补。这里不承诺一个尚未齐备的全工具包。我的收获是，把重复工作变成可以再次执行的工具，同时把方向、取舍和最终判断留给人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第一版工具分享包说明；核验依据/verify_A3_A5_A6.md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速度取模型中的v90，积分得到每帧世界位移，再换算到屏幕像素。0.77px来自项目样本经验，不是通用人眼阈值。4.9.26与4.9.31是两轮参数，不能拼成同一包。近远段按粒子年龄和表现结构拆分，不是相机LOD。历史PC S/M/L/Hero启用两层CPU段，Tiny/XS与手游是一条全段；GPU槽当轮停用，原RT6另有GPU，不能一概宣称所有尾缀只有一个发射器。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速度取模型中的v90，积分得到每帧世界位移，再换算到屏幕像素。0.77px来自项目样本经验，不是通用人眼阈值。4.9.26与4.9.31是两轮参数，不能拼成同一包。近远段按粒子年龄和表现结构拆分，不是相机LOD。历史PC S/M/L/Hero启用两层CPU段，Tiny/XS与手游是一条全段；GPU槽当轮停用，原RT6另有GPU，不能一概宣称所有尾缀只有一个发射器。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tool/src/js/31_plan40.js:366–392</a:t>
            </a:r>
          </a:p>
          <a:p xmlns:a="http://schemas.openxmlformats.org/drawingml/2006/main">
            <a:r>
              <a:t>tool/CHANGELOG.md；analysis/原理/升空尾缀.md</a:t>
            </a:r>
          </a:p>
          <a:p xmlns:a="http://schemas.openxmlformats.org/drawingml/2006/main">
            <a:r>
              <a:t>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Blender V05一个system内确有13个emitters，1/30快门也已在原工程中，因此不把全部层次和成像说成AI从零发明。当前实现将其迁入通用亲子图，再修订运动与成像；子粒出生点与父粒事件绑定，速度部分继承。4.9.118候选ZIP直接核对：PC、手游各一个CPU Main、一张64帧主序列，另有Ramp/Cutout。当前图和包还不能证明UE朝向、Bloom、压缩和最终审美验收。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Blender V05一个system内确有13个emitters，1/30快门也已在原工程中，因此不把全部层次和成像说成AI从零发明。当前实现将其迁入通用亲子图，再修订运动与成像；子粒出生点与父粒事件绑定，速度部分继承。4.9.118候选ZIP直接核对：PC、手游各一个CPU Main、一张64帧主序列，另有Ramp/Cutout。当前图和包还不能证明UE朝向、Bloom、压缩和最终审美验收。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D:/Blender/Firework_FX_Lab/assets/Sparkler/V05/parameters.json</a:t>
            </a:r>
          </a:p>
          <a:p xmlns:a="http://schemas.openxmlformats.org/drawingml/2006/main">
            <a:r>
              <a:t>analysis/results/SparkGraph/来源.json</a:t>
            </a:r>
          </a:p>
          <a:p xmlns:a="http://schemas.openxmlformats.org/drawingml/2006/main">
            <a:r>
              <a:t>analysis/results/GraphFraming/SGS1/candidate/Sparkler_Graph.zip</a:t>
            </a:r>
          </a:p>
          <a:p xmlns:a="http://schemas.openxmlformats.org/drawingml/2006/main">
            <a:r>
              <a:t>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【朗读稿】</a:t>
            </a:r>
          </a:p>
          <a:p xmlns:a="http://schemas.openxmlformats.org/drawingml/2006/main">
            <a:r>
              <a:t>早期关注半透明降分辨率，但不足以解释全部症状。后续分别隔离各向异性、主序列Mip和Ramp，最终使用实际PerfGear低档同机位同时播放现状和NoMip，分清星头形状与首次流送。不同轮次条件不同，不能把早期默认低档与后来实测档位拼为一次测试。本轮找回用户方头现场反馈图，未附准确机位档位时刻，因此只作为现场反馈。黑点和Ramp末格没有恢复到成对UE原图，核验交付中保留部分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【核验备注，不朗读】</a:t>
            </a:r>
          </a:p>
          <a:p xmlns:a="http://schemas.openxmlformats.org/drawingml/2006/main">
            <a:r>
              <a:t>早期关注半透明降分辨率，但不足以解释全部症状。后续分别隔离各向异性、主序列Mip和Ramp，最终使用实际PerfGear低档同机位同时播放现状和NoMip，分清星头形状与首次流送。不同轮次条件不同，不能把早期默认低档与后来实测档位拼为一次测试。本轮找回用户方头现场反馈图，未附准确机位档位时刻，因此只作为现场反馈。黑点和Ramp末格没有恢复到成对UE原图，核验交付中保留部分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【依据】</a:t>
            </a:r>
          </a:p>
          <a:p xmlns:a="http://schemas.openxmlformats.org/drawingml/2006/main">
            <a:r>
              <a:t>analysis/results/QUALITY_BLUR_20261016/看法.md</a:t>
            </a:r>
          </a:p>
          <a:p xmlns:a="http://schemas.openxmlformats.org/drawingml/2006/main">
            <a:r>
              <a:t>analysis/results/QUALITY_BLUR_20261017/修复与影响.md</a:t>
            </a:r>
          </a:p>
          <a:p xmlns:a="http://schemas.openxmlformats.org/drawingml/2006/main">
            <a:r>
              <a:t>analysis/results/LOWQ_FIX_20261018/方案与对比.md</a:t>
            </a:r>
          </a:p>
          <a:p xmlns:a="http://schemas.openxmlformats.org/drawingml/2006/main">
            <a:r>
              <a:t>reports/bug_images.md；核验依据/verify_A4.md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2a1f402534a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c19678a1946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5056ade714f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bdc2da43149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789ae22a445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d4025640e4f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37214567d42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4c9242b9944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b24c121dd4d6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20fcc0a57488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48bd4c9ff479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F6AFAB-9B1E-4036-9610-3E6846374D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2B80B76-D23E-4282-ABEE-FB028ECD87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D8EFC0-A967-4E97-A098-305CB94886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E6D7EE-1920-46D8-8131-6C6AE41E2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D80F6E-DA84-4195-A255-BE9890A6AC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170E62-3548-4995-A2F1-7AD8A0F15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AEAACD-FDF7-48C5-B6D2-4CC7526439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3EDA18-D0C8-4A2F-8EE9-1E63DAD141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BC9B02-233D-4BCD-A52B-91C41AD8B7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1188BE-F507-4C49-AC13-8DF7D12B2E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66821A-D061-4B90-8B4B-E233BB861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0E7637-DC1E-429A-94F5-15A268ED2B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5E5987-C076-4A2A-B746-C8B9F6C1F4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C27296-4118-46D7-97FE-0F162A6543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0170BD-F6A0-423F-AB70-E63D517784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302997-4F77-4BDD-B14F-AFE700B3F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F6F184-EA20-4EFF-BDA3-19E0DC77E7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0EBD83-6E8D-4DE0-A442-36A16D7E9D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CE47E6-007C-4950-9457-61D8D5847B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BA89A0-C654-4E7D-B890-CA57422853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489FE0-04C5-4320-8662-F5B7535EC0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9DF1B5-1F54-4EC9-8195-E08ED1ADE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59158C-7F77-43FF-93BE-E3C7199C04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07C6504-9CFB-408A-8589-36E37BFEB7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EC3C2ED-4AFA-451C-8FA6-0ABF6A9F53F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DDE2296-15C0-4B84-B230-189149365DB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1DC991-7C03-4BCD-B163-F00C53CDE7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DC77CDA-1B3D-4E75-82AB-A18F226792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0783525-D79D-41AC-87E2-B032BBEBE0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C6EC7E-35BF-4B84-819B-5EC2B0CC8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50D094-C996-495F-8E06-823DA9D97E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1C48D47-93FB-40B1-9128-FC63237D3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CFD1FC1-2E12-4DA5-B92F-4BE5A07F6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0B5185C-BA40-4713-86D9-38FB04A6E8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DABA3B1-2D8D-4827-8A11-2762A244D0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71CD7A0-F70D-405E-A163-B07652DBD9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62BC92-812F-4CB8-968D-31B39D6B7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0B1516-4D32-48BA-A41E-48F1C36BC1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3AE064-C759-4F70-90EF-D955CCDE29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AE40DE5-A202-4014-BD97-5E00918AD2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B6913C-28D9-4544-BFEE-7B5FA86AD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2DE89B-F6BB-4FBD-B2ED-FDFCA814BE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918B2D-7287-432B-B5AC-ED71D92D4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7294068-F0D5-4377-BE2A-E503EB785B8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BB4F30-02BA-4E24-BE00-2DB0005350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988637-88D5-4FC5-8962-6AB9B983F9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5902CF2-2221-4EB2-854E-CE910E87EE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53F150-B85C-4171-84BD-95F6DB804A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BBCE20-3433-46CC-BF92-F9A500440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59AED6-0EBE-4E2D-883B-5F26477401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A8A3F2-8B3D-4E98-B399-6F073A64E5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B7E2EB-C90A-4655-9AFD-E03DDE96FE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9D8AB4-7D21-4719-A01E-C5AE153167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0B91B84-4CF1-4FE6-9CA7-380C7D74E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8B93E3-B53F-4ABE-8CB4-19D881BA4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10A70E-9BC8-4A80-9F18-18C1748250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FC733B-B87B-4334-AC4A-C0B245BC04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0DFB33-EBD0-41C3-8AD1-2788FC9032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99151440b47e3" /><Relationship Type="http://schemas.openxmlformats.org/officeDocument/2006/relationships/slideLayout" Target="/ppt/slideLayouts/slideLayout1.xml" Id="Ra18b5635c1084655" /><Relationship Type="http://schemas.openxmlformats.org/officeDocument/2006/relationships/slideLayout" Target="/ppt/slideLayouts/slideLayout2.xml" Id="Rdeaa85fcd05e4bb1" /><Relationship Type="http://schemas.openxmlformats.org/officeDocument/2006/relationships/slideLayout" Target="/ppt/slideLayouts/slideLayout3.xml" Id="R5b68c34746ad4588" /><Relationship Type="http://schemas.openxmlformats.org/officeDocument/2006/relationships/slideLayout" Target="/ppt/slideLayouts/slideLayout4.xml" Id="R85487834f738417e" /><Relationship Type="http://schemas.openxmlformats.org/officeDocument/2006/relationships/slideLayout" Target="/ppt/slideLayouts/slideLayout5.xml" Id="Rc5898743e79842e4" /><Relationship Type="http://schemas.openxmlformats.org/officeDocument/2006/relationships/slideLayout" Target="/ppt/slideLayouts/slideLayout6.xml" Id="R3c0c860736544df8" /><Relationship Type="http://schemas.openxmlformats.org/officeDocument/2006/relationships/slideLayout" Target="/ppt/slideLayouts/slideLayout7.xml" Id="R03287d2506194594" /><Relationship Type="http://schemas.openxmlformats.org/officeDocument/2006/relationships/slideLayout" Target="/ppt/slideLayouts/slideLayout8.xml" Id="Rd9357c3c31534030" /><Relationship Type="http://schemas.openxmlformats.org/officeDocument/2006/relationships/slideLayout" Target="/ppt/slideLayouts/slideLayout9.xml" Id="R6af447ed1d534996" /><Relationship Type="http://schemas.openxmlformats.org/officeDocument/2006/relationships/slideLayout" Target="/ppt/slideLayouts/slideLayout10.xml" Id="Rfb2f4b9054024cee" /><Relationship Type="http://schemas.openxmlformats.org/officeDocument/2006/relationships/slideLayout" Target="/ppt/slideLayouts/slideLayout11.xml" Id="R3c232b9b594e45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82D85FD-E39D-49B7-ACD3-B7494F068A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830573-C471-4DF0-BBFA-4AA7B935DA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001EF4-ADD8-4C54-A439-C42CFB654C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4E3186-E2EE-4D24-B263-B2245B08BD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7B4930-E4D9-44FA-998F-8B0B2ADADC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b5635c1084655"/>
    <p:sldLayoutId xmlns:r="http://schemas.openxmlformats.org/officeDocument/2006/relationships" id="2147483650" r:id="Rdeaa85fcd05e4bb1"/>
    <p:sldLayoutId xmlns:r="http://schemas.openxmlformats.org/officeDocument/2006/relationships" id="2147483651" r:id="R5b68c34746ad4588"/>
    <p:sldLayoutId xmlns:r="http://schemas.openxmlformats.org/officeDocument/2006/relationships" id="2147483652" r:id="R85487834f738417e"/>
    <p:sldLayoutId xmlns:r="http://schemas.openxmlformats.org/officeDocument/2006/relationships" id="2147483653" r:id="Rc5898743e79842e4"/>
    <p:sldLayoutId xmlns:r="http://schemas.openxmlformats.org/officeDocument/2006/relationships" id="2147483654" r:id="R3c0c860736544df8"/>
    <p:sldLayoutId xmlns:r="http://schemas.openxmlformats.org/officeDocument/2006/relationships" id="2147483655" r:id="R03287d2506194594"/>
    <p:sldLayoutId xmlns:r="http://schemas.openxmlformats.org/officeDocument/2006/relationships" id="2147483656" r:id="Rd9357c3c31534030"/>
    <p:sldLayoutId xmlns:r="http://schemas.openxmlformats.org/officeDocument/2006/relationships" id="2147483657" r:id="R6af447ed1d534996"/>
    <p:sldLayoutId xmlns:r="http://schemas.openxmlformats.org/officeDocument/2006/relationships" id="2147483658" r:id="Rfb2f4b9054024cee"/>
    <p:sldLayoutId xmlns:r="http://schemas.openxmlformats.org/officeDocument/2006/relationships" id="2147483659" r:id="R3c232b9b594e458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22dea1b2504e00" /><Relationship Type="http://schemas.openxmlformats.org/officeDocument/2006/relationships/image" Target="/ppt/media/image.jpeg" Id="R6a6bd2fe8eeb4b5f" /><Relationship Type="http://schemas.openxmlformats.org/officeDocument/2006/relationships/notesSlide" Target="/ppt/notesSlides/notesSlide1.xml" Id="R41a4888736a7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51545e07a043dc" /><Relationship Type="http://schemas.openxmlformats.org/officeDocument/2006/relationships/image" Target="/ppt/media/image2.jpeg" Id="R5dd17373a10a4647" /><Relationship Type="http://schemas.openxmlformats.org/officeDocument/2006/relationships/notesSlide" Target="/ppt/notesSlides/notesSlide2.xml" Id="R4229d6a04c65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38b4b8a2c54420" /><Relationship Type="http://schemas.openxmlformats.org/officeDocument/2006/relationships/image" Target="/ppt/media/image3.jpeg" Id="Rde4bcc4b7e744d8a" /><Relationship Type="http://schemas.openxmlformats.org/officeDocument/2006/relationships/notesSlide" Target="/ppt/notesSlides/notesSlide3.xml" Id="R599099baa7b140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1376ec35524088" /><Relationship Type="http://schemas.openxmlformats.org/officeDocument/2006/relationships/image" Target="/ppt/media/image4.jpeg" Id="R6fc661ae635c495c" /><Relationship Type="http://schemas.openxmlformats.org/officeDocument/2006/relationships/image" Target="/ppt/media/image5.jpeg" Id="R09bdad959f3e4a12" /><Relationship Type="http://schemas.openxmlformats.org/officeDocument/2006/relationships/notesSlide" Target="/ppt/notesSlides/notesSlide4.xml" Id="R4939f0a51b7d41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8e4da779624052" /><Relationship Type="http://schemas.openxmlformats.org/officeDocument/2006/relationships/image" Target="/ppt/media/image6.jpeg" Id="R09b988aab5e944c7" /><Relationship Type="http://schemas.openxmlformats.org/officeDocument/2006/relationships/image" Target="/ppt/media/image7.jpeg" Id="R24ef9ef07f234833" /><Relationship Type="http://schemas.openxmlformats.org/officeDocument/2006/relationships/image" Target="/ppt/media/image8.jpeg" Id="R6d2ab7f19e4d4884" /><Relationship Type="http://schemas.openxmlformats.org/officeDocument/2006/relationships/image" Target="/ppt/media/image9.jpeg" Id="R96442f253a3140f2" /><Relationship Type="http://schemas.openxmlformats.org/officeDocument/2006/relationships/notesSlide" Target="/ppt/notesSlides/notesSlide5.xml" Id="R16990f3b66e748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d22055d9404329" /><Relationship Type="http://schemas.openxmlformats.org/officeDocument/2006/relationships/notesSlide" Target="/ppt/notesSlides/notesSlide6.xml" Id="Rabeb313e541f40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58135cff0747df" /><Relationship Type="http://schemas.openxmlformats.org/officeDocument/2006/relationships/notesSlide" Target="/ppt/notesSlides/notesSlide7.xml" Id="Rd0264bae7fe94b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81050c879c4ddf" /><Relationship Type="http://schemas.openxmlformats.org/officeDocument/2006/relationships/notesSlide" Target="/ppt/notesSlides/notesSlide8.xml" Id="Re41406d6e1f342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73355360d244da" /><Relationship Type="http://schemas.openxmlformats.org/officeDocument/2006/relationships/image" Target="/ppt/media/image10.jpeg" Id="Rf27d574721324620" /><Relationship Type="http://schemas.openxmlformats.org/officeDocument/2006/relationships/image" Target="/ppt/media/image11.jpeg" Id="R47c2ea18f4104839" /><Relationship Type="http://schemas.openxmlformats.org/officeDocument/2006/relationships/image" Target="/ppt/media/image12.jpeg" Id="Read091857cc0473d" /><Relationship Type="http://schemas.openxmlformats.org/officeDocument/2006/relationships/image" Target="/ppt/media/image13.jpeg" Id="R9d57a83647284ac5" /><Relationship Type="http://schemas.openxmlformats.org/officeDocument/2006/relationships/image" Target="/ppt/media/image14.jpeg" Id="Ra7d4a01c4d434aaa" /><Relationship Type="http://schemas.openxmlformats.org/officeDocument/2006/relationships/image" Target="/ppt/media/image15.jpeg" Id="Rfee9eb36bf574b7c" /><Relationship Type="http://schemas.openxmlformats.org/officeDocument/2006/relationships/notesSlide" Target="/ppt/notesSlides/notesSlide9.xml" Id="Rb0eb027fb4b145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cc8f27c9dd4538" /><Relationship Type="http://schemas.openxmlformats.org/officeDocument/2006/relationships/image" Target="/ppt/media/image16.jpeg" Id="R5117784bf4244811" /><Relationship Type="http://schemas.openxmlformats.org/officeDocument/2006/relationships/image" Target="/ppt/media/image17.jpeg" Id="R7e75667be49a4dc1" /><Relationship Type="http://schemas.openxmlformats.org/officeDocument/2006/relationships/notesSlide" Target="/ppt/notesSlides/notesSlide10.xml" Id="R3d6b3faa7d8744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47a8f8befc4d10" /><Relationship Type="http://schemas.openxmlformats.org/officeDocument/2006/relationships/image" Target="/ppt/media/image18.jpeg" Id="Rc456110eef554c5b" /><Relationship Type="http://schemas.openxmlformats.org/officeDocument/2006/relationships/notesSlide" Target="/ppt/notesSlides/notesSlide11.xml" Id="Rc39f57d60ffe48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af0592954247b7" /><Relationship Type="http://schemas.openxmlformats.org/officeDocument/2006/relationships/image" Target="/ppt/media/image19.jpeg" Id="Rcfb43c9255a941eb" /><Relationship Type="http://schemas.openxmlformats.org/officeDocument/2006/relationships/notesSlide" Target="/ppt/notesSlides/notesSlide12.xml" Id="Rf383994568ec46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4966aecb544c72" /><Relationship Type="http://schemas.openxmlformats.org/officeDocument/2006/relationships/image" Target="/ppt/media/image20.jpeg" Id="Rdc919ff97fa1497e" /><Relationship Type="http://schemas.openxmlformats.org/officeDocument/2006/relationships/notesSlide" Target="/ppt/notesSlides/notesSlide13.xml" Id="R86b7c282a5e64c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a39ba495a6479e" /><Relationship Type="http://schemas.openxmlformats.org/officeDocument/2006/relationships/image" Target="/ppt/media/image21.jpeg" Id="R8d0e3accd6d648bf" /><Relationship Type="http://schemas.openxmlformats.org/officeDocument/2006/relationships/image" Target="/ppt/media/image22.jpeg" Id="Rac7ec41905dc4488" /><Relationship Type="http://schemas.openxmlformats.org/officeDocument/2006/relationships/image" Target="/ppt/media/image23.jpeg" Id="Rbdae7151b46c4c0b" /><Relationship Type="http://schemas.openxmlformats.org/officeDocument/2006/relationships/image" Target="/ppt/media/image24.jpeg" Id="Rf77cecaed0f345f6" /><Relationship Type="http://schemas.openxmlformats.org/officeDocument/2006/relationships/notesSlide" Target="/ppt/notesSlides/notesSlide14.xml" Id="R98273d9e2c074f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de366e077740f9" /><Relationship Type="http://schemas.openxmlformats.org/officeDocument/2006/relationships/image" Target="/ppt/media/image25.jpeg" Id="R60e19d21070d40b8" /><Relationship Type="http://schemas.openxmlformats.org/officeDocument/2006/relationships/notesSlide" Target="/ppt/notesSlides/notesSlide15.xml" Id="R4f01d3768a3b4e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c8d32f0cea46a6" /><Relationship Type="http://schemas.openxmlformats.org/officeDocument/2006/relationships/image" Target="/ppt/media/image26.jpeg" Id="R01f413c9a1c84913" /><Relationship Type="http://schemas.openxmlformats.org/officeDocument/2006/relationships/image" Target="/ppt/media/image27.jpeg" Id="Re36a1a067fc54daa" /><Relationship Type="http://schemas.openxmlformats.org/officeDocument/2006/relationships/notesSlide" Target="/ppt/notesSlides/notesSlide16.xml" Id="Ra70b968d461044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2af8f68fbc4653" /><Relationship Type="http://schemas.openxmlformats.org/officeDocument/2006/relationships/notesSlide" Target="/ppt/notesSlides/notesSlide17.xml" Id="Rab0879fa77d141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a0030d5e95445c" /><Relationship Type="http://schemas.openxmlformats.org/officeDocument/2006/relationships/image" Target="/ppt/media/image28.jpeg" Id="Rb55e3e3ee3c54c22" /><Relationship Type="http://schemas.openxmlformats.org/officeDocument/2006/relationships/notesSlide" Target="/ppt/notesSlides/notesSlide18.xml" Id="R41fcf33b09834f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53fd4d0a6b4e0d" /><Relationship Type="http://schemas.openxmlformats.org/officeDocument/2006/relationships/notesSlide" Target="/ppt/notesSlides/notesSlide19.xml" Id="Rcdc3c8524e1e41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fca1cd1a924538" /><Relationship Type="http://schemas.openxmlformats.org/officeDocument/2006/relationships/image" Target="/ppt/media/image29.jpeg" Id="Rc9085d3608314330" /><Relationship Type="http://schemas.openxmlformats.org/officeDocument/2006/relationships/notesSlide" Target="/ppt/notesSlides/notesSlide20.xml" Id="Re6b870aec61448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ea43a97d2e449d" /><Relationship Type="http://schemas.openxmlformats.org/officeDocument/2006/relationships/image" Target="/ppt/media/image30.jpeg" Id="Rad741ab94cf6487c" /><Relationship Type="http://schemas.openxmlformats.org/officeDocument/2006/relationships/notesSlide" Target="/ppt/notesSlides/notesSlide21.xml" Id="Rd8ca30f1739f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4CC6A2D-6FF6-4EAE-8BA1-D8F9E6CF8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bd2fe8eeb4b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215161A-F5FD-42DC-B383-068A06FD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400" y="6527800"/>
            <a:ext cx="6604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source_tag">
            <a:extLst xmlns:a="http://schemas.openxmlformats.org/drawingml/2006/main">
              <a:ext uri="{FF2B5EF4-FFF2-40B4-BE49-F238E27FC236}">
                <a16:creationId xmlns:a16="http://schemas.microsoft.com/office/drawing/2014/main" id="{9DA50882-5314-4467-8AB8-78A12363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400" y="6527800"/>
            <a:ext cx="660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示意图</a:t>
            </a:r>
          </a:p>
        </p:txBody>
      </p:sp>
      <p:sp>
        <p:nvSpPr>
          <p:cNvPr id="7" name="footer_mark">
            <a:extLst xmlns:a="http://schemas.openxmlformats.org/drawingml/2006/main">
              <a:ext uri="{FF2B5EF4-FFF2-40B4-BE49-F238E27FC236}">
                <a16:creationId xmlns:a16="http://schemas.microsoft.com/office/drawing/2014/main" id="{DBD2D229-18EC-41AC-8F01-869C772E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9F603B0-886D-42F2-AF80-082011D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FA96A77-15BD-480B-B5B2-6C43684D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7600"/>
            <a:ext cx="698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VFX 组内分享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23EF34-9873-4BA6-B832-F8982A35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5100"/>
            <a:ext cx="825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439"/>
              </a:lnSpc>
              <a:buNone/>
            </a:pP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烟花秀</a:t>
            </a:r>
            <a:r>
              <a:rPr sz="5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AI</a:t>
            </a:r>
            <a:r>
              <a:rPr sz="5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全流程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DFD2554-25A7-4050-9D68-122E65A1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1100"/>
            <a:ext cx="698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烟花烘焙器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导入器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烟花编排工作台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0498F2-7663-4BE6-98F3-58DF2CE5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698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59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围绕一次版本需求，把制作、接入与编排连起来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83F1B01-0F77-41B9-88FA-444F9A0D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7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C4CFC0-B2C0-4F63-8458-4B61620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6600"/>
            <a:ext cx="203200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4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F7EB1E-6730-46CC-ACA2-A40456DB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0EB28D-38BB-4E05-AEB2-8C7633CD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6736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问题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D178676-36F2-4F74-B786-59D6310D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57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C1C18F-B9E1-4E91-8ED2-4CA05F7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9657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解决思路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BF41AF-4D35-4465-B7D3-359A0B90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559C71C-9DD6-450B-9706-6AA5BC13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2578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69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95A4E47-7F49-4990-841E-41A3ADC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99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C7DC47A-3108-434C-9FDB-6BCCC9E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5499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69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经验沉淀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9F3158C-7651-4E73-81BB-D5124960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2000"/>
            <a:ext cx="27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E58C31D-2DDA-4E65-B41E-3E7DDD60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8420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69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方法与分享</a:t>
            </a:r>
          </a:p>
        </p:txBody>
      </p:sp>
    </p:spTree>
    <p:extLst>
      <p:ext uri="{BB962C8B-B14F-4D97-AF65-F5344CB8AC3E}">
        <p14:creationId xmlns:p14="http://schemas.microsoft.com/office/powerpoint/2010/main" val="1654003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01 · 制作挑战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制作量上来后，重复接入成为负担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重制文本_1">
            <a:extLst xmlns:a="http://schemas.openxmlformats.org/drawingml/2006/main">
              <a:ext uri="{FF2B5EF4-FFF2-40B4-BE49-F238E27FC236}">
                <a16:creationId xmlns:a16="http://schemas.microsoft.com/office/drawing/2014/main" id="{5C2B93A6-8141-45C1-98F8-65C61303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70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7" name="重制文本_2">
            <a:extLst xmlns:a="http://schemas.openxmlformats.org/drawingml/2006/main">
              <a:ext uri="{FF2B5EF4-FFF2-40B4-BE49-F238E27FC236}">
                <a16:creationId xmlns:a16="http://schemas.microsoft.com/office/drawing/2014/main" id="{E0AC2ACF-1EE1-43D0-87AA-780F8BF7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811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种 PC 开花花型</a:t>
            </a:r>
          </a:p>
        </p:txBody>
      </p:sp>
      <p:sp>
        <p:nvSpPr>
          <p:cNvPr id="8" name="重制文本_3">
            <a:extLst xmlns:a="http://schemas.openxmlformats.org/drawingml/2006/main">
              <a:ext uri="{FF2B5EF4-FFF2-40B4-BE49-F238E27FC236}">
                <a16:creationId xmlns:a16="http://schemas.microsoft.com/office/drawing/2014/main" id="{8D9DC88B-3A98-4094-8238-BAD9240E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手游采用其中 12 种</a:t>
            </a:r>
          </a:p>
        </p:txBody>
      </p:sp>
      <p:sp>
        <p:nvSpPr>
          <p:cNvPr id="9" name="构图_4">
            <a:extLst xmlns:a="http://schemas.openxmlformats.org/drawingml/2006/main">
              <a:ext uri="{FF2B5EF4-FFF2-40B4-BE49-F238E27FC236}">
                <a16:creationId xmlns:a16="http://schemas.microsoft.com/office/drawing/2014/main" id="{9F773D14-EC3E-4130-8708-813E5BC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重制文本_5">
            <a:extLst xmlns:a="http://schemas.openxmlformats.org/drawingml/2006/main">
              <a:ext uri="{FF2B5EF4-FFF2-40B4-BE49-F238E27FC236}">
                <a16:creationId xmlns:a16="http://schemas.microsoft.com/office/drawing/2014/main" id="{14E2E498-1B0B-401D-B416-D86D5B58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212 张引用贴图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115 个材质实例</a:t>
            </a:r>
          </a:p>
        </p:txBody>
      </p:sp>
      <p:sp>
        <p:nvSpPr>
          <p:cNvPr id="11" name="重制文本_6">
            <a:extLst xmlns:a="http://schemas.openxmlformats.org/drawingml/2006/main">
              <a:ext uri="{FF2B5EF4-FFF2-40B4-BE49-F238E27FC236}">
                <a16:creationId xmlns:a16="http://schemas.microsoft.com/office/drawing/2014/main" id="{D64B0519-7FC7-41FD-8BB7-8839975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做完一版，还要重复合入、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绑定与检查。</a:t>
            </a:r>
          </a:p>
        </p:txBody>
      </p:sp>
      <p:sp>
        <p:nvSpPr>
          <p:cNvPr id="12" name="构图_7">
            <a:extLst xmlns:a="http://schemas.openxmlformats.org/drawingml/2006/main">
              <a:ext uri="{FF2B5EF4-FFF2-40B4-BE49-F238E27FC236}">
                <a16:creationId xmlns:a16="http://schemas.microsoft.com/office/drawing/2014/main" id="{F54859DC-9C27-4D8E-B80F-CE45643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3" name="重制文本_8">
            <a:extLst xmlns:a="http://schemas.openxmlformats.org/drawingml/2006/main">
              <a:ext uri="{FF2B5EF4-FFF2-40B4-BE49-F238E27FC236}">
                <a16:creationId xmlns:a16="http://schemas.microsoft.com/office/drawing/2014/main" id="{F441F3D0-206B-4E73-BFCC-E3DEBBB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制作 → 两端导出 → 合入 → 检查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78759-FE67-4A0C-B8D2-594548012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17373a10a4647"/>
          <a:stretch xmlns:a="http://schemas.openxmlformats.org/drawingml/2006/main"/>
        </p:blipFill>
        <p:spPr>
          <a:xfrm xmlns:a="http://schemas.openxmlformats.org/drawingml/2006/main">
            <a:off x="6265247" y="1333500"/>
            <a:ext cx="4671655" cy="4686300"/>
          </a:xfrm>
          <a:prstGeom xmlns:a="http://schemas.openxmlformats.org/drawingml/2006/main" prst="rect">
            <a:avLst/>
          </a:prstGeom>
        </p:spPr>
      </p:pic>
      <p:sp>
        <p:nvSpPr>
          <p:cNvPr id="15" name="构图_9">
            <a:extLst xmlns:a="http://schemas.openxmlformats.org/drawingml/2006/main">
              <a:ext uri="{FF2B5EF4-FFF2-40B4-BE49-F238E27FC236}">
                <a16:creationId xmlns:a16="http://schemas.microsoft.com/office/drawing/2014/main" id="{4FC35694-4D47-463A-B565-A1F74809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72150"/>
            <a:ext cx="2009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重制文本_10">
            <a:extLst xmlns:a="http://schemas.openxmlformats.org/drawingml/2006/main">
              <a:ext uri="{FF2B5EF4-FFF2-40B4-BE49-F238E27FC236}">
                <a16:creationId xmlns:a16="http://schemas.microsoft.com/office/drawing/2014/main" id="{C821C381-0D44-4B76-B0D1-9F564F40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781675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UE 编辑器 · 资源设置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21A96179-1264-4438-A2F6-AC3E04B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01 · 制作挑战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AFB603-90F6-4E48-AFFC-DFC9B855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音乐一变，手工轨道就要重新匹配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3E5157F3-4BA6-4D20-97AC-7DB39D44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62B0F1-ACD8-443A-B28D-1ABAF0D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9837AC8-2BDA-452F-9586-4AB9740B3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bcc4b7e744d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8900"/>
            <a:ext cx="6400800" cy="46990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B16CFD0-87D5-4F1D-8971-31258166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7700"/>
            <a:ext cx="196342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source_tag">
            <a:extLst xmlns:a="http://schemas.openxmlformats.org/drawingml/2006/main">
              <a:ext uri="{FF2B5EF4-FFF2-40B4-BE49-F238E27FC236}">
                <a16:creationId xmlns:a16="http://schemas.microsoft.com/office/drawing/2014/main" id="{8803E2F9-D2D6-4809-84B5-92F7948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7700"/>
            <a:ext cx="19634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编辑器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旧方案定序器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F5EF05-CE91-4413-A5B9-694B999B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89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去年 · 手工定序器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38836C-D1CE-4DD4-B7E1-AFA8E8AE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42672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58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56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2726 条轨道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E0A97EC-E122-438C-B71E-CFD8358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8400"/>
            <a:ext cx="4267200" cy="88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0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12 个子序列，逐发维护</a:t>
            </a:r>
          </a:p>
          <a:p xmlns:a="http://schemas.openxmlformats.org/drawingml/2006/main">
            <a:pPr algn="l">
              <a:lnSpc>
                <a:spcPts val="20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修改配乐与节奏牵动大量轨道</a:t>
            </a:r>
          </a:p>
          <a:p xmlns:a="http://schemas.openxmlformats.org/drawingml/2006/main">
            <a:pPr algn="l">
              <a:lnSpc>
                <a:spcPts val="20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同时承受资源与内存压力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A648632-1913-43E7-A7B1-9536945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020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679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旧工程只读统计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201BFE-C64F-4A1F-9025-D31170C1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70300"/>
            <a:ext cx="426720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26215CE-6B19-4D5A-A3DC-DFD667A6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354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今年 · 更大的演出目标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969F62-71FD-4399-999E-87FE59C0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42672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58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5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219.5 秒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C3D7B52-6EC6-4F70-AAD1-7CB0804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14900"/>
            <a:ext cx="42672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0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24 个设计点位 · 492 个编排槽</a:t>
            </a:r>
          </a:p>
          <a:p xmlns:a="http://schemas.openxmlformats.org/drawingml/2006/main">
            <a:pPr algn="l">
              <a:lnSpc>
                <a:spcPts val="20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导演蓝图更新后，人工对拍仍困难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03C23F-0D57-44A6-AF59-408AC088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245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679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转向程序化、可视化编排</a:t>
            </a:r>
          </a:p>
        </p:txBody>
      </p:sp>
    </p:spTree>
    <p:extLst>
      <p:ext uri="{BB962C8B-B14F-4D97-AF65-F5344CB8AC3E}">
        <p14:creationId xmlns:p14="http://schemas.microsoft.com/office/powerpoint/2010/main" val="169518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从 Blender 出发，围绕游戏镜头定制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E1102-A071-4216-AD19-0EF812569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661ae635c495c"/>
          <a:stretch xmlns:a="http://schemas.openxmlformats.org/drawingml/2006/main"/>
        </p:blipFill>
        <p:spPr>
          <a:xfrm xmlns:a="http://schemas.openxmlformats.org/drawingml/2006/main">
            <a:off x="800100" y="13335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构图_11">
            <a:extLst xmlns:a="http://schemas.openxmlformats.org/drawingml/2006/main">
              <a:ext uri="{FF2B5EF4-FFF2-40B4-BE49-F238E27FC236}">
                <a16:creationId xmlns:a16="http://schemas.microsoft.com/office/drawing/2014/main" id="{AAA7AFA1-F1E7-4CE5-B555-2880F460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009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12">
            <a:extLst xmlns:a="http://schemas.openxmlformats.org/drawingml/2006/main">
              <a:ext uri="{FF2B5EF4-FFF2-40B4-BE49-F238E27FC236}">
                <a16:creationId xmlns:a16="http://schemas.microsoft.com/office/drawing/2014/main" id="{5B997F68-5B8D-4CA1-B50B-CBF915A9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Blender 原工程渲染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D0AA7-CE96-45E5-8712-B07DE23D5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dad959f3e4a12"/>
          <a:stretch xmlns:a="http://schemas.openxmlformats.org/drawingml/2006/main"/>
        </p:blipFill>
        <p:spPr>
          <a:xfrm xmlns:a="http://schemas.openxmlformats.org/drawingml/2006/main">
            <a:off x="4857750" y="1337072"/>
            <a:ext cx="6724650" cy="4202906"/>
          </a:xfrm>
          <a:prstGeom xmlns:a="http://schemas.openxmlformats.org/drawingml/2006/main" prst="rect">
            <a:avLst/>
          </a:prstGeom>
        </p:spPr>
      </p:pic>
      <p:sp>
        <p:nvSpPr>
          <p:cNvPr id="10" name="构图_13">
            <a:extLst xmlns:a="http://schemas.openxmlformats.org/drawingml/2006/main">
              <a:ext uri="{FF2B5EF4-FFF2-40B4-BE49-F238E27FC236}">
                <a16:creationId xmlns:a16="http://schemas.microsoft.com/office/drawing/2014/main" id="{D9399EBE-CC32-4B0D-B254-14CC97DD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95900"/>
            <a:ext cx="86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重制文本_14">
            <a:extLst xmlns:a="http://schemas.openxmlformats.org/drawingml/2006/main">
              <a:ext uri="{FF2B5EF4-FFF2-40B4-BE49-F238E27FC236}">
                <a16:creationId xmlns:a16="http://schemas.microsoft.com/office/drawing/2014/main" id="{549CF25F-BCAF-47D8-826A-5D30696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054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专用烘焙器</a:t>
            </a:r>
          </a:p>
        </p:txBody>
      </p:sp>
      <p:sp>
        <p:nvSpPr>
          <p:cNvPr id="12" name="重制文本_15">
            <a:extLst xmlns:a="http://schemas.openxmlformats.org/drawingml/2006/main">
              <a:ext uri="{FF2B5EF4-FFF2-40B4-BE49-F238E27FC236}">
                <a16:creationId xmlns:a16="http://schemas.microsoft.com/office/drawing/2014/main" id="{45FACEA1-E537-448A-B956-9C7EE66F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已有模拟，迭代仍不顺畅</a:t>
            </a:r>
          </a:p>
        </p:txBody>
      </p:sp>
      <p:sp>
        <p:nvSpPr>
          <p:cNvPr id="13" name="重制文本_16">
            <a:extLst xmlns:a="http://schemas.openxmlformats.org/drawingml/2006/main">
              <a:ext uri="{FF2B5EF4-FFF2-40B4-BE49-F238E27FC236}">
                <a16:creationId xmlns:a16="http://schemas.microsoft.com/office/drawing/2014/main" id="{537BE01C-7A24-4D84-84D4-A950CC8F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渲染等待、交互卡顿；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预览与导出结果不够直观。</a:t>
            </a:r>
          </a:p>
        </p:txBody>
      </p:sp>
      <p:sp>
        <p:nvSpPr>
          <p:cNvPr id="14" name="重制文本_17">
            <a:extLst xmlns:a="http://schemas.openxmlformats.org/drawingml/2006/main">
              <a:ext uri="{FF2B5EF4-FFF2-40B4-BE49-F238E27FC236}">
                <a16:creationId xmlns:a16="http://schemas.microsoft.com/office/drawing/2014/main" id="{0F58A54E-2922-4942-9286-423CE2F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以 2D 输出为目标，对齐舞台、镜头与交付规格。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57E3D2F7-3F64-401F-802E-3D2F7A5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1854A2-CA54-4E1D-93D7-1E4C1D0B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制作、接入、编排连成一条交付链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C4F6BAFD-3573-445C-BE24-83762097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5C3A67-05BE-4A74-9B66-79C90EB1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294787-A50B-4DBD-8C49-AA0F90B3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3D8302-FACA-4165-939D-ECF85150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8900"/>
            <a:ext cx="381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9F8DB334-8BE0-4142-862A-CADE817CA8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988aab5e944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9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261EE1D-2B73-474C-A3C8-3D3F3E1D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" y="2317750"/>
            <a:ext cx="8128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source_tag">
            <a:extLst xmlns:a="http://schemas.openxmlformats.org/drawingml/2006/main">
              <a:ext uri="{FF2B5EF4-FFF2-40B4-BE49-F238E27FC236}">
                <a16:creationId xmlns:a16="http://schemas.microsoft.com/office/drawing/2014/main" id="{DF3F348C-BAA2-4F1B-88C5-8103968B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" y="231775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5D7C98-9A5F-40A3-AC1C-2359763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做效果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F75355-99CB-4B59-9AB3-2DC46754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烟花烘焙器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628B7B-A8C7-4A6A-AC3D-6B6D1606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模拟火星，烘焙序列贴图，</a:t>
            </a:r>
          </a:p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一次导出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PC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与手游两套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36EB2A98-4967-4CA5-BB54-1ABD31C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20066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E36635-503D-4878-8FAE-4C36EFB6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82800"/>
            <a:ext cx="6096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素材包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1F3177C-6BBE-4FDC-8527-FA3AA65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A02C954-8366-45F6-B721-31FF3FA6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358900"/>
            <a:ext cx="381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38F815F3-350A-4704-BF52-651229E62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f9ef07f234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15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C95B6AA-F5EB-4107-A34F-B2938626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2317750"/>
            <a:ext cx="8128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source_tag">
            <a:extLst xmlns:a="http://schemas.openxmlformats.org/drawingml/2006/main">
              <a:ext uri="{FF2B5EF4-FFF2-40B4-BE49-F238E27FC236}">
                <a16:creationId xmlns:a16="http://schemas.microsoft.com/office/drawing/2014/main" id="{1CA11733-923B-4DB3-A7C0-91824DB9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231775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5616AEE-4534-4F7E-AFB4-079CACD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进引擎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EA80615-DFEA-4BAF-B23B-C49228C9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导入器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18823E0-B80A-4808-9C25-51705D73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读取素材包，按规范设置，</a:t>
            </a:r>
          </a:p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检查后写入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80A3045E-87A9-417A-BA76-C01B6515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00" y="20066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22E4E7D-F3E3-4E37-BDAC-6ED279B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82800"/>
            <a:ext cx="6096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资产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BE47C0A-FE90-4A20-B468-F87A2243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3E8CAD7-E214-4CF4-99D3-B43B8CA7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8900"/>
            <a:ext cx="381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F8F28DB9-CF61-4147-A473-0D81F0D41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ab7f19e4d4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71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38152EF-4469-408E-B287-614FA845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2317750"/>
            <a:ext cx="8128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source_tag">
            <a:extLst xmlns:a="http://schemas.openxmlformats.org/drawingml/2006/main">
              <a:ext uri="{FF2B5EF4-FFF2-40B4-BE49-F238E27FC236}">
                <a16:creationId xmlns:a16="http://schemas.microsoft.com/office/drawing/2014/main" id="{AF0CBE33-49F4-486D-8B39-C30F0E96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231775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BDC9319-603B-4032-9AB7-6B5807E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排节目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E0C8975-4E8C-48A5-82D1-06B7B44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烟花编排工作台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E9F8316-3BBD-4EA3-80CE-77EF16DE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按音乐时间线排布烟花，</a:t>
            </a:r>
          </a:p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生成导演表</a:t>
            </a: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F1D6683D-8135-437E-A00E-E2D7B0D8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006600"/>
            <a:ext cx="482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93095E7-39E4-4C56-8BFE-8C4A6AE9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82800"/>
            <a:ext cx="6096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导演表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1B72B61-46BB-4701-8A1F-D869DE7C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58900"/>
            <a:ext cx="2286000" cy="30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36">
            <a:extLst xmlns:a="http://schemas.openxmlformats.org/drawingml/2006/main">
              <a:ext uri="{FF2B5EF4-FFF2-40B4-BE49-F238E27FC236}">
                <a16:creationId xmlns:a16="http://schemas.microsoft.com/office/drawing/2014/main" id="{CB80A196-264D-49C2-A27C-5548CA57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42f253a3140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2750" y="1365250"/>
            <a:ext cx="2273300" cy="1282700"/>
          </a:xfrm>
          <a:prstGeom xmlns:a="http://schemas.openxmlformats.org/drawingml/2006/main" prst="rect">
            <a:avLst/>
          </a:prstGeom>
        </p:spPr>
      </p:pic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C7603CF-CECB-498D-A4A5-7351175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317750"/>
            <a:ext cx="72136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source_tag">
            <a:extLst xmlns:a="http://schemas.openxmlformats.org/drawingml/2006/main">
              <a:ext uri="{FF2B5EF4-FFF2-40B4-BE49-F238E27FC236}">
                <a16:creationId xmlns:a16="http://schemas.microsoft.com/office/drawing/2014/main" id="{FB2B655C-500A-497B-98DC-4C641033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317750"/>
            <a:ext cx="72136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实机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08CE110-906D-4293-8F5C-6EEF174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2819400"/>
            <a:ext cx="196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04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播放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E3BA300-B7F1-47A5-8A51-E9DD72AA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086100"/>
            <a:ext cx="203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导演蓝图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6795470-2914-4522-BB50-0E4E3D8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479800"/>
            <a:ext cx="200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一个蓝图按子模板、模板、</a:t>
            </a:r>
          </a:p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时序三张表播放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0CAD468D-43B9-467B-BE52-2A781BD0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5500"/>
            <a:ext cx="6400800" cy="143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6E41A3AD-7D0D-48FB-93EA-D7B83390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5500"/>
            <a:ext cx="38100" cy="143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CAAA023-A0B4-42A1-A583-D44CB1C3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813300"/>
            <a:ext cx="5842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固定交付格式，让每一步接得上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A1A62A07-754D-4D88-847E-BE7FB793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168900"/>
            <a:ext cx="584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0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素材包、导入清单和导演表各有格式，工具之间可以重复交接。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CA92361D-0C85-41A8-A2E6-9D60031A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8420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0A5BF9BE-09CD-43A9-9096-11B20C09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35500"/>
            <a:ext cx="4267200" cy="143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128551A-6E4B-42DD-97EF-663BD04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813300"/>
            <a:ext cx="381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导演蓝图与程序共同设计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42DDAE8A-8C0E-4F65-9CAB-16C4788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51689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208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制作工具出资源，编排工具出表，由游戏内导演负责播放。</a:t>
            </a:r>
          </a:p>
        </p:txBody>
      </p:sp>
    </p:spTree>
    <p:extLst>
      <p:ext uri="{BB962C8B-B14F-4D97-AF65-F5344CB8AC3E}">
        <p14:creationId xmlns:p14="http://schemas.microsoft.com/office/powerpoint/2010/main" val="966748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先定舞台和观看条件，再定点位与层次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构图_18">
            <a:extLst xmlns:a="http://schemas.openxmlformats.org/drawingml/2006/main">
              <a:ext uri="{FF2B5EF4-FFF2-40B4-BE49-F238E27FC236}">
                <a16:creationId xmlns:a16="http://schemas.microsoft.com/office/drawing/2014/main" id="{57F08CA4-41AB-4536-9B31-ABFC9B51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7" name="重制文本_19">
            <a:extLst xmlns:a="http://schemas.openxmlformats.org/drawingml/2006/main">
              <a:ext uri="{FF2B5EF4-FFF2-40B4-BE49-F238E27FC236}">
                <a16:creationId xmlns:a16="http://schemas.microsoft.com/office/drawing/2014/main" id="{C83F31EB-2E2D-44AC-B4CE-9BE6317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舞台正面 · 设计示意</a:t>
            </a:r>
          </a:p>
        </p:txBody>
      </p:sp>
      <p:sp>
        <p:nvSpPr>
          <p:cNvPr id="8" name="构图_20">
            <a:extLst xmlns:a="http://schemas.openxmlformats.org/drawingml/2006/main">
              <a:ext uri="{FF2B5EF4-FFF2-40B4-BE49-F238E27FC236}">
                <a16:creationId xmlns:a16="http://schemas.microsoft.com/office/drawing/2014/main" id="{71C6E6F5-2DAF-4822-8588-B994B6D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00350"/>
            <a:ext cx="701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5000"/>
            </a:srgbClr>
          </a:solidFill>
          <a:ln xmlns:a="http://schemas.openxmlformats.org/drawingml/2006/main" w="9525">
            <a:solidFill>
              <a:srgbClr val="F5F5F5">
                <a:alpha val="68000"/>
              </a:srgbClr>
            </a:solidFill>
          </a:ln>
        </p:spPr>
      </p:sp>
      <p:sp>
        <p:nvSpPr>
          <p:cNvPr id="9" name="构图_21">
            <a:extLst xmlns:a="http://schemas.openxmlformats.org/drawingml/2006/main">
              <a:ext uri="{FF2B5EF4-FFF2-40B4-BE49-F238E27FC236}">
                <a16:creationId xmlns:a16="http://schemas.microsoft.com/office/drawing/2014/main" id="{68BF3146-D6A5-4330-B181-E0CA3DC1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62450"/>
            <a:ext cx="701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0" name="构图_22">
            <a:extLst xmlns:a="http://schemas.openxmlformats.org/drawingml/2006/main">
              <a:ext uri="{FF2B5EF4-FFF2-40B4-BE49-F238E27FC236}">
                <a16:creationId xmlns:a16="http://schemas.microsoft.com/office/drawing/2014/main" id="{1CC3749D-83B9-484B-8A4B-0BDCEFA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76725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1" name="构图_23">
            <a:extLst xmlns:a="http://schemas.openxmlformats.org/drawingml/2006/main">
              <a:ext uri="{FF2B5EF4-FFF2-40B4-BE49-F238E27FC236}">
                <a16:creationId xmlns:a16="http://schemas.microsoft.com/office/drawing/2014/main" id="{D0199574-DB73-4AE0-BCF4-C0CC3707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76725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2" name="重制文本_24">
            <a:extLst xmlns:a="http://schemas.openxmlformats.org/drawingml/2006/main">
              <a:ext uri="{FF2B5EF4-FFF2-40B4-BE49-F238E27FC236}">
                <a16:creationId xmlns:a16="http://schemas.microsoft.com/office/drawing/2014/main" id="{44187FFE-9CF6-441C-940B-A7E34FFA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00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800 m</a:t>
            </a:r>
          </a:p>
        </p:txBody>
      </p:sp>
      <p:sp>
        <p:nvSpPr>
          <p:cNvPr id="13" name="重制文本_25">
            <a:extLst xmlns:a="http://schemas.openxmlformats.org/drawingml/2006/main">
              <a:ext uri="{FF2B5EF4-FFF2-40B4-BE49-F238E27FC236}">
                <a16:creationId xmlns:a16="http://schemas.microsoft.com/office/drawing/2014/main" id="{10C74EBD-3EB0-4F5C-9A74-50EF175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6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150 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坝顶高</a:t>
            </a:r>
          </a:p>
        </p:txBody>
      </p:sp>
      <p:sp>
        <p:nvSpPr>
          <p:cNvPr id="14" name="构图_26">
            <a:extLst xmlns:a="http://schemas.openxmlformats.org/drawingml/2006/main">
              <a:ext uri="{FF2B5EF4-FFF2-40B4-BE49-F238E27FC236}">
                <a16:creationId xmlns:a16="http://schemas.microsoft.com/office/drawing/2014/main" id="{EB6B1CB5-4C47-45CC-B034-51A61F47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15" name="构图_27">
            <a:extLst xmlns:a="http://schemas.openxmlformats.org/drawingml/2006/main">
              <a:ext uri="{FF2B5EF4-FFF2-40B4-BE49-F238E27FC236}">
                <a16:creationId xmlns:a16="http://schemas.microsoft.com/office/drawing/2014/main" id="{11E0DCFE-7C69-487E-A593-B0ECF87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16" name="构图_28">
            <a:extLst xmlns:a="http://schemas.openxmlformats.org/drawingml/2006/main">
              <a:ext uri="{FF2B5EF4-FFF2-40B4-BE49-F238E27FC236}">
                <a16:creationId xmlns:a16="http://schemas.microsoft.com/office/drawing/2014/main" id="{7B124D20-17CA-47B3-BE51-D43EA5A8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17" name="构图_29">
            <a:extLst xmlns:a="http://schemas.openxmlformats.org/drawingml/2006/main">
              <a:ext uri="{FF2B5EF4-FFF2-40B4-BE49-F238E27FC236}">
                <a16:creationId xmlns:a16="http://schemas.microsoft.com/office/drawing/2014/main" id="{31C7C332-8E66-44AD-8050-89DF80DD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18" name="构图_30">
            <a:extLst xmlns:a="http://schemas.openxmlformats.org/drawingml/2006/main">
              <a:ext uri="{FF2B5EF4-FFF2-40B4-BE49-F238E27FC236}">
                <a16:creationId xmlns:a16="http://schemas.microsoft.com/office/drawing/2014/main" id="{FBC92C0D-2E8C-492E-BA5B-78DEB749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19" name="构图_31">
            <a:extLst xmlns:a="http://schemas.openxmlformats.org/drawingml/2006/main">
              <a:ext uri="{FF2B5EF4-FFF2-40B4-BE49-F238E27FC236}">
                <a16:creationId xmlns:a16="http://schemas.microsoft.com/office/drawing/2014/main" id="{92D55902-0362-411F-8300-058A562C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20" name="构图_32">
            <a:extLst xmlns:a="http://schemas.openxmlformats.org/drawingml/2006/main">
              <a:ext uri="{FF2B5EF4-FFF2-40B4-BE49-F238E27FC236}">
                <a16:creationId xmlns:a16="http://schemas.microsoft.com/office/drawing/2014/main" id="{20D3201F-0B2B-4A8D-BAEA-5C9A2A19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21" name="构图_33">
            <a:extLst xmlns:a="http://schemas.openxmlformats.org/drawingml/2006/main">
              <a:ext uri="{FF2B5EF4-FFF2-40B4-BE49-F238E27FC236}">
                <a16:creationId xmlns:a16="http://schemas.microsoft.com/office/drawing/2014/main" id="{43AEAD8A-682C-4D61-8758-83A1E0B1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22" name="构图_34">
            <a:extLst xmlns:a="http://schemas.openxmlformats.org/drawingml/2006/main">
              <a:ext uri="{FF2B5EF4-FFF2-40B4-BE49-F238E27FC236}">
                <a16:creationId xmlns:a16="http://schemas.microsoft.com/office/drawing/2014/main" id="{8789C4EB-D2E2-413F-9F2C-54F5F9D6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23" name="重制文本_35">
            <a:extLst xmlns:a="http://schemas.openxmlformats.org/drawingml/2006/main">
              <a:ext uri="{FF2B5EF4-FFF2-40B4-BE49-F238E27FC236}">
                <a16:creationId xmlns:a16="http://schemas.microsoft.com/office/drawing/2014/main" id="{59DCC877-3721-41C4-B08D-6FDA6B8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575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主点 P0–P8 · 间距 100 m</a:t>
            </a:r>
          </a:p>
        </p:txBody>
      </p:sp>
      <p:sp>
        <p:nvSpPr>
          <p:cNvPr id="24" name="重制文本_36">
            <a:extLst xmlns:a="http://schemas.openxmlformats.org/drawingml/2006/main">
              <a:ext uri="{FF2B5EF4-FFF2-40B4-BE49-F238E27FC236}">
                <a16:creationId xmlns:a16="http://schemas.microsoft.com/office/drawing/2014/main" id="{9B29B98E-67D7-459A-9AC8-24D6146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9875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坝顶 P 9 + B 8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前台 F 7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共 24 个设计点</a:t>
            </a:r>
          </a:p>
        </p:txBody>
      </p:sp>
      <p:sp>
        <p:nvSpPr>
          <p:cNvPr id="25" name="重制文本_37">
            <a:extLst xmlns:a="http://schemas.openxmlformats.org/drawingml/2006/main">
              <a:ext uri="{FF2B5EF4-FFF2-40B4-BE49-F238E27FC236}">
                <a16:creationId xmlns:a16="http://schemas.microsoft.com/office/drawing/2014/main" id="{3391ECE6-E7B5-4FD9-8D58-1F3E3439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观看条件 → 屏幕尺度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资源花径 → 点位组合</a:t>
            </a:r>
          </a:p>
        </p:txBody>
      </p:sp>
      <p:sp>
        <p:nvSpPr>
          <p:cNvPr id="26" name="重制文本_38">
            <a:extLst xmlns:a="http://schemas.openxmlformats.org/drawingml/2006/main">
              <a:ext uri="{FF2B5EF4-FFF2-40B4-BE49-F238E27FC236}">
                <a16:creationId xmlns:a16="http://schemas.microsoft.com/office/drawing/2014/main" id="{F384B9C8-79A4-43D4-971E-EB1AD8C7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669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正面仅展开坝顶主点 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点间 B 与前台 F 另按构图组合</a:t>
            </a:r>
          </a:p>
        </p:txBody>
      </p:sp>
      <p:sp>
        <p:nvSpPr>
          <p:cNvPr id="27" name="重制文本_39">
            <a:extLst xmlns:a="http://schemas.openxmlformats.org/drawingml/2006/main">
              <a:ext uri="{FF2B5EF4-FFF2-40B4-BE49-F238E27FC236}">
                <a16:creationId xmlns:a16="http://schemas.microsoft.com/office/drawing/2014/main" id="{307A6865-5060-42EA-80ED-ED5217FB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观看距离与分辨率</a:t>
            </a:r>
          </a:p>
        </p:txBody>
      </p:sp>
      <p:sp>
        <p:nvSpPr>
          <p:cNvPr id="28" name="重制文本_40">
            <a:extLst xmlns:a="http://schemas.openxmlformats.org/drawingml/2006/main">
              <a:ext uri="{FF2B5EF4-FFF2-40B4-BE49-F238E27FC236}">
                <a16:creationId xmlns:a16="http://schemas.microsoft.com/office/drawing/2014/main" id="{EAFA37C3-1BA6-43F9-BF9D-AC2F6CE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约束预览、贴图与采样</a:t>
            </a:r>
          </a:p>
        </p:txBody>
      </p:sp>
      <p:sp>
        <p:nvSpPr>
          <p:cNvPr id="29" name="重制文本_41">
            <a:extLst xmlns:a="http://schemas.openxmlformats.org/drawingml/2006/main">
              <a:ext uri="{FF2B5EF4-FFF2-40B4-BE49-F238E27FC236}">
                <a16:creationId xmlns:a16="http://schemas.microsoft.com/office/drawing/2014/main" id="{702CF350-3BD3-4507-8416-A66E038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006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舞台与发射点</a:t>
            </a:r>
          </a:p>
        </p:txBody>
      </p:sp>
      <p:sp>
        <p:nvSpPr>
          <p:cNvPr id="30" name="重制文本_42">
            <a:extLst xmlns:a="http://schemas.openxmlformats.org/drawingml/2006/main">
              <a:ext uri="{FF2B5EF4-FFF2-40B4-BE49-F238E27FC236}">
                <a16:creationId xmlns:a16="http://schemas.microsoft.com/office/drawing/2014/main" id="{898B39D6-E4D9-415E-8946-0EB75C97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约束开花高度和构图</a:t>
            </a:r>
          </a:p>
        </p:txBody>
      </p:sp>
      <p:sp>
        <p:nvSpPr>
          <p:cNvPr id="31" name="重制文本_43">
            <a:extLst xmlns:a="http://schemas.openxmlformats.org/drawingml/2006/main">
              <a:ext uri="{FF2B5EF4-FFF2-40B4-BE49-F238E27FC236}">
                <a16:creationId xmlns:a16="http://schemas.microsoft.com/office/drawing/2014/main" id="{359D5BE1-0101-4C6B-AE59-10597167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00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分档与预算</a:t>
            </a:r>
          </a:p>
        </p:txBody>
      </p:sp>
      <p:sp>
        <p:nvSpPr>
          <p:cNvPr id="32" name="重制文本_44">
            <a:extLst xmlns:a="http://schemas.openxmlformats.org/drawingml/2006/main">
              <a:ext uri="{FF2B5EF4-FFF2-40B4-BE49-F238E27FC236}">
                <a16:creationId xmlns:a16="http://schemas.microsoft.com/office/drawing/2014/main" id="{6F725C60-E921-420B-85F2-8FD5C993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38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形成资源规格和出表规则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花径与点距，决定画面是疏落还是花墙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重制文本_45">
            <a:extLst xmlns:a="http://schemas.openxmlformats.org/drawingml/2006/main">
              <a:ext uri="{FF2B5EF4-FFF2-40B4-BE49-F238E27FC236}">
                <a16:creationId xmlns:a16="http://schemas.microsoft.com/office/drawing/2014/main" id="{92047861-A54F-429F-A62B-7B6BCA9F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设计参考尺度 · 非实机测量</a:t>
            </a:r>
          </a:p>
        </p:txBody>
      </p:sp>
      <p:sp>
        <p:nvSpPr>
          <p:cNvPr id="7" name="构图_46">
            <a:extLst xmlns:a="http://schemas.openxmlformats.org/drawingml/2006/main">
              <a:ext uri="{FF2B5EF4-FFF2-40B4-BE49-F238E27FC236}">
                <a16:creationId xmlns:a16="http://schemas.microsoft.com/office/drawing/2014/main" id="{7E4D35F0-9817-4265-8E75-4FE94BA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3288"/>
            <a:ext cx="9525" cy="79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构图_47">
            <a:extLst xmlns:a="http://schemas.openxmlformats.org/drawingml/2006/main">
              <a:ext uri="{FF2B5EF4-FFF2-40B4-BE49-F238E27FC236}">
                <a16:creationId xmlns:a16="http://schemas.microsoft.com/office/drawing/2014/main" id="{9EC003D7-2570-4B70-B825-293C754E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3" y="3177540"/>
            <a:ext cx="531495" cy="5314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9" name="重制文本_48">
            <a:extLst xmlns:a="http://schemas.openxmlformats.org/drawingml/2006/main">
              <a:ext uri="{FF2B5EF4-FFF2-40B4-BE49-F238E27FC236}">
                <a16:creationId xmlns:a16="http://schemas.microsoft.com/office/drawing/2014/main" id="{533B14D0-EB3E-48A1-99DD-96C672B0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S · 90 m</a:t>
            </a:r>
          </a:p>
        </p:txBody>
      </p:sp>
      <p:sp>
        <p:nvSpPr>
          <p:cNvPr id="10" name="重制文本_49">
            <a:extLst xmlns:a="http://schemas.openxmlformats.org/drawingml/2006/main">
              <a:ext uri="{FF2B5EF4-FFF2-40B4-BE49-F238E27FC236}">
                <a16:creationId xmlns:a16="http://schemas.microsoft.com/office/drawing/2014/main" id="{39D7661D-1076-4D2D-ADD6-095953A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参考高度 +150 m</a:t>
            </a:r>
          </a:p>
        </p:txBody>
      </p:sp>
      <p:sp>
        <p:nvSpPr>
          <p:cNvPr id="11" name="构图_50">
            <a:extLst xmlns:a="http://schemas.openxmlformats.org/drawingml/2006/main">
              <a:ext uri="{FF2B5EF4-FFF2-40B4-BE49-F238E27FC236}">
                <a16:creationId xmlns:a16="http://schemas.microsoft.com/office/drawing/2014/main" id="{03AEC860-8D97-4710-B74F-7C31B9CE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63253"/>
            <a:ext cx="9525" cy="107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12" name="构图_51">
            <a:extLst xmlns:a="http://schemas.openxmlformats.org/drawingml/2006/main">
              <a:ext uri="{FF2B5EF4-FFF2-40B4-BE49-F238E27FC236}">
                <a16:creationId xmlns:a16="http://schemas.microsoft.com/office/drawing/2014/main" id="{5A2A6105-C05F-475B-BA9A-00944F67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2720340"/>
            <a:ext cx="885825" cy="8858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13" name="重制文本_52">
            <a:extLst xmlns:a="http://schemas.openxmlformats.org/drawingml/2006/main">
              <a:ext uri="{FF2B5EF4-FFF2-40B4-BE49-F238E27FC236}">
                <a16:creationId xmlns:a16="http://schemas.microsoft.com/office/drawing/2014/main" id="{E1826F87-49EA-4E05-85D7-4FCA4EDA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M · 150 m</a:t>
            </a:r>
          </a:p>
        </p:txBody>
      </p:sp>
      <p:sp>
        <p:nvSpPr>
          <p:cNvPr id="14" name="重制文本_53">
            <a:extLst xmlns:a="http://schemas.openxmlformats.org/drawingml/2006/main">
              <a:ext uri="{FF2B5EF4-FFF2-40B4-BE49-F238E27FC236}">
                <a16:creationId xmlns:a16="http://schemas.microsoft.com/office/drawing/2014/main" id="{5CA67432-BD3A-4BF9-AACE-E08B6D19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参考高度 +210 m</a:t>
            </a:r>
          </a:p>
        </p:txBody>
      </p:sp>
      <p:sp>
        <p:nvSpPr>
          <p:cNvPr id="15" name="构图_54">
            <a:extLst xmlns:a="http://schemas.openxmlformats.org/drawingml/2006/main">
              <a:ext uri="{FF2B5EF4-FFF2-40B4-BE49-F238E27FC236}">
                <a16:creationId xmlns:a16="http://schemas.microsoft.com/office/drawing/2014/main" id="{C87D1029-56DE-41A9-8F6D-4D5DE157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3183"/>
            <a:ext cx="9525" cy="1635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构图_55">
            <a:extLst xmlns:a="http://schemas.openxmlformats.org/drawingml/2006/main">
              <a:ext uri="{FF2B5EF4-FFF2-40B4-BE49-F238E27FC236}">
                <a16:creationId xmlns:a16="http://schemas.microsoft.com/office/drawing/2014/main" id="{2DCD2C7C-524D-4BEC-90D9-B6E90E24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368" y="1924050"/>
            <a:ext cx="1358265" cy="135826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17" name="重制文本_56">
            <a:extLst xmlns:a="http://schemas.openxmlformats.org/drawingml/2006/main">
              <a:ext uri="{FF2B5EF4-FFF2-40B4-BE49-F238E27FC236}">
                <a16:creationId xmlns:a16="http://schemas.microsoft.com/office/drawing/2014/main" id="{C1D7BE43-6219-4E0F-9BF5-71D4739D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L · 230 m</a:t>
            </a:r>
          </a:p>
        </p:txBody>
      </p:sp>
      <p:sp>
        <p:nvSpPr>
          <p:cNvPr id="18" name="重制文本_57">
            <a:extLst xmlns:a="http://schemas.openxmlformats.org/drawingml/2006/main">
              <a:ext uri="{FF2B5EF4-FFF2-40B4-BE49-F238E27FC236}">
                <a16:creationId xmlns:a16="http://schemas.microsoft.com/office/drawing/2014/main" id="{AEC514B5-0695-4010-ACA0-F84BCD5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参考高度 +330 m</a:t>
            </a:r>
          </a:p>
        </p:txBody>
      </p:sp>
      <p:sp>
        <p:nvSpPr>
          <p:cNvPr id="19" name="构图_58">
            <a:extLst xmlns:a="http://schemas.openxmlformats.org/drawingml/2006/main">
              <a:ext uri="{FF2B5EF4-FFF2-40B4-BE49-F238E27FC236}">
                <a16:creationId xmlns:a16="http://schemas.microsoft.com/office/drawing/2014/main" id="{52508835-FC1F-4CF6-9EF2-26092000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76475"/>
            <a:ext cx="952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20" name="构图_59">
            <a:extLst xmlns:a="http://schemas.openxmlformats.org/drawingml/2006/main">
              <a:ext uri="{FF2B5EF4-FFF2-40B4-BE49-F238E27FC236}">
                <a16:creationId xmlns:a16="http://schemas.microsoft.com/office/drawing/2014/main" id="{D9A79B26-6679-48D1-B4B2-5402DBB3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355" y="1449705"/>
            <a:ext cx="1653540" cy="16535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FF796"/>
            </a:solidFill>
          </a:ln>
        </p:spPr>
      </p:sp>
      <p:sp>
        <p:nvSpPr>
          <p:cNvPr id="21" name="重制文本_60">
            <a:extLst xmlns:a="http://schemas.openxmlformats.org/drawingml/2006/main">
              <a:ext uri="{FF2B5EF4-FFF2-40B4-BE49-F238E27FC236}">
                <a16:creationId xmlns:a16="http://schemas.microsoft.com/office/drawing/2014/main" id="{557BBEAE-40F5-41EB-878E-F10804E1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Hero · 280 m</a:t>
            </a:r>
          </a:p>
        </p:txBody>
      </p:sp>
      <p:sp>
        <p:nvSpPr>
          <p:cNvPr id="22" name="重制文本_61">
            <a:extLst xmlns:a="http://schemas.openxmlformats.org/drawingml/2006/main">
              <a:ext uri="{FF2B5EF4-FFF2-40B4-BE49-F238E27FC236}">
                <a16:creationId xmlns:a16="http://schemas.microsoft.com/office/drawing/2014/main" id="{30E1B076-FCA9-40E9-A930-37BAE6AB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参考高度 +400 m</a:t>
            </a:r>
          </a:p>
        </p:txBody>
      </p:sp>
      <p:sp>
        <p:nvSpPr>
          <p:cNvPr id="23" name="构图_62">
            <a:extLst xmlns:a="http://schemas.openxmlformats.org/drawingml/2006/main">
              <a:ext uri="{FF2B5EF4-FFF2-40B4-BE49-F238E27FC236}">
                <a16:creationId xmlns:a16="http://schemas.microsoft.com/office/drawing/2014/main" id="{58BA1D91-E59E-4AC7-8C47-3E7D7C8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24" name="重制文本_63">
            <a:extLst xmlns:a="http://schemas.openxmlformats.org/drawingml/2006/main">
              <a:ext uri="{FF2B5EF4-FFF2-40B4-BE49-F238E27FC236}">
                <a16:creationId xmlns:a16="http://schemas.microsoft.com/office/drawing/2014/main" id="{438B17A2-0D0A-40BD-8776-4F29020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坝顶基准</a:t>
            </a:r>
          </a:p>
        </p:txBody>
      </p:sp>
      <p:sp>
        <p:nvSpPr>
          <p:cNvPr id="25" name="构图_64">
            <a:extLst xmlns:a="http://schemas.openxmlformats.org/drawingml/2006/main">
              <a:ext uri="{FF2B5EF4-FFF2-40B4-BE49-F238E27FC236}">
                <a16:creationId xmlns:a16="http://schemas.microsoft.com/office/drawing/2014/main" id="{C2D24E5E-7E77-4EE5-B3D6-2357F3AA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26" name="构图_65">
            <a:extLst xmlns:a="http://schemas.openxmlformats.org/drawingml/2006/main">
              <a:ext uri="{FF2B5EF4-FFF2-40B4-BE49-F238E27FC236}">
                <a16:creationId xmlns:a16="http://schemas.microsoft.com/office/drawing/2014/main" id="{474E24C3-F21A-492D-9331-0FC69014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42925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27" name="构图_66">
            <a:extLst xmlns:a="http://schemas.openxmlformats.org/drawingml/2006/main">
              <a:ext uri="{FF2B5EF4-FFF2-40B4-BE49-F238E27FC236}">
                <a16:creationId xmlns:a16="http://schemas.microsoft.com/office/drawing/2014/main" id="{84DC41A6-3433-4170-9674-7FF11DC6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42925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28" name="重制文本_67">
            <a:extLst xmlns:a="http://schemas.openxmlformats.org/drawingml/2006/main">
              <a:ext uri="{FF2B5EF4-FFF2-40B4-BE49-F238E27FC236}">
                <a16:creationId xmlns:a16="http://schemas.microsoft.com/office/drawing/2014/main" id="{18CC5AE2-D604-41AF-A387-09527B74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149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花径 / 点距 1.5</a:t>
            </a:r>
          </a:p>
        </p:txBody>
      </p:sp>
      <p:sp>
        <p:nvSpPr>
          <p:cNvPr id="29" name="重制文本_68">
            <a:extLst xmlns:a="http://schemas.openxmlformats.org/drawingml/2006/main">
              <a:ext uri="{FF2B5EF4-FFF2-40B4-BE49-F238E27FC236}">
                <a16:creationId xmlns:a16="http://schemas.microsoft.com/office/drawing/2014/main" id="{299AFF61-3B1B-4DE3-A8AF-88CCAD4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仍能辨认单花</a:t>
            </a:r>
          </a:p>
        </p:txBody>
      </p:sp>
      <p:sp>
        <p:nvSpPr>
          <p:cNvPr id="30" name="构图_69">
            <a:extLst xmlns:a="http://schemas.openxmlformats.org/drawingml/2006/main">
              <a:ext uri="{FF2B5EF4-FFF2-40B4-BE49-F238E27FC236}">
                <a16:creationId xmlns:a16="http://schemas.microsoft.com/office/drawing/2014/main" id="{FBCE426E-D17C-404A-A62F-C4066D9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5292090"/>
            <a:ext cx="788670" cy="78867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31" name="构图_70">
            <a:extLst xmlns:a="http://schemas.openxmlformats.org/drawingml/2006/main">
              <a:ext uri="{FF2B5EF4-FFF2-40B4-BE49-F238E27FC236}">
                <a16:creationId xmlns:a16="http://schemas.microsoft.com/office/drawing/2014/main" id="{D3ADCA88-A6B9-41F8-9C2C-8C8E2FED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5292090"/>
            <a:ext cx="788670" cy="78867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32" name="重制文本_71">
            <a:extLst xmlns:a="http://schemas.openxmlformats.org/drawingml/2006/main">
              <a:ext uri="{FF2B5EF4-FFF2-40B4-BE49-F238E27FC236}">
                <a16:creationId xmlns:a16="http://schemas.microsoft.com/office/drawing/2014/main" id="{877443B9-E1B7-486C-B7C0-35D411BC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149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花径 / 点距 2.3</a:t>
            </a:r>
          </a:p>
        </p:txBody>
      </p:sp>
      <p:sp>
        <p:nvSpPr>
          <p:cNvPr id="33" name="重制文本_72">
            <a:extLst xmlns:a="http://schemas.openxmlformats.org/drawingml/2006/main">
              <a:ext uri="{FF2B5EF4-FFF2-40B4-BE49-F238E27FC236}">
                <a16:creationId xmlns:a16="http://schemas.microsoft.com/office/drawing/2014/main" id="{08DC750A-B301-4223-BA08-D0902E90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150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形成花墙</a:t>
            </a:r>
          </a:p>
        </p:txBody>
      </p:sp>
      <p:sp>
        <p:nvSpPr>
          <p:cNvPr id="34" name="构图_73">
            <a:extLst xmlns:a="http://schemas.openxmlformats.org/drawingml/2006/main">
              <a:ext uri="{FF2B5EF4-FFF2-40B4-BE49-F238E27FC236}">
                <a16:creationId xmlns:a16="http://schemas.microsoft.com/office/drawing/2014/main" id="{A174AE63-C124-4E9E-8524-04672A85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72075"/>
            <a:ext cx="1028700" cy="1028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35" name="构图_74">
            <a:extLst xmlns:a="http://schemas.openxmlformats.org/drawingml/2006/main">
              <a:ext uri="{FF2B5EF4-FFF2-40B4-BE49-F238E27FC236}">
                <a16:creationId xmlns:a16="http://schemas.microsoft.com/office/drawing/2014/main" id="{491636AE-4271-4586-ABBB-5991402F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72075"/>
            <a:ext cx="1028700" cy="1028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5F5F5">
                <a:alpha val="68000"/>
              </a:srgbClr>
            </a:solidFill>
          </a:ln>
        </p:spPr>
      </p:sp>
      <p:sp>
        <p:nvSpPr>
          <p:cNvPr id="36" name="重制文本_75">
            <a:extLst xmlns:a="http://schemas.openxmlformats.org/drawingml/2006/main">
              <a:ext uri="{FF2B5EF4-FFF2-40B4-BE49-F238E27FC236}">
                <a16:creationId xmlns:a16="http://schemas.microsoft.com/office/drawing/2014/main" id="{B6CA20B8-0C77-467D-B327-51DD090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149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花径 / 点距 3.0</a:t>
            </a:r>
          </a:p>
        </p:txBody>
      </p:sp>
      <p:sp>
        <p:nvSpPr>
          <p:cNvPr id="37" name="重制文本_76">
            <a:extLst xmlns:a="http://schemas.openxmlformats.org/drawingml/2006/main">
              <a:ext uri="{FF2B5EF4-FFF2-40B4-BE49-F238E27FC236}">
                <a16:creationId xmlns:a16="http://schemas.microsoft.com/office/drawing/2014/main" id="{E33310B6-70E4-407C-9282-70A199D4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150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容易糊成一片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我定方向与验收，AI 按职责推进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构图_77">
            <a:extLst xmlns:a="http://schemas.openxmlformats.org/drawingml/2006/main">
              <a:ext uri="{FF2B5EF4-FFF2-40B4-BE49-F238E27FC236}">
                <a16:creationId xmlns:a16="http://schemas.microsoft.com/office/drawing/2014/main" id="{8AB8E619-6892-454F-86D4-6FF087B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285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7" name="重制文本_78">
            <a:extLst xmlns:a="http://schemas.openxmlformats.org/drawingml/2006/main">
              <a:ext uri="{FF2B5EF4-FFF2-40B4-BE49-F238E27FC236}">
                <a16:creationId xmlns:a16="http://schemas.microsoft.com/office/drawing/2014/main" id="{24E7012A-D5E9-4B45-8F2B-61192A58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我</a:t>
            </a:r>
          </a:p>
        </p:txBody>
      </p:sp>
      <p:sp>
        <p:nvSpPr>
          <p:cNvPr id="8" name="重制文本_79">
            <a:extLst xmlns:a="http://schemas.openxmlformats.org/drawingml/2006/main">
              <a:ext uri="{FF2B5EF4-FFF2-40B4-BE49-F238E27FC236}">
                <a16:creationId xmlns:a16="http://schemas.microsoft.com/office/drawing/2014/main" id="{61D3B702-B7B8-4F25-A443-4B8F6D4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38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目标与参考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美术取舍与规范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整合、UE 验收</a:t>
            </a:r>
          </a:p>
        </p:txBody>
      </p:sp>
      <p:sp>
        <p:nvSpPr>
          <p:cNvPr id="9" name="重制文本_80">
            <a:extLst xmlns:a="http://schemas.openxmlformats.org/drawingml/2006/main">
              <a:ext uri="{FF2B5EF4-FFF2-40B4-BE49-F238E27FC236}">
                <a16:creationId xmlns:a16="http://schemas.microsoft.com/office/drawing/2014/main" id="{4B7B798D-FFBF-44F3-8B4B-A82A1482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955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构图_81">
            <a:extLst xmlns:a="http://schemas.openxmlformats.org/drawingml/2006/main">
              <a:ext uri="{FF2B5EF4-FFF2-40B4-BE49-F238E27FC236}">
                <a16:creationId xmlns:a16="http://schemas.microsoft.com/office/drawing/2014/main" id="{64354911-64D5-4A45-8455-B2632125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57325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1" name="重制文本_82">
            <a:extLst xmlns:a="http://schemas.openxmlformats.org/drawingml/2006/main">
              <a:ext uri="{FF2B5EF4-FFF2-40B4-BE49-F238E27FC236}">
                <a16:creationId xmlns:a16="http://schemas.microsoft.com/office/drawing/2014/main" id="{7A821B1A-D56C-4CE9-88C7-F37A1415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859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效果负责人</a:t>
            </a:r>
          </a:p>
        </p:txBody>
      </p:sp>
      <p:sp>
        <p:nvSpPr>
          <p:cNvPr id="12" name="重制文本_83">
            <a:extLst xmlns:a="http://schemas.openxmlformats.org/drawingml/2006/main">
              <a:ext uri="{FF2B5EF4-FFF2-40B4-BE49-F238E27FC236}">
                <a16:creationId xmlns:a16="http://schemas.microsoft.com/office/drawing/2014/main" id="{88EA58BF-8844-47F2-82C1-D9A2FC75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76475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运动与外观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素材与配方</a:t>
            </a:r>
          </a:p>
        </p:txBody>
      </p:sp>
      <p:sp>
        <p:nvSpPr>
          <p:cNvPr id="13" name="构图_84">
            <a:extLst xmlns:a="http://schemas.openxmlformats.org/drawingml/2006/main">
              <a:ext uri="{FF2B5EF4-FFF2-40B4-BE49-F238E27FC236}">
                <a16:creationId xmlns:a16="http://schemas.microsoft.com/office/drawing/2014/main" id="{647316B3-5B4A-4294-8920-CEB0594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57325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4" name="重制文本_85">
            <a:extLst xmlns:a="http://schemas.openxmlformats.org/drawingml/2006/main">
              <a:ext uri="{FF2B5EF4-FFF2-40B4-BE49-F238E27FC236}">
                <a16:creationId xmlns:a16="http://schemas.microsoft.com/office/drawing/2014/main" id="{73107040-2AA4-436C-8B53-766CD236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859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底层负责人</a:t>
            </a:r>
          </a:p>
        </p:txBody>
      </p:sp>
      <p:sp>
        <p:nvSpPr>
          <p:cNvPr id="15" name="重制文本_86">
            <a:extLst xmlns:a="http://schemas.openxmlformats.org/drawingml/2006/main">
              <a:ext uri="{FF2B5EF4-FFF2-40B4-BE49-F238E27FC236}">
                <a16:creationId xmlns:a16="http://schemas.microsoft.com/office/drawing/2014/main" id="{B00DB5CF-D9D6-45E1-BFCF-2A8517FD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76475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渲染与导出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交付与检查</a:t>
            </a:r>
          </a:p>
        </p:txBody>
      </p:sp>
      <p:sp>
        <p:nvSpPr>
          <p:cNvPr id="16" name="构图_87">
            <a:extLst xmlns:a="http://schemas.openxmlformats.org/drawingml/2006/main">
              <a:ext uri="{FF2B5EF4-FFF2-40B4-BE49-F238E27FC236}">
                <a16:creationId xmlns:a16="http://schemas.microsoft.com/office/drawing/2014/main" id="{379D53F3-3347-49A3-8CB3-4169128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57325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7" name="重制文本_88">
            <a:extLst xmlns:a="http://schemas.openxmlformats.org/drawingml/2006/main">
              <a:ext uri="{FF2B5EF4-FFF2-40B4-BE49-F238E27FC236}">
                <a16:creationId xmlns:a16="http://schemas.microsoft.com/office/drawing/2014/main" id="{4E6AFCB2-6D68-4148-B66D-49068CC8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859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编排负责人</a:t>
            </a:r>
          </a:p>
        </p:txBody>
      </p:sp>
      <p:sp>
        <p:nvSpPr>
          <p:cNvPr id="18" name="重制文本_89">
            <a:extLst xmlns:a="http://schemas.openxmlformats.org/drawingml/2006/main">
              <a:ext uri="{FF2B5EF4-FFF2-40B4-BE49-F238E27FC236}">
                <a16:creationId xmlns:a16="http://schemas.microsoft.com/office/drawing/2014/main" id="{A3044A1B-C7F7-45E8-99C9-87A9EA22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76475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音乐与构图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预算与出表</a:t>
            </a:r>
          </a:p>
        </p:txBody>
      </p:sp>
      <p:sp>
        <p:nvSpPr>
          <p:cNvPr id="19" name="构图_90">
            <a:extLst xmlns:a="http://schemas.openxmlformats.org/drawingml/2006/main">
              <a:ext uri="{FF2B5EF4-FFF2-40B4-BE49-F238E27FC236}">
                <a16:creationId xmlns:a16="http://schemas.microsoft.com/office/drawing/2014/main" id="{18622A9C-1F1B-4E69-9D36-DB492AE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0425"/>
            <a:ext cx="704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20" name="重制文本_91">
            <a:extLst xmlns:a="http://schemas.openxmlformats.org/drawingml/2006/main">
              <a:ext uri="{FF2B5EF4-FFF2-40B4-BE49-F238E27FC236}">
                <a16:creationId xmlns:a16="http://schemas.microsoft.com/office/drawing/2014/main" id="{DCA6B2FF-082D-485A-A3F4-5C8407CD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90925"/>
            <a:ext cx="662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任务边界 → 固定交接 → 自检 → 回到 UE 验收</a:t>
            </a:r>
          </a:p>
        </p:txBody>
      </p:sp>
      <p:sp>
        <p:nvSpPr>
          <p:cNvPr id="21" name="构图_92">
            <a:extLst xmlns:a="http://schemas.openxmlformats.org/drawingml/2006/main">
              <a:ext uri="{FF2B5EF4-FFF2-40B4-BE49-F238E27FC236}">
                <a16:creationId xmlns:a16="http://schemas.microsoft.com/office/drawing/2014/main" id="{F3A274A8-2FD8-4648-8BED-F8AF6C3D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22" name="重制文本_93">
            <a:extLst xmlns:a="http://schemas.openxmlformats.org/drawingml/2006/main">
              <a:ext uri="{FF2B5EF4-FFF2-40B4-BE49-F238E27FC236}">
                <a16:creationId xmlns:a16="http://schemas.microsoft.com/office/drawing/2014/main" id="{C6FACDC7-0013-4847-8CC1-7A606241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约 2200</a:t>
            </a:r>
          </a:p>
        </p:txBody>
      </p:sp>
      <p:sp>
        <p:nvSpPr>
          <p:cNvPr id="23" name="重制文本_94">
            <a:extLst xmlns:a="http://schemas.openxmlformats.org/drawingml/2006/main">
              <a:ext uri="{FF2B5EF4-FFF2-40B4-BE49-F238E27FC236}">
                <a16:creationId xmlns:a16="http://schemas.microsoft.com/office/drawing/2014/main" id="{65DB5929-BB4E-4329-8085-7748A27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67300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次仓库提交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含 352 次自动回传</a:t>
            </a:r>
          </a:p>
        </p:txBody>
      </p:sp>
      <p:sp>
        <p:nvSpPr>
          <p:cNvPr id="24" name="重制文本_95">
            <a:extLst xmlns:a="http://schemas.openxmlformats.org/drawingml/2006/main">
              <a:ext uri="{FF2B5EF4-FFF2-40B4-BE49-F238E27FC236}">
                <a16:creationId xmlns:a16="http://schemas.microsoft.com/office/drawing/2014/main" id="{8657C977-8388-4138-AF18-6D5006C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720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近 200</a:t>
            </a:r>
          </a:p>
        </p:txBody>
      </p:sp>
      <p:sp>
        <p:nvSpPr>
          <p:cNvPr id="25" name="重制文本_96">
            <a:extLst xmlns:a="http://schemas.openxmlformats.org/drawingml/2006/main">
              <a:ext uri="{FF2B5EF4-FFF2-40B4-BE49-F238E27FC236}">
                <a16:creationId xmlns:a16="http://schemas.microsoft.com/office/drawing/2014/main" id="{C5B30C3E-E85B-43EE-9E78-DBA28B0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条烘焙器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版本记录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从单个花型，到可重复输出的资源库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6E3B4-7E4E-4F56-83D3-2E9FE6481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d574721324620"/>
          <a:stretch xmlns:a="http://schemas.openxmlformats.org/drawingml/2006/main"/>
        </p:blipFill>
        <p:spPr>
          <a:xfrm xmlns:a="http://schemas.openxmlformats.org/drawingml/2006/main">
            <a:off x="1323975" y="1295400"/>
            <a:ext cx="2076450" cy="2076450"/>
          </a:xfrm>
          <a:prstGeom xmlns:a="http://schemas.openxmlformats.org/drawingml/2006/main" prst="rect">
            <a:avLst/>
          </a:prstGeom>
        </p:spPr>
      </p:pic>
      <p:sp>
        <p:nvSpPr>
          <p:cNvPr id="7" name="重制文本_97">
            <a:extLst xmlns:a="http://schemas.openxmlformats.org/drawingml/2006/main">
              <a:ext uri="{FF2B5EF4-FFF2-40B4-BE49-F238E27FC236}">
                <a16:creationId xmlns:a16="http://schemas.microsoft.com/office/drawing/2014/main" id="{19FAD140-1076-4CE6-A184-7C637F6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金蕊柠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76670-E202-461F-8409-B8078CF951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2ea18f4104839"/>
          <a:stretch xmlns:a="http://schemas.openxmlformats.org/drawingml/2006/main"/>
        </p:blipFill>
        <p:spPr>
          <a:xfrm xmlns:a="http://schemas.openxmlformats.org/drawingml/2006/main">
            <a:off x="5057775" y="1295400"/>
            <a:ext cx="2076450" cy="2076450"/>
          </a:xfrm>
          <a:prstGeom xmlns:a="http://schemas.openxmlformats.org/drawingml/2006/main" prst="rect">
            <a:avLst/>
          </a:prstGeom>
        </p:spPr>
      </p:pic>
      <p:sp>
        <p:nvSpPr>
          <p:cNvPr id="9" name="重制文本_98">
            <a:extLst xmlns:a="http://schemas.openxmlformats.org/drawingml/2006/main">
              <a:ext uri="{FF2B5EF4-FFF2-40B4-BE49-F238E27FC236}">
                <a16:creationId xmlns:a16="http://schemas.microsoft.com/office/drawing/2014/main" id="{1B657768-F924-41BA-A350-F8503725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金锦菊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2909F-6375-4667-A380-1EFAC7FF8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091857cc0473d"/>
          <a:stretch xmlns:a="http://schemas.openxmlformats.org/drawingml/2006/main"/>
        </p:blipFill>
        <p:spPr>
          <a:xfrm xmlns:a="http://schemas.openxmlformats.org/drawingml/2006/main">
            <a:off x="8791575" y="1295400"/>
            <a:ext cx="2076450" cy="2076450"/>
          </a:xfrm>
          <a:prstGeom xmlns:a="http://schemas.openxmlformats.org/drawingml/2006/main" prst="rect">
            <a:avLst/>
          </a:prstGeom>
        </p:spPr>
      </p:pic>
      <p:sp>
        <p:nvSpPr>
          <p:cNvPr id="11" name="重制文本_99">
            <a:extLst xmlns:a="http://schemas.openxmlformats.org/drawingml/2006/main">
              <a:ext uri="{FF2B5EF4-FFF2-40B4-BE49-F238E27FC236}">
                <a16:creationId xmlns:a16="http://schemas.microsoft.com/office/drawing/2014/main" id="{66189E11-AEDF-4CD7-AB90-88F3809E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小青柠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00FFF-DA22-4265-9B60-0C1D4C7F9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7a83647284ac5"/>
          <a:stretch xmlns:a="http://schemas.openxmlformats.org/drawingml/2006/main"/>
        </p:blipFill>
        <p:spPr>
          <a:xfrm xmlns:a="http://schemas.openxmlformats.org/drawingml/2006/main">
            <a:off x="1323975" y="3695700"/>
            <a:ext cx="2076450" cy="2076450"/>
          </a:xfrm>
          <a:prstGeom xmlns:a="http://schemas.openxmlformats.org/drawingml/2006/main" prst="rect">
            <a:avLst/>
          </a:prstGeom>
        </p:spPr>
      </p:pic>
      <p:sp>
        <p:nvSpPr>
          <p:cNvPr id="13" name="重制文本_100">
            <a:extLst xmlns:a="http://schemas.openxmlformats.org/drawingml/2006/main">
              <a:ext uri="{FF2B5EF4-FFF2-40B4-BE49-F238E27FC236}">
                <a16:creationId xmlns:a16="http://schemas.microsoft.com/office/drawing/2014/main" id="{56AD8E31-AA45-48E6-8EE5-D2C72B1E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小金花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BA1D4-C83A-407A-873A-B829F4718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4a01c4d434aaa"/>
          <a:stretch xmlns:a="http://schemas.openxmlformats.org/drawingml/2006/main"/>
        </p:blipFill>
        <p:spPr>
          <a:xfrm xmlns:a="http://schemas.openxmlformats.org/drawingml/2006/main">
            <a:off x="5057775" y="3695700"/>
            <a:ext cx="2076450" cy="2076450"/>
          </a:xfrm>
          <a:prstGeom xmlns:a="http://schemas.openxmlformats.org/drawingml/2006/main" prst="rect">
            <a:avLst/>
          </a:prstGeom>
        </p:spPr>
      </p:pic>
      <p:sp>
        <p:nvSpPr>
          <p:cNvPr id="15" name="重制文本_101">
            <a:extLst xmlns:a="http://schemas.openxmlformats.org/drawingml/2006/main">
              <a:ext uri="{FF2B5EF4-FFF2-40B4-BE49-F238E27FC236}">
                <a16:creationId xmlns:a16="http://schemas.microsoft.com/office/drawing/2014/main" id="{C014BA88-E9A1-41DE-A13E-6E3290D8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340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银白菊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EED01-2681-4DF9-A7B3-1D36B5CA0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9eb36bf574b7c"/>
          <a:stretch xmlns:a="http://schemas.openxmlformats.org/drawingml/2006/main"/>
        </p:blipFill>
        <p:spPr>
          <a:xfrm xmlns:a="http://schemas.openxmlformats.org/drawingml/2006/main">
            <a:off x="8791575" y="3695700"/>
            <a:ext cx="2076450" cy="2076450"/>
          </a:xfrm>
          <a:prstGeom xmlns:a="http://schemas.openxmlformats.org/drawingml/2006/main" prst="rect">
            <a:avLst/>
          </a:prstGeom>
        </p:spPr>
      </p:pic>
      <p:sp>
        <p:nvSpPr>
          <p:cNvPr id="17" name="重制文本_102">
            <a:extLst xmlns:a="http://schemas.openxmlformats.org/drawingml/2006/main">
              <a:ext uri="{FF2B5EF4-FFF2-40B4-BE49-F238E27FC236}">
                <a16:creationId xmlns:a16="http://schemas.microsoft.com/office/drawing/2014/main" id="{31AC06BB-EE5A-419E-B116-C6F29559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340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爆裂星</a:t>
            </a:r>
          </a:p>
        </p:txBody>
      </p:sp>
      <p:sp>
        <p:nvSpPr>
          <p:cNvPr id="18" name="重制文本_103">
            <a:extLst xmlns:a="http://schemas.openxmlformats.org/drawingml/2006/main">
              <a:ext uri="{FF2B5EF4-FFF2-40B4-BE49-F238E27FC236}">
                <a16:creationId xmlns:a16="http://schemas.microsoft.com/office/drawing/2014/main" id="{97EAB6BB-F3DD-4CCF-9B5C-273C574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UE 资产试放 · 跨年烟花 3.0 花型示例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一份素材包，把制作结果带进引擎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6E876-C8EA-4AFD-B5B7-3CF492F76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7784bf4244811"/>
          <a:stretch xmlns:a="http://schemas.openxmlformats.org/drawingml/2006/main"/>
        </p:blipFill>
        <p:spPr>
          <a:xfrm xmlns:a="http://schemas.openxmlformats.org/drawingml/2006/main">
            <a:off x="609600" y="1423988"/>
            <a:ext cx="7048500" cy="1762125"/>
          </a:xfrm>
          <a:prstGeom xmlns:a="http://schemas.openxmlformats.org/drawingml/2006/main" prst="rect">
            <a:avLst/>
          </a:prstGeom>
        </p:spPr>
      </p:pic>
      <p:sp>
        <p:nvSpPr>
          <p:cNvPr id="7" name="构图_104">
            <a:extLst xmlns:a="http://schemas.openxmlformats.org/drawingml/2006/main">
              <a:ext uri="{FF2B5EF4-FFF2-40B4-BE49-F238E27FC236}">
                <a16:creationId xmlns:a16="http://schemas.microsoft.com/office/drawing/2014/main" id="{C43238BC-D3B1-4684-ACB8-3EB2148C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105">
            <a:extLst xmlns:a="http://schemas.openxmlformats.org/drawingml/2006/main">
              <a:ext uri="{FF2B5EF4-FFF2-40B4-BE49-F238E27FC236}">
                <a16:creationId xmlns:a16="http://schemas.microsoft.com/office/drawing/2014/main" id="{1730E877-917C-40D6-BE68-AD87681D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仙女棒 · 64 帧序列展开示例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45A81-0F47-4BF9-B5FA-CA3F7F87E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5667be49a4dc1"/>
          <a:stretch xmlns:a="http://schemas.openxmlformats.org/drawingml/2006/main"/>
        </p:blipFill>
        <p:spPr>
          <a:xfrm xmlns:a="http://schemas.openxmlformats.org/drawingml/2006/main">
            <a:off x="2167890" y="3514725"/>
            <a:ext cx="3931920" cy="2457450"/>
          </a:xfrm>
          <a:prstGeom xmlns:a="http://schemas.openxmlformats.org/drawingml/2006/main" prst="rect">
            <a:avLst/>
          </a:prstGeom>
        </p:spPr>
      </p:pic>
      <p:sp>
        <p:nvSpPr>
          <p:cNvPr id="10" name="构图_106">
            <a:extLst xmlns:a="http://schemas.openxmlformats.org/drawingml/2006/main">
              <a:ext uri="{FF2B5EF4-FFF2-40B4-BE49-F238E27FC236}">
                <a16:creationId xmlns:a16="http://schemas.microsoft.com/office/drawing/2014/main" id="{992A1496-801A-41E0-A860-644E0EFA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重制文本_107">
            <a:extLst xmlns:a="http://schemas.openxmlformats.org/drawingml/2006/main">
              <a:ext uri="{FF2B5EF4-FFF2-40B4-BE49-F238E27FC236}">
                <a16:creationId xmlns:a16="http://schemas.microsoft.com/office/drawing/2014/main" id="{E6309531-6DDD-4383-A78A-0AFE49F7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导入器 · 接入流程示例</a:t>
            </a:r>
          </a:p>
        </p:txBody>
      </p:sp>
      <p:sp>
        <p:nvSpPr>
          <p:cNvPr id="12" name="重制文本_108">
            <a:extLst xmlns:a="http://schemas.openxmlformats.org/drawingml/2006/main">
              <a:ext uri="{FF2B5EF4-FFF2-40B4-BE49-F238E27FC236}">
                <a16:creationId xmlns:a16="http://schemas.microsoft.com/office/drawing/2014/main" id="{323ECA00-6675-4B9F-B9E1-8279E0FB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049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5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4022</a:t>
            </a:r>
          </a:p>
        </p:txBody>
      </p:sp>
      <p:sp>
        <p:nvSpPr>
          <p:cNvPr id="13" name="重制文本_109">
            <a:extLst xmlns:a="http://schemas.openxmlformats.org/drawingml/2006/main">
              <a:ext uri="{FF2B5EF4-FFF2-40B4-BE49-F238E27FC236}">
                <a16:creationId xmlns:a16="http://schemas.microsoft.com/office/drawing/2014/main" id="{B2E1CF21-A602-4694-B729-7C2F1CC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717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份累计素材 PNG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含迭代版本</a:t>
            </a:r>
          </a:p>
        </p:txBody>
      </p:sp>
      <p:sp>
        <p:nvSpPr>
          <p:cNvPr id="14" name="重制文本_110">
            <a:extLst xmlns:a="http://schemas.openxmlformats.org/drawingml/2006/main">
              <a:ext uri="{FF2B5EF4-FFF2-40B4-BE49-F238E27FC236}">
                <a16:creationId xmlns:a16="http://schemas.microsoft.com/office/drawing/2014/main" id="{E442A834-2D5A-4FFA-9D81-F9959C61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466 份导出清单</a:t>
            </a:r>
          </a:p>
        </p:txBody>
      </p:sp>
      <p:sp>
        <p:nvSpPr>
          <p:cNvPr id="15" name="重制文本_111">
            <a:extLst xmlns:a="http://schemas.openxmlformats.org/drawingml/2006/main">
              <a:ext uri="{FF2B5EF4-FFF2-40B4-BE49-F238E27FC236}">
                <a16:creationId xmlns:a16="http://schemas.microsoft.com/office/drawing/2014/main" id="{59AD3E57-FA60-43F1-BA5C-C8181E9D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481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主序列、Ramp、Cutout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和绑定配置一起交付。</a:t>
            </a:r>
          </a:p>
        </p:txBody>
      </p:sp>
      <p:sp>
        <p:nvSpPr>
          <p:cNvPr id="16" name="重制文本_112">
            <a:extLst xmlns:a="http://schemas.openxmlformats.org/drawingml/2006/main">
              <a:ext uri="{FF2B5EF4-FFF2-40B4-BE49-F238E27FC236}">
                <a16:creationId xmlns:a16="http://schemas.microsoft.com/office/drawing/2014/main" id="{0D34DB15-B077-4EDE-BD9F-4802ED00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逐项设置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读包、批量创建与检查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EF5111FF-6976-43EA-82B7-B785BE7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50CB55-1053-43E0-90AD-B96629C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在时间线上改编排，按平台与档位出表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17EADAC9-43FC-4267-AEF5-ABDFCF0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3819B6-917E-4732-B1D1-175B1FF3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CE6ED60-9723-4EC2-BA2F-CF2986BBA3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6110eef55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8900"/>
            <a:ext cx="10972800" cy="27940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D386B83-90C1-4260-92EB-A1D7E2A9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2700"/>
            <a:ext cx="8128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source_tag">
            <a:extLst xmlns:a="http://schemas.openxmlformats.org/drawingml/2006/main">
              <a:ext uri="{FF2B5EF4-FFF2-40B4-BE49-F238E27FC236}">
                <a16:creationId xmlns:a16="http://schemas.microsoft.com/office/drawing/2014/main" id="{BDAA9757-8D08-421F-A662-C37FF251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27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DFA60F-EA78-4566-808A-A795AEB8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400800" cy="172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A0711F-CDFF-4E64-8F79-520B30F4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8100" cy="172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139F3F-E2B5-4B41-ABA3-592A97E8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470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60"/>
              </a:lnSpc>
              <a:buNone/>
            </a:pPr>
            <a:r>
              <a:rPr sz="1200" b="1" spc="2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节目迭代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AF94F38-0EF3-420F-9D78-F7293EA6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7244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90"/>
              </a:lnSpc>
              <a:buNone/>
            </a:pPr>
            <a:r>
              <a:rPr sz="38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个大版本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19C59CB-F227-4956-966B-F64AF73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244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90"/>
              </a:lnSpc>
              <a:buNone/>
            </a:pPr>
            <a:r>
              <a:rPr sz="38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37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次云端发布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70ED33A-BD10-4AB6-85E4-BBB4BF1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372100"/>
            <a:ext cx="596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8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B01 → B11，持续调整音乐段落、花型与节奏。</a:t>
            </a:r>
          </a:p>
          <a:p xmlns:a="http://schemas.openxmlformats.org/drawingml/2006/main">
            <a:pPr algn="l">
              <a:lnSpc>
                <a:spcPts val="18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同一份设计生成不同档位的导演表，保留可回退存档。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88DF2E-CD46-4259-8CDF-4C4C3F3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4267200" cy="172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10E3BF1-4D15-4175-B6DD-1F5BE3A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470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B11r3 · 按档位展开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BD3F83F-6813-4321-AE35-4791893F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775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0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PC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1145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852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438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10F873D-E0E5-4BBC-85D0-4377BD53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51943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0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手游</a:t>
            </a: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448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349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20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181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7466303-344E-43C7-B8E2-B5E515B8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5638800"/>
            <a:ext cx="381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679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高 / 中 / 低档播放事件数</a:t>
            </a:r>
          </a:p>
        </p:txBody>
      </p:sp>
    </p:spTree>
    <p:extLst>
      <p:ext uri="{BB962C8B-B14F-4D97-AF65-F5344CB8AC3E}">
        <p14:creationId xmlns:p14="http://schemas.microsoft.com/office/powerpoint/2010/main" val="1324836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经验沉淀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13 类火星，在烘焙阶段合成复杂层次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0657-AEA1-45A3-9385-D8AC09580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43c9255a941eb"/>
          <a:stretch xmlns:a="http://schemas.openxmlformats.org/drawingml/2006/main"/>
        </p:blipFill>
        <p:spPr>
          <a:xfrm xmlns:a="http://schemas.openxmlformats.org/drawingml/2006/main">
            <a:off x="995363" y="1352550"/>
            <a:ext cx="4524375" cy="4524375"/>
          </a:xfrm>
          <a:prstGeom xmlns:a="http://schemas.openxmlformats.org/drawingml/2006/main" prst="rect">
            <a:avLst/>
          </a:prstGeom>
        </p:spPr>
      </p:pic>
      <p:sp>
        <p:nvSpPr>
          <p:cNvPr id="7" name="构图_113">
            <a:extLst xmlns:a="http://schemas.openxmlformats.org/drawingml/2006/main">
              <a:ext uri="{FF2B5EF4-FFF2-40B4-BE49-F238E27FC236}">
                <a16:creationId xmlns:a16="http://schemas.microsoft.com/office/drawing/2014/main" id="{1726738D-D3BE-40B5-927A-17E696EB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152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114">
            <a:extLst xmlns:a="http://schemas.openxmlformats.org/drawingml/2006/main">
              <a:ext uri="{FF2B5EF4-FFF2-40B4-BE49-F238E27FC236}">
                <a16:creationId xmlns:a16="http://schemas.microsoft.com/office/drawing/2014/main" id="{78A79070-1B37-4B79-90AA-D70D1088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烘焙器历史回放</a:t>
            </a:r>
          </a:p>
        </p:txBody>
      </p:sp>
      <p:sp>
        <p:nvSpPr>
          <p:cNvPr id="9" name="重制文本_115">
            <a:extLst xmlns:a="http://schemas.openxmlformats.org/drawingml/2006/main">
              <a:ext uri="{FF2B5EF4-FFF2-40B4-BE49-F238E27FC236}">
                <a16:creationId xmlns:a16="http://schemas.microsoft.com/office/drawing/2014/main" id="{17C1B355-3E0B-461B-888F-21FBB82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57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13 → 1</a:t>
            </a:r>
          </a:p>
        </p:txBody>
      </p:sp>
      <p:sp>
        <p:nvSpPr>
          <p:cNvPr id="10" name="重制文本_116">
            <a:extLst xmlns:a="http://schemas.openxmlformats.org/drawingml/2006/main">
              <a:ext uri="{FF2B5EF4-FFF2-40B4-BE49-F238E27FC236}">
                <a16:creationId xmlns:a16="http://schemas.microsoft.com/office/drawing/2014/main" id="{9109D062-CA82-4A7D-918A-8C404495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384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多类火星模拟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合成一张主序列</a:t>
            </a:r>
          </a:p>
        </p:txBody>
      </p:sp>
      <p:sp>
        <p:nvSpPr>
          <p:cNvPr id="11" name="构图_117">
            <a:extLst xmlns:a="http://schemas.openxmlformats.org/drawingml/2006/main">
              <a:ext uri="{FF2B5EF4-FFF2-40B4-BE49-F238E27FC236}">
                <a16:creationId xmlns:a16="http://schemas.microsoft.com/office/drawing/2014/main" id="{7AF35B0E-F18A-4121-A994-2A334898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18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12" name="重制文本_118">
            <a:extLst xmlns:a="http://schemas.openxmlformats.org/drawingml/2006/main">
              <a:ext uri="{FF2B5EF4-FFF2-40B4-BE49-F238E27FC236}">
                <a16:creationId xmlns:a16="http://schemas.microsoft.com/office/drawing/2014/main" id="{2B250085-73BA-4A43-9A0E-E030B580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48075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母粒 → 一级分叉 → 二级碎火星</a:t>
            </a:r>
          </a:p>
        </p:txBody>
      </p:sp>
      <p:sp>
        <p:nvSpPr>
          <p:cNvPr id="13" name="重制文本_119">
            <a:extLst xmlns:a="http://schemas.openxmlformats.org/drawingml/2006/main">
              <a:ext uri="{FF2B5EF4-FFF2-40B4-BE49-F238E27FC236}">
                <a16:creationId xmlns:a16="http://schemas.microsoft.com/office/drawing/2014/main" id="{E2CC11AA-E2BE-452F-B6C4-91F00FC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事件位置与速度继承建立关联；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快门积分、深度与散焦组织层次。</a:t>
            </a:r>
          </a:p>
        </p:txBody>
      </p:sp>
      <p:sp>
        <p:nvSpPr>
          <p:cNvPr id="14" name="重制文本_120">
            <a:extLst xmlns:a="http://schemas.openxmlformats.org/drawingml/2006/main">
              <a:ext uri="{FF2B5EF4-FFF2-40B4-BE49-F238E27FC236}">
                <a16:creationId xmlns:a16="http://schemas.microsoft.com/office/drawing/2014/main" id="{0E762D10-11BD-465F-9C58-A265C20E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721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4.9.118 包：各 1 个 CPU 发射器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候选效果仍待 UE 观感验收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经验沉淀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尾缀采样：把帧数留给运动最快的阶段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A3FC0-249D-4218-9C88-E63F55C9F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19ff97fa1497e"/>
          <a:stretch xmlns:a="http://schemas.openxmlformats.org/drawingml/2006/main"/>
        </p:blipFill>
        <p:spPr>
          <a:xfrm xmlns:a="http://schemas.openxmlformats.org/drawingml/2006/main">
            <a:off x="609600" y="1382263"/>
            <a:ext cx="5362575" cy="4141100"/>
          </a:xfrm>
          <a:prstGeom xmlns:a="http://schemas.openxmlformats.org/drawingml/2006/main" prst="rect">
            <a:avLst/>
          </a:prstGeom>
        </p:spPr>
      </p:pic>
      <p:sp>
        <p:nvSpPr>
          <p:cNvPr id="7" name="构图_121">
            <a:extLst xmlns:a="http://schemas.openxmlformats.org/drawingml/2006/main">
              <a:ext uri="{FF2B5EF4-FFF2-40B4-BE49-F238E27FC236}">
                <a16:creationId xmlns:a16="http://schemas.microsoft.com/office/drawing/2014/main" id="{A610C7F8-AEDE-4E5F-B9ED-68EFD063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122">
            <a:extLst xmlns:a="http://schemas.openxmlformats.org/drawingml/2006/main">
              <a:ext uri="{FF2B5EF4-FFF2-40B4-BE49-F238E27FC236}">
                <a16:creationId xmlns:a16="http://schemas.microsoft.com/office/drawing/2014/main" id="{0797DE1D-746F-42D5-8D38-F55D1B3B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517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UE 实机 · 尾缀</a:t>
            </a:r>
          </a:p>
        </p:txBody>
      </p:sp>
      <p:sp>
        <p:nvSpPr>
          <p:cNvPr id="9" name="重制文本_123">
            <a:extLst xmlns:a="http://schemas.openxmlformats.org/drawingml/2006/main">
              <a:ext uri="{FF2B5EF4-FFF2-40B4-BE49-F238E27FC236}">
                <a16:creationId xmlns:a16="http://schemas.microsoft.com/office/drawing/2014/main" id="{3F02AA99-6B19-4FB0-80C8-39C96BC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573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近段跟随弹体，远段保留老火星</a:t>
            </a:r>
          </a:p>
        </p:txBody>
      </p:sp>
      <p:sp>
        <p:nvSpPr>
          <p:cNvPr id="10" name="重制文本_124">
            <a:extLst xmlns:a="http://schemas.openxmlformats.org/drawingml/2006/main">
              <a:ext uri="{FF2B5EF4-FFF2-40B4-BE49-F238E27FC236}">
                <a16:creationId xmlns:a16="http://schemas.microsoft.com/office/drawing/2014/main" id="{80255F6E-0A59-4E41-9676-AC6C81AC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85975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近远按火星年龄拆分；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不是相机距离触发的 LOD。</a:t>
            </a:r>
          </a:p>
        </p:txBody>
      </p:sp>
      <p:sp>
        <p:nvSpPr>
          <p:cNvPr id="11" name="重制文本_125">
            <a:extLst xmlns:a="http://schemas.openxmlformats.org/drawingml/2006/main">
              <a:ext uri="{FF2B5EF4-FFF2-40B4-BE49-F238E27FC236}">
                <a16:creationId xmlns:a16="http://schemas.microsoft.com/office/drawing/2014/main" id="{98744961-C6AA-43D5-8F5C-B257BEC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先算屏幕位移，再分配帧数</a:t>
            </a:r>
          </a:p>
        </p:txBody>
      </p:sp>
      <p:sp>
        <p:nvSpPr>
          <p:cNvPr id="12" name="重制文本_126">
            <a:extLst xmlns:a="http://schemas.openxmlformats.org/drawingml/2006/main">
              <a:ext uri="{FF2B5EF4-FFF2-40B4-BE49-F238E27FC236}">
                <a16:creationId xmlns:a16="http://schemas.microsoft.com/office/drawing/2014/main" id="{F3A6AD90-F0C9-42E4-AC4B-CC5302C5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800 m · 1080p 观察条件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快处密采样，慢处才减帧</a:t>
            </a:r>
          </a:p>
        </p:txBody>
      </p:sp>
      <p:sp>
        <p:nvSpPr>
          <p:cNvPr id="13" name="构图_127">
            <a:extLst xmlns:a="http://schemas.openxmlformats.org/drawingml/2006/main">
              <a:ext uri="{FF2B5EF4-FFF2-40B4-BE49-F238E27FC236}">
                <a16:creationId xmlns:a16="http://schemas.microsoft.com/office/drawing/2014/main" id="{F3E43473-E3D7-4E7D-AED6-0785B6C8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86325"/>
            <a:ext cx="432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构图_128">
            <a:extLst xmlns:a="http://schemas.openxmlformats.org/drawingml/2006/main">
              <a:ext uri="{FF2B5EF4-FFF2-40B4-BE49-F238E27FC236}">
                <a16:creationId xmlns:a16="http://schemas.microsoft.com/office/drawing/2014/main" id="{8617A41E-08FD-407F-B9D6-D055F81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5" name="构图_129">
            <a:extLst xmlns:a="http://schemas.openxmlformats.org/drawingml/2006/main">
              <a:ext uri="{FF2B5EF4-FFF2-40B4-BE49-F238E27FC236}">
                <a16:creationId xmlns:a16="http://schemas.microsoft.com/office/drawing/2014/main" id="{40995B85-000E-4B77-B354-1D029B7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6" name="构图_130">
            <a:extLst xmlns:a="http://schemas.openxmlformats.org/drawingml/2006/main">
              <a:ext uri="{FF2B5EF4-FFF2-40B4-BE49-F238E27FC236}">
                <a16:creationId xmlns:a16="http://schemas.microsoft.com/office/drawing/2014/main" id="{6D07ACE9-5806-4364-BBB7-BC332FD4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7" name="构图_131">
            <a:extLst xmlns:a="http://schemas.openxmlformats.org/drawingml/2006/main">
              <a:ext uri="{FF2B5EF4-FFF2-40B4-BE49-F238E27FC236}">
                <a16:creationId xmlns:a16="http://schemas.microsoft.com/office/drawing/2014/main" id="{7C13CE1F-2247-4932-A0DE-C6528EF1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8" name="构图_132">
            <a:extLst xmlns:a="http://schemas.openxmlformats.org/drawingml/2006/main">
              <a:ext uri="{FF2B5EF4-FFF2-40B4-BE49-F238E27FC236}">
                <a16:creationId xmlns:a16="http://schemas.microsoft.com/office/drawing/2014/main" id="{7E3F88CC-C67A-4561-943B-2A9BCC20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19" name="构图_133">
            <a:extLst xmlns:a="http://schemas.openxmlformats.org/drawingml/2006/main">
              <a:ext uri="{FF2B5EF4-FFF2-40B4-BE49-F238E27FC236}">
                <a16:creationId xmlns:a16="http://schemas.microsoft.com/office/drawing/2014/main" id="{439E7D94-0C3F-4A05-BE9C-8ACD368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0" name="构图_134">
            <a:extLst xmlns:a="http://schemas.openxmlformats.org/drawingml/2006/main">
              <a:ext uri="{FF2B5EF4-FFF2-40B4-BE49-F238E27FC236}">
                <a16:creationId xmlns:a16="http://schemas.microsoft.com/office/drawing/2014/main" id="{1B2056F0-F90E-4DAE-9E3D-4ACFA123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1" name="构图_135">
            <a:extLst xmlns:a="http://schemas.openxmlformats.org/drawingml/2006/main">
              <a:ext uri="{FF2B5EF4-FFF2-40B4-BE49-F238E27FC236}">
                <a16:creationId xmlns:a16="http://schemas.microsoft.com/office/drawing/2014/main" id="{DB49865F-3586-40D6-A4A8-F2D5E600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2" name="构图_136">
            <a:extLst xmlns:a="http://schemas.openxmlformats.org/drawingml/2006/main">
              <a:ext uri="{FF2B5EF4-FFF2-40B4-BE49-F238E27FC236}">
                <a16:creationId xmlns:a16="http://schemas.microsoft.com/office/drawing/2014/main" id="{8DA9D3EC-307C-4498-99AC-CC3E2308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3" name="构图_137">
            <a:extLst xmlns:a="http://schemas.openxmlformats.org/drawingml/2006/main">
              <a:ext uri="{FF2B5EF4-FFF2-40B4-BE49-F238E27FC236}">
                <a16:creationId xmlns:a16="http://schemas.microsoft.com/office/drawing/2014/main" id="{B2AF3338-BB44-47AE-8493-DC74BB19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4" name="构图_138">
            <a:extLst xmlns:a="http://schemas.openxmlformats.org/drawingml/2006/main">
              <a:ext uri="{FF2B5EF4-FFF2-40B4-BE49-F238E27FC236}">
                <a16:creationId xmlns:a16="http://schemas.microsoft.com/office/drawing/2014/main" id="{B912D515-D00F-4408-A206-93D7C1D3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5" name="构图_139">
            <a:extLst xmlns:a="http://schemas.openxmlformats.org/drawingml/2006/main">
              <a:ext uri="{FF2B5EF4-FFF2-40B4-BE49-F238E27FC236}">
                <a16:creationId xmlns:a16="http://schemas.microsoft.com/office/drawing/2014/main" id="{E177500C-3CAB-4165-A1D8-8D7D7A24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6" name="构图_140">
            <a:extLst xmlns:a="http://schemas.openxmlformats.org/drawingml/2006/main">
              <a:ext uri="{FF2B5EF4-FFF2-40B4-BE49-F238E27FC236}">
                <a16:creationId xmlns:a16="http://schemas.microsoft.com/office/drawing/2014/main" id="{5A093102-60C3-41A4-B0B2-6B53E56E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7" name="构图_141">
            <a:extLst xmlns:a="http://schemas.openxmlformats.org/drawingml/2006/main">
              <a:ext uri="{FF2B5EF4-FFF2-40B4-BE49-F238E27FC236}">
                <a16:creationId xmlns:a16="http://schemas.microsoft.com/office/drawing/2014/main" id="{EEB12174-6852-4B03-88A5-C66DEC17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8" name="构图_142">
            <a:extLst xmlns:a="http://schemas.openxmlformats.org/drawingml/2006/main">
              <a:ext uri="{FF2B5EF4-FFF2-40B4-BE49-F238E27FC236}">
                <a16:creationId xmlns:a16="http://schemas.microsoft.com/office/drawing/2014/main" id="{5AF0359B-2722-4700-B96B-3D2283D1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29" name="构图_143">
            <a:extLst xmlns:a="http://schemas.openxmlformats.org/drawingml/2006/main">
              <a:ext uri="{FF2B5EF4-FFF2-40B4-BE49-F238E27FC236}">
                <a16:creationId xmlns:a16="http://schemas.microsoft.com/office/drawing/2014/main" id="{45B9AE09-77D0-4DD0-B6DE-D2DD43AC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30" name="构图_144">
            <a:extLst xmlns:a="http://schemas.openxmlformats.org/drawingml/2006/main">
              <a:ext uri="{FF2B5EF4-FFF2-40B4-BE49-F238E27FC236}">
                <a16:creationId xmlns:a16="http://schemas.microsoft.com/office/drawing/2014/main" id="{B42FF198-32D1-4613-8609-9DB2F318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 w="0">
            <a:noFill/>
          </a:ln>
        </p:spPr>
      </p:sp>
      <p:sp>
        <p:nvSpPr>
          <p:cNvPr id="31" name="构图_145">
            <a:extLst xmlns:a="http://schemas.openxmlformats.org/drawingml/2006/main">
              <a:ext uri="{FF2B5EF4-FFF2-40B4-BE49-F238E27FC236}">
                <a16:creationId xmlns:a16="http://schemas.microsoft.com/office/drawing/2014/main" id="{404C4863-32CC-44CF-9317-2AC4CDF5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101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2" name="构图_146">
            <a:extLst xmlns:a="http://schemas.openxmlformats.org/drawingml/2006/main">
              <a:ext uri="{FF2B5EF4-FFF2-40B4-BE49-F238E27FC236}">
                <a16:creationId xmlns:a16="http://schemas.microsoft.com/office/drawing/2014/main" id="{4D140135-1994-4375-8A35-F00B116E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8101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3" name="构图_147">
            <a:extLst xmlns:a="http://schemas.openxmlformats.org/drawingml/2006/main">
              <a:ext uri="{FF2B5EF4-FFF2-40B4-BE49-F238E27FC236}">
                <a16:creationId xmlns:a16="http://schemas.microsoft.com/office/drawing/2014/main" id="{1A676FB4-817D-46DE-BC90-BDECDD0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101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4" name="构图_148">
            <a:extLst xmlns:a="http://schemas.openxmlformats.org/drawingml/2006/main">
              <a:ext uri="{FF2B5EF4-FFF2-40B4-BE49-F238E27FC236}">
                <a16:creationId xmlns:a16="http://schemas.microsoft.com/office/drawing/2014/main" id="{BBDEB8A0-851C-4B17-B0C1-36B530E0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8101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构图_149">
            <a:extLst xmlns:a="http://schemas.openxmlformats.org/drawingml/2006/main">
              <a:ext uri="{FF2B5EF4-FFF2-40B4-BE49-F238E27FC236}">
                <a16:creationId xmlns:a16="http://schemas.microsoft.com/office/drawing/2014/main" id="{588C9A77-346D-43CC-BA79-579BA792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101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6" name="构图_150">
            <a:extLst xmlns:a="http://schemas.openxmlformats.org/drawingml/2006/main">
              <a:ext uri="{FF2B5EF4-FFF2-40B4-BE49-F238E27FC236}">
                <a16:creationId xmlns:a16="http://schemas.microsoft.com/office/drawing/2014/main" id="{4DC0B9F4-C842-4511-914D-F5E18873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8101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7" name="构图_151">
            <a:extLst xmlns:a="http://schemas.openxmlformats.org/drawingml/2006/main">
              <a:ext uri="{FF2B5EF4-FFF2-40B4-BE49-F238E27FC236}">
                <a16:creationId xmlns:a16="http://schemas.microsoft.com/office/drawing/2014/main" id="{B4301704-D03F-45E4-A6E1-60BBE893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810125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8" name="重制文本_152">
            <a:extLst xmlns:a="http://schemas.openxmlformats.org/drawingml/2006/main">
              <a:ext uri="{FF2B5EF4-FFF2-40B4-BE49-F238E27FC236}">
                <a16:creationId xmlns:a16="http://schemas.microsoft.com/office/drawing/2014/main" id="{99AB9ACA-ACD0-47A8-B1D8-0FD1C53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673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快速上升</a:t>
            </a:r>
          </a:p>
        </p:txBody>
      </p:sp>
      <p:sp>
        <p:nvSpPr>
          <p:cNvPr id="39" name="重制文本_153">
            <a:extLst xmlns:a="http://schemas.openxmlformats.org/drawingml/2006/main">
              <a:ext uri="{FF2B5EF4-FFF2-40B4-BE49-F238E27FC236}">
                <a16:creationId xmlns:a16="http://schemas.microsoft.com/office/drawing/2014/main" id="{100886B7-CD94-4F8F-81E6-8B429677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673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减速与余火</a:t>
            </a:r>
          </a:p>
        </p:txBody>
      </p:sp>
      <p:sp>
        <p:nvSpPr>
          <p:cNvPr id="40" name="重制文本_154">
            <a:extLst xmlns:a="http://schemas.openxmlformats.org/drawingml/2006/main">
              <a:ext uri="{FF2B5EF4-FFF2-40B4-BE49-F238E27FC236}">
                <a16:creationId xmlns:a16="http://schemas.microsoft.com/office/drawing/2014/main" id="{495E26AF-EB5F-4568-BA77-19710555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更密的时间采样，也要一起权衡单格分辨率与近看锐度。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经验沉淀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同条件对比，分清方头与首次播放模糊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重制文本_155">
            <a:extLst xmlns:a="http://schemas.openxmlformats.org/drawingml/2006/main">
              <a:ext uri="{FF2B5EF4-FFF2-40B4-BE49-F238E27FC236}">
                <a16:creationId xmlns:a16="http://schemas.microsoft.com/office/drawing/2014/main" id="{56CD7AD1-88B9-4B64-8413-F9662F01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尾缀方头 · 同刻 6.8 s</a:t>
            </a:r>
          </a:p>
        </p:txBody>
      </p:sp>
      <p:sp>
        <p:nvSpPr>
          <p:cNvPr id="7" name="重制文本_156">
            <a:extLst xmlns:a="http://schemas.openxmlformats.org/drawingml/2006/main">
              <a:ext uri="{FF2B5EF4-FFF2-40B4-BE49-F238E27FC236}">
                <a16:creationId xmlns:a16="http://schemas.microsoft.com/office/drawing/2014/main" id="{B802A0A2-8B4F-43F0-96AD-5197D1A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525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绽放模糊 · 同刻 0.29 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76B85-F8E1-4379-9206-AC1C13F05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e3accd6d648bf"/>
          <a:stretch xmlns:a="http://schemas.openxmlformats.org/drawingml/2006/main"/>
        </p:blipFill>
        <p:spPr>
          <a:xfrm xmlns:a="http://schemas.openxmlformats.org/drawingml/2006/main">
            <a:off x="633413" y="1857375"/>
            <a:ext cx="2286000" cy="30956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6F617-42D0-4290-8CB4-769A97917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ec41905dc4488"/>
          <a:stretch xmlns:a="http://schemas.openxmlformats.org/drawingml/2006/main"/>
        </p:blipFill>
        <p:spPr>
          <a:xfrm xmlns:a="http://schemas.openxmlformats.org/drawingml/2006/main">
            <a:off x="3203575" y="1857375"/>
            <a:ext cx="2270125" cy="309562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4EA8A-F88B-42C8-886C-DBF56A49C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e7151b46c4c0b"/>
          <a:stretch xmlns:a="http://schemas.openxmlformats.org/drawingml/2006/main"/>
        </p:blipFill>
        <p:spPr>
          <a:xfrm xmlns:a="http://schemas.openxmlformats.org/drawingml/2006/main">
            <a:off x="6496050" y="1863857"/>
            <a:ext cx="2333625" cy="232066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A45D2-0171-4E56-86F4-6EDA55AB0D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cecaed0f345f6"/>
          <a:stretch xmlns:a="http://schemas.openxmlformats.org/drawingml/2006/main"/>
        </p:blipFill>
        <p:spPr>
          <a:xfrm xmlns:a="http://schemas.openxmlformats.org/drawingml/2006/main">
            <a:off x="9058275" y="1863857"/>
            <a:ext cx="2333625" cy="2320660"/>
          </a:xfrm>
          <a:prstGeom xmlns:a="http://schemas.openxmlformats.org/drawingml/2006/main" prst="rect">
            <a:avLst/>
          </a:prstGeom>
        </p:spPr>
      </p:pic>
      <p:sp>
        <p:nvSpPr>
          <p:cNvPr id="12" name="重制文本_157">
            <a:extLst xmlns:a="http://schemas.openxmlformats.org/drawingml/2006/main">
              <a:ext uri="{FF2B5EF4-FFF2-40B4-BE49-F238E27FC236}">
                <a16:creationId xmlns:a16="http://schemas.microsoft.com/office/drawing/2014/main" id="{A6FA4DED-4FDB-42DC-AA2C-B0627494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重制文本_158">
            <a:extLst xmlns:a="http://schemas.openxmlformats.org/drawingml/2006/main">
              <a:ext uri="{FF2B5EF4-FFF2-40B4-BE49-F238E27FC236}">
                <a16:creationId xmlns:a16="http://schemas.microsoft.com/office/drawing/2014/main" id="{D1B25240-3634-4BB9-A8A4-07D3DC72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0292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NoMip 对照</a:t>
            </a:r>
          </a:p>
        </p:txBody>
      </p:sp>
      <p:sp>
        <p:nvSpPr>
          <p:cNvPr id="14" name="重制文本_159">
            <a:extLst xmlns:a="http://schemas.openxmlformats.org/drawingml/2006/main">
              <a:ext uri="{FF2B5EF4-FFF2-40B4-BE49-F238E27FC236}">
                <a16:creationId xmlns:a16="http://schemas.microsoft.com/office/drawing/2014/main" id="{55043191-577B-400F-8C39-45A4899B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767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流送</a:t>
            </a:r>
          </a:p>
        </p:txBody>
      </p:sp>
      <p:sp>
        <p:nvSpPr>
          <p:cNvPr id="15" name="重制文本_160">
            <a:extLst xmlns:a="http://schemas.openxmlformats.org/drawingml/2006/main">
              <a:ext uri="{FF2B5EF4-FFF2-40B4-BE49-F238E27FC236}">
                <a16:creationId xmlns:a16="http://schemas.microsoft.com/office/drawing/2014/main" id="{423BF8D6-4B8A-4F40-A7AC-54A06BF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767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NoMip 对照</a:t>
            </a:r>
          </a:p>
        </p:txBody>
      </p:sp>
      <p:sp>
        <p:nvSpPr>
          <p:cNvPr id="16" name="重制文本_161">
            <a:extLst xmlns:a="http://schemas.openxmlformats.org/drawingml/2006/main">
              <a:ext uri="{FF2B5EF4-FFF2-40B4-BE49-F238E27FC236}">
                <a16:creationId xmlns:a16="http://schemas.microsoft.com/office/drawing/2014/main" id="{98E53B8E-3499-45E7-B64F-78E08EB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08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细长格受低 Mip 影响，星头变方。</a:t>
            </a:r>
          </a:p>
        </p:txBody>
      </p:sp>
      <p:sp>
        <p:nvSpPr>
          <p:cNvPr id="17" name="重制文本_162">
            <a:extLst xmlns:a="http://schemas.openxmlformats.org/drawingml/2006/main">
              <a:ext uri="{FF2B5EF4-FFF2-40B4-BE49-F238E27FC236}">
                <a16:creationId xmlns:a16="http://schemas.microsoft.com/office/drawing/2014/main" id="{271023AC-EE18-4492-8DC6-1B041F88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首次激活时，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主图分辨率还未到位。</a:t>
            </a:r>
          </a:p>
        </p:txBody>
      </p:sp>
      <p:sp>
        <p:nvSpPr>
          <p:cNvPr id="18" name="构图_163">
            <a:extLst xmlns:a="http://schemas.openxmlformats.org/drawingml/2006/main">
              <a:ext uri="{FF2B5EF4-FFF2-40B4-BE49-F238E27FC236}">
                <a16:creationId xmlns:a16="http://schemas.microsoft.com/office/drawing/2014/main" id="{E6FD1F5E-5519-4A12-AF79-CAAE338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19" name="重制文本_164">
            <a:extLst xmlns:a="http://schemas.openxmlformats.org/drawingml/2006/main">
              <a:ext uri="{FF2B5EF4-FFF2-40B4-BE49-F238E27FC236}">
                <a16:creationId xmlns:a16="http://schemas.microsoft.com/office/drawing/2014/main" id="{523995C3-C728-4BBA-9F6C-C75A17CE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PC 主序列 NoMip；手游保留 Mip 与流送，最大 1024。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经验沉淀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修复的结论，要进入下一次导出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重制文本_165">
            <a:extLst xmlns:a="http://schemas.openxmlformats.org/drawingml/2006/main">
              <a:ext uri="{FF2B5EF4-FFF2-40B4-BE49-F238E27FC236}">
                <a16:creationId xmlns:a16="http://schemas.microsoft.com/office/drawing/2014/main" id="{8F6CBFFA-FEF2-4434-A262-05E0BACC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黑点：让透明度负责消失</a:t>
            </a:r>
          </a:p>
        </p:txBody>
      </p:sp>
      <p:sp>
        <p:nvSpPr>
          <p:cNvPr id="7" name="重制文本_166">
            <a:extLst xmlns:a="http://schemas.openxmlformats.org/drawingml/2006/main">
              <a:ext uri="{FF2B5EF4-FFF2-40B4-BE49-F238E27FC236}">
                <a16:creationId xmlns:a16="http://schemas.microsoft.com/office/drawing/2014/main" id="{5EC30BAD-371B-435E-87BF-B0D7A35C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9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实际导出参数变化</a:t>
            </a:r>
          </a:p>
        </p:txBody>
      </p:sp>
      <p:sp>
        <p:nvSpPr>
          <p:cNvPr id="8" name="构图_167">
            <a:extLst xmlns:a="http://schemas.openxmlformats.org/drawingml/2006/main">
              <a:ext uri="{FF2B5EF4-FFF2-40B4-BE49-F238E27FC236}">
                <a16:creationId xmlns:a16="http://schemas.microsoft.com/office/drawing/2014/main" id="{48D0B964-7182-4F1B-BEFD-11DFFD7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362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9" name="构图_168">
            <a:extLst xmlns:a="http://schemas.openxmlformats.org/drawingml/2006/main">
              <a:ext uri="{FF2B5EF4-FFF2-40B4-BE49-F238E27FC236}">
                <a16:creationId xmlns:a16="http://schemas.microsoft.com/office/drawing/2014/main" id="{61CB722A-962E-4265-A919-EAEBD63E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2362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0" name="重制文本_169">
            <a:extLst xmlns:a="http://schemas.openxmlformats.org/drawingml/2006/main">
              <a:ext uri="{FF2B5EF4-FFF2-40B4-BE49-F238E27FC236}">
                <a16:creationId xmlns:a16="http://schemas.microsoft.com/office/drawing/2014/main" id="{D636A95F-173B-4959-A3F6-BC29D352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旧写法</a:t>
            </a:r>
          </a:p>
        </p:txBody>
      </p:sp>
      <p:sp>
        <p:nvSpPr>
          <p:cNvPr id="11" name="重制文本_170">
            <a:extLst xmlns:a="http://schemas.openxmlformats.org/drawingml/2006/main">
              <a:ext uri="{FF2B5EF4-FFF2-40B4-BE49-F238E27FC236}">
                <a16:creationId xmlns:a16="http://schemas.microsoft.com/office/drawing/2014/main" id="{3B60FB22-5424-4EA2-B55D-68EB94A9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新写法</a:t>
            </a:r>
          </a:p>
        </p:txBody>
      </p:sp>
      <p:sp>
        <p:nvSpPr>
          <p:cNvPr id="12" name="重制文本_171">
            <a:extLst xmlns:a="http://schemas.openxmlformats.org/drawingml/2006/main">
              <a:ext uri="{FF2B5EF4-FFF2-40B4-BE49-F238E27FC236}">
                <a16:creationId xmlns:a16="http://schemas.microsoft.com/office/drawing/2014/main" id="{DBC1E975-B217-4AA8-A2D8-E4F3A48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RGB → 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Alpha = 1</a:t>
            </a:r>
          </a:p>
        </p:txBody>
      </p:sp>
      <p:sp>
        <p:nvSpPr>
          <p:cNvPr id="13" name="重制文本_172">
            <a:extLst xmlns:a="http://schemas.openxmlformats.org/drawingml/2006/main">
              <a:ext uri="{FF2B5EF4-FFF2-40B4-BE49-F238E27FC236}">
                <a16:creationId xmlns:a16="http://schemas.microsoft.com/office/drawing/2014/main" id="{99FE51AE-F29C-476E-A019-1DFDA33D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RGB 保持颜色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Alpha → 0</a:t>
            </a:r>
          </a:p>
        </p:txBody>
      </p:sp>
      <p:sp>
        <p:nvSpPr>
          <p:cNvPr id="14" name="重制文本_173">
            <a:extLst xmlns:a="http://schemas.openxmlformats.org/drawingml/2006/main">
              <a:ext uri="{FF2B5EF4-FFF2-40B4-BE49-F238E27FC236}">
                <a16:creationId xmlns:a16="http://schemas.microsoft.com/office/drawing/2014/main" id="{2923FADA-62F5-4C48-A2B6-89DB909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010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把淡出与闪烁写进 Alpha，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加入 Scale Color/Life。</a:t>
            </a:r>
          </a:p>
        </p:txBody>
      </p:sp>
      <p:sp>
        <p:nvSpPr>
          <p:cNvPr id="15" name="重制文本_174">
            <a:extLst xmlns:a="http://schemas.openxmlformats.org/drawingml/2006/main">
              <a:ext uri="{FF2B5EF4-FFF2-40B4-BE49-F238E27FC236}">
                <a16:creationId xmlns:a16="http://schemas.microsoft.com/office/drawing/2014/main" id="{ACA8146E-D110-4550-9586-DCC36F2C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5010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导出参数已修订；新写法待 UE 验证。</a:t>
            </a:r>
          </a:p>
        </p:txBody>
      </p:sp>
      <p:sp>
        <p:nvSpPr>
          <p:cNvPr id="16" name="构图_175">
            <a:extLst xmlns:a="http://schemas.openxmlformats.org/drawingml/2006/main">
              <a:ext uri="{FF2B5EF4-FFF2-40B4-BE49-F238E27FC236}">
                <a16:creationId xmlns:a16="http://schemas.microsoft.com/office/drawing/2014/main" id="{28674EFA-80C6-409A-AA9E-C537F42E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09700"/>
            <a:ext cx="9525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重制文本_176">
            <a:extLst xmlns:a="http://schemas.openxmlformats.org/drawingml/2006/main">
              <a:ext uri="{FF2B5EF4-FFF2-40B4-BE49-F238E27FC236}">
                <a16:creationId xmlns:a16="http://schemas.microsoft.com/office/drawing/2014/main" id="{AEACE79F-D7CD-4E8D-814E-05F3D28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105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Ramp 末格：避开黑色采样端点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28978-B3C0-4AC1-B090-9A97263305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19d21070d40b8"/>
          <a:stretch xmlns:a="http://schemas.openxmlformats.org/drawingml/2006/main"/>
        </p:blipFill>
        <p:spPr>
          <a:xfrm xmlns:a="http://schemas.openxmlformats.org/drawingml/2006/main">
            <a:off x="7291234" y="1952625"/>
            <a:ext cx="3476932" cy="2628900"/>
          </a:xfrm>
          <a:prstGeom xmlns:a="http://schemas.openxmlformats.org/drawingml/2006/main" prst="rect">
            <a:avLst/>
          </a:prstGeom>
        </p:spPr>
      </p:pic>
      <p:sp>
        <p:nvSpPr>
          <p:cNvPr id="19" name="构图_177">
            <a:extLst xmlns:a="http://schemas.openxmlformats.org/drawingml/2006/main">
              <a:ext uri="{FF2B5EF4-FFF2-40B4-BE49-F238E27FC236}">
                <a16:creationId xmlns:a16="http://schemas.microsoft.com/office/drawing/2014/main" id="{5DFB4D16-6406-4635-B684-545868A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3387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20" name="重制文本_178">
            <a:extLst xmlns:a="http://schemas.openxmlformats.org/drawingml/2006/main">
              <a:ext uri="{FF2B5EF4-FFF2-40B4-BE49-F238E27FC236}">
                <a16:creationId xmlns:a16="http://schemas.microsoft.com/office/drawing/2014/main" id="{A3037F73-10ED-4E3A-BFD1-CAA9ED0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规则应用后的 UE 实播</a:t>
            </a:r>
          </a:p>
        </p:txBody>
      </p:sp>
      <p:sp>
        <p:nvSpPr>
          <p:cNvPr id="21" name="重制文本_179">
            <a:extLst xmlns:a="http://schemas.openxmlformats.org/drawingml/2006/main">
              <a:ext uri="{FF2B5EF4-FFF2-40B4-BE49-F238E27FC236}">
                <a16:creationId xmlns:a16="http://schemas.microsoft.com/office/drawing/2014/main" id="{69D9E348-F766-4D10-A4C1-3BBAC3FA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29175"/>
            <a:ext cx="1762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0.98</a:t>
            </a:r>
          </a:p>
        </p:txBody>
      </p:sp>
      <p:sp>
        <p:nvSpPr>
          <p:cNvPr id="22" name="重制文本_180">
            <a:extLst xmlns:a="http://schemas.openxmlformats.org/drawingml/2006/main">
              <a:ext uri="{FF2B5EF4-FFF2-40B4-BE49-F238E27FC236}">
                <a16:creationId xmlns:a16="http://schemas.microsoft.com/office/drawing/2014/main" id="{F8069915-9A0B-4AAE-A0E6-A4E7C1FC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905375"/>
            <a:ext cx="30765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EmissiveDissolve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写入导出与导入规则</a:t>
            </a:r>
          </a:p>
        </p:txBody>
      </p:sp>
      <p:sp>
        <p:nvSpPr>
          <p:cNvPr id="23" name="重制文本_181">
            <a:extLst xmlns:a="http://schemas.openxmlformats.org/drawingml/2006/main">
              <a:ext uri="{FF2B5EF4-FFF2-40B4-BE49-F238E27FC236}">
                <a16:creationId xmlns:a16="http://schemas.microsoft.com/office/drawing/2014/main" id="{BD84C978-502E-4278-92F1-BA6B66F8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816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用户确认有效；现存图为修后单侧。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05 · 方法与分享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参数按任务组织，界面共用设计基础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F5BF3-111A-44D5-BFDF-261534F9C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413c9a1c84913"/>
          <a:stretch xmlns:a="http://schemas.openxmlformats.org/drawingml/2006/main"/>
        </p:blipFill>
        <p:spPr>
          <a:xfrm xmlns:a="http://schemas.openxmlformats.org/drawingml/2006/main">
            <a:off x="721874" y="1362075"/>
            <a:ext cx="2890128" cy="4714875"/>
          </a:xfrm>
          <a:prstGeom xmlns:a="http://schemas.openxmlformats.org/drawingml/2006/main" prst="rect">
            <a:avLst/>
          </a:prstGeom>
        </p:spPr>
      </p:pic>
      <p:sp>
        <p:nvSpPr>
          <p:cNvPr id="7" name="构图_182">
            <a:extLst xmlns:a="http://schemas.openxmlformats.org/drawingml/2006/main">
              <a:ext uri="{FF2B5EF4-FFF2-40B4-BE49-F238E27FC236}">
                <a16:creationId xmlns:a16="http://schemas.microsoft.com/office/drawing/2014/main" id="{4E5F5FE6-5DCE-4341-849A-003C9F7D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2581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183">
            <a:extLst xmlns:a="http://schemas.openxmlformats.org/drawingml/2006/main">
              <a:ext uri="{FF2B5EF4-FFF2-40B4-BE49-F238E27FC236}">
                <a16:creationId xmlns:a16="http://schemas.microsoft.com/office/drawing/2014/main" id="{A8DF85E7-3C3A-4387-8B00-10B20E30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2924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生产版 4.9.124 · 参数区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79242-70A2-4811-A7F7-A2DE69336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a1a067fc54daa"/>
          <a:stretch xmlns:a="http://schemas.openxmlformats.org/drawingml/2006/main"/>
        </p:blipFill>
        <p:spPr>
          <a:xfrm xmlns:a="http://schemas.openxmlformats.org/drawingml/2006/main">
            <a:off x="3971925" y="1435418"/>
            <a:ext cx="2076450" cy="4568190"/>
          </a:xfrm>
          <a:prstGeom xmlns:a="http://schemas.openxmlformats.org/drawingml/2006/main" prst="rect">
            <a:avLst/>
          </a:prstGeom>
        </p:spPr>
      </p:pic>
      <p:sp>
        <p:nvSpPr>
          <p:cNvPr id="10" name="构图_184">
            <a:extLst xmlns:a="http://schemas.openxmlformats.org/drawingml/2006/main">
              <a:ext uri="{FF2B5EF4-FFF2-40B4-BE49-F238E27FC236}">
                <a16:creationId xmlns:a16="http://schemas.microsoft.com/office/drawing/2014/main" id="{6AD4957A-E0B3-4D62-9FAD-69E2ED62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829300"/>
            <a:ext cx="1152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重制文本_185">
            <a:extLst xmlns:a="http://schemas.openxmlformats.org/drawingml/2006/main">
              <a:ext uri="{FF2B5EF4-FFF2-40B4-BE49-F238E27FC236}">
                <a16:creationId xmlns:a16="http://schemas.microsoft.com/office/drawing/2014/main" id="{0320D518-6788-490B-96B3-825B17A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8388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资源状态与入口</a:t>
            </a:r>
          </a:p>
        </p:txBody>
      </p:sp>
      <p:sp>
        <p:nvSpPr>
          <p:cNvPr id="12" name="重制文本_186">
            <a:extLst xmlns:a="http://schemas.openxmlformats.org/drawingml/2006/main">
              <a:ext uri="{FF2B5EF4-FFF2-40B4-BE49-F238E27FC236}">
                <a16:creationId xmlns:a16="http://schemas.microsoft.com/office/drawing/2014/main" id="{4C19A6C4-F26E-472F-A022-5AA358F7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954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按任务分组</a:t>
            </a:r>
          </a:p>
        </p:txBody>
      </p:sp>
      <p:sp>
        <p:nvSpPr>
          <p:cNvPr id="13" name="重制文本_187">
            <a:extLst xmlns:a="http://schemas.openxmlformats.org/drawingml/2006/main">
              <a:ext uri="{FF2B5EF4-FFF2-40B4-BE49-F238E27FC236}">
                <a16:creationId xmlns:a16="http://schemas.microsoft.com/office/drawing/2014/main" id="{B7C1EA48-E62A-43C0-9B9C-37B1D167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193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生成、形状、受力、寿命、亮度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让参数顺着制作思路展开。</a:t>
            </a:r>
          </a:p>
        </p:txBody>
      </p:sp>
      <p:sp>
        <p:nvSpPr>
          <p:cNvPr id="14" name="重制文本_188">
            <a:extLst xmlns:a="http://schemas.openxmlformats.org/drawingml/2006/main">
              <a:ext uri="{FF2B5EF4-FFF2-40B4-BE49-F238E27FC236}">
                <a16:creationId xmlns:a16="http://schemas.microsoft.com/office/drawing/2014/main" id="{447BC75F-D8F4-447D-BD3E-6EBF1A13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33700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把失效条件说清楚</a:t>
            </a:r>
          </a:p>
        </p:txBody>
      </p:sp>
      <p:sp>
        <p:nvSpPr>
          <p:cNvPr id="15" name="重制文本_189">
            <a:extLst xmlns:a="http://schemas.openxmlformats.org/drawingml/2006/main">
              <a:ext uri="{FF2B5EF4-FFF2-40B4-BE49-F238E27FC236}">
                <a16:creationId xmlns:a16="http://schemas.microsoft.com/office/drawing/2014/main" id="{8B4B3E33-2D9F-46EB-B283-F71D02B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575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启用状态、依赖与导出限制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让“为什么没变化”有处可查。</a:t>
            </a:r>
          </a:p>
        </p:txBody>
      </p:sp>
      <p:sp>
        <p:nvSpPr>
          <p:cNvPr id="16" name="重制文本_190">
            <a:extLst xmlns:a="http://schemas.openxmlformats.org/drawingml/2006/main">
              <a:ext uri="{FF2B5EF4-FFF2-40B4-BE49-F238E27FC236}">
                <a16:creationId xmlns:a16="http://schemas.microsoft.com/office/drawing/2014/main" id="{FE71FB44-B269-4E02-B305-420E45CE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7197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用令牌约束视觉基础</a:t>
            </a:r>
          </a:p>
        </p:txBody>
      </p:sp>
      <p:sp>
        <p:nvSpPr>
          <p:cNvPr id="17" name="重制文本_191">
            <a:extLst xmlns:a="http://schemas.openxmlformats.org/drawingml/2006/main">
              <a:ext uri="{FF2B5EF4-FFF2-40B4-BE49-F238E27FC236}">
                <a16:creationId xmlns:a16="http://schemas.microsoft.com/office/drawing/2014/main" id="{499170FD-C293-4C26-8D6F-273525A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958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宪章规定交互原则；共享颜色令牌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逐步统一 DF 特效工作台。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3422FB3-BE73-4E6E-8203-D8161611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05 · 方法与分享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20651-704A-40BC-B3F0-045CC03C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把规则、验收和版本留给下一次制作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125DAD82-C115-45F5-BE14-A14EEE26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4319F4-F612-4193-898F-AF6BA2B7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945FBEE-523E-443D-891C-325058A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8600"/>
            <a:ext cx="76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32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FB8046-E5E9-4A01-92A4-4D32373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1511300"/>
            <a:ext cx="5461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10"/>
              </a:lnSpc>
              <a:buNone/>
            </a:pPr>
            <a:r>
              <a:rPr sz="17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标准先写成文档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DAB484-084F-4E61-9EAF-484FD23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1892300"/>
            <a:ext cx="5461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目标、限制、交付和验收写清楚，让每轮协作从同一处开始。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EAFC1A1-4AC9-4EB8-8D04-B4617B7D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2600"/>
            <a:ext cx="76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32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63BBA23-121C-42DB-BC44-F93E7E4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035300"/>
            <a:ext cx="5461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10"/>
              </a:lnSpc>
              <a:buNone/>
            </a:pPr>
            <a:r>
              <a:rPr sz="17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以引擎里的结果为准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16DC0C-3C36-4CA3-B10D-5134459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416300"/>
            <a:ext cx="5461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实现、自检、UE 验收分别记录；关键判断用同条件对照。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2F366E-F903-4497-AA46-A9AE73A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6600"/>
            <a:ext cx="76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32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8255D4-27FC-49F7-955E-F7BD0EF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559300"/>
            <a:ext cx="5461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10"/>
              </a:lnSpc>
              <a:buNone/>
            </a:pPr>
            <a:r>
              <a:rPr sz="17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问题落到工具里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46D9595-CBE3-414F-B2A0-0E0D36DE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940300"/>
            <a:ext cx="5461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9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修复进入规则，稳定版本留存，下一次从可靠基线继续。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CC53238-0DAC-488B-8E1A-66CC5A24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8900"/>
            <a:ext cx="4267200" cy="471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6350">
            <a:solidFill>
              <a:srgbClr val="F5F5F5">
                <a:alpha val="800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23FA8B4-5C3C-48D7-86BF-70B3EF47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8900"/>
            <a:ext cx="38100" cy="471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4ADEA2B-FFD4-4B67-B840-13D9BE07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1587500"/>
            <a:ext cx="3810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10"/>
              </a:lnSpc>
              <a:buNone/>
            </a:pPr>
            <a:r>
              <a:rPr sz="17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你们也可以这样用</a:t>
            </a:r>
            <a:r>
              <a:rPr sz="17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B38751D-3FF2-4FE4-BDD5-F59C49F6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31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C75B405-D2D0-40C5-84EE-DE9120F7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25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9"/>
              </a:lnSpc>
              <a:buNone/>
            </a:pPr>
            <a:r>
              <a:rPr sz="14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重复的设置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96F409E-8D3F-454E-B7A5-86457C77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50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让</a:t>
            </a:r>
            <a:r>
              <a:rPr sz="12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AI</a:t>
            </a:r>
            <a:r>
              <a:rPr sz="12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写成工具，按规范批量做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3365E84-2F75-4679-A5A5-A4330AB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136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CE6230-2952-43B2-A811-5A839DF1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9"/>
              </a:lnSpc>
              <a:buNone/>
            </a:pPr>
            <a:r>
              <a:rPr sz="14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难做的效果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2B4B2AB-98C8-4324-A7CD-ECB9DE82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401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50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先拆层，再模拟、烘焙成序列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B9E8FB-95CA-4148-BA6D-C11AEEDC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C7D5C9F-DB76-4FEF-91D6-91D702F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735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9"/>
              </a:lnSpc>
              <a:buNone/>
            </a:pPr>
            <a:r>
              <a:rPr sz="14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大规模编排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2BC430A-9C95-4C96-905D-E03EB6FD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656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50"/>
              </a:lnSpc>
              <a:buNone/>
            </a:pPr>
            <a:r>
              <a:rPr sz="125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用表来驱动，改表比改轨道快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967661B-1705-4EC5-AE47-C3BF4337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953000"/>
            <a:ext cx="381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59"/>
              </a:lnSpc>
              <a:buNone/>
            </a:pPr>
            <a:r>
              <a:rPr sz="1400" b="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从一件重复的小事开始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A4946A7-7C97-4750-A383-7F6FC7C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57150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1449992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05 · 方法与分享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从一个案例开始，把工作方法带回去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FBDFB-9DAA-469C-BCE3-450FE53CD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e3e3ee3c54c22"/>
          <a:stretch xmlns:a="http://schemas.openxmlformats.org/drawingml/2006/main"/>
        </p:blipFill>
        <p:spPr>
          <a:xfrm xmlns:a="http://schemas.openxmlformats.org/drawingml/2006/main">
            <a:off x="609600" y="1453515"/>
            <a:ext cx="7048500" cy="3665220"/>
          </a:xfrm>
          <a:prstGeom xmlns:a="http://schemas.openxmlformats.org/drawingml/2006/main" prst="rect">
            <a:avLst/>
          </a:prstGeom>
        </p:spPr>
      </p:pic>
      <p:sp>
        <p:nvSpPr>
          <p:cNvPr id="7" name="构图_192">
            <a:extLst xmlns:a="http://schemas.openxmlformats.org/drawingml/2006/main">
              <a:ext uri="{FF2B5EF4-FFF2-40B4-BE49-F238E27FC236}">
                <a16:creationId xmlns:a16="http://schemas.microsoft.com/office/drawing/2014/main" id="{2576AA40-29CB-4EE1-9AA9-1D90F7F0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152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193">
            <a:extLst xmlns:a="http://schemas.openxmlformats.org/drawingml/2006/main">
              <a:ext uri="{FF2B5EF4-FFF2-40B4-BE49-F238E27FC236}">
                <a16:creationId xmlns:a16="http://schemas.microsoft.com/office/drawing/2014/main" id="{723B33BB-2026-4A95-8ADE-341DD131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UE 秀场回放</a:t>
            </a:r>
          </a:p>
        </p:txBody>
      </p:sp>
      <p:sp>
        <p:nvSpPr>
          <p:cNvPr id="9" name="重制文本_194">
            <a:extLst xmlns:a="http://schemas.openxmlformats.org/drawingml/2006/main">
              <a:ext uri="{FF2B5EF4-FFF2-40B4-BE49-F238E27FC236}">
                <a16:creationId xmlns:a16="http://schemas.microsoft.com/office/drawing/2014/main" id="{EFCF68CB-E9A8-44EB-9715-B1D833B9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工具与案例</a:t>
            </a:r>
          </a:p>
        </p:txBody>
      </p:sp>
      <p:sp>
        <p:nvSpPr>
          <p:cNvPr id="10" name="重制文本_195">
            <a:extLst xmlns:a="http://schemas.openxmlformats.org/drawingml/2006/main">
              <a:ext uri="{FF2B5EF4-FFF2-40B4-BE49-F238E27FC236}">
                <a16:creationId xmlns:a16="http://schemas.microsoft.com/office/drawing/2014/main" id="{2F0D27AB-59D3-4BF8-9076-AD25B15D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烘焙器与 18 个案例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先选一个效果跑完整流程。</a:t>
            </a:r>
          </a:p>
        </p:txBody>
      </p:sp>
      <p:sp>
        <p:nvSpPr>
          <p:cNvPr id="11" name="重制文本_196">
            <a:extLst xmlns:a="http://schemas.openxmlformats.org/drawingml/2006/main">
              <a:ext uri="{FF2B5EF4-FFF2-40B4-BE49-F238E27FC236}">
                <a16:creationId xmlns:a16="http://schemas.microsoft.com/office/drawing/2014/main" id="{FDBDFAA2-ABBA-4AAA-805C-667B243A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34671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制作 → 素材包 → 接入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编排 → 导演表 → UE</a:t>
            </a:r>
          </a:p>
        </p:txBody>
      </p:sp>
      <p:sp>
        <p:nvSpPr>
          <p:cNvPr id="12" name="重制文本_197">
            <a:extLst xmlns:a="http://schemas.openxmlformats.org/drawingml/2006/main">
              <a:ext uri="{FF2B5EF4-FFF2-40B4-BE49-F238E27FC236}">
                <a16:creationId xmlns:a16="http://schemas.microsoft.com/office/drawing/2014/main" id="{248FF3C5-19CF-4578-A716-7246363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把重复工作变成工具，把关键判断留给人。</a:t>
            </a:r>
          </a:p>
        </p:txBody>
      </p:sp>
      <p:sp>
        <p:nvSpPr>
          <p:cNvPr id="13" name="重制文本_198">
            <a:extLst xmlns:a="http://schemas.openxmlformats.org/drawingml/2006/main">
              <a:ext uri="{FF2B5EF4-FFF2-40B4-BE49-F238E27FC236}">
                <a16:creationId xmlns:a16="http://schemas.microsoft.com/office/drawing/2014/main" id="{7BCB2BFC-9FD8-4540-98E6-5E26CB62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1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附录 · 尾缀计算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用屏幕位移分配帧数，也保留空间精度的代价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重制文本_199">
            <a:extLst xmlns:a="http://schemas.openxmlformats.org/drawingml/2006/main">
              <a:ext uri="{FF2B5EF4-FFF2-40B4-BE49-F238E27FC236}">
                <a16:creationId xmlns:a16="http://schemas.microsoft.com/office/drawing/2014/main" id="{251E751F-7D1B-47CC-8C13-2AAA8C6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Δp = ∫ v₉₀(t) dt × pixelsPerMeter</a:t>
            </a:r>
          </a:p>
        </p:txBody>
      </p:sp>
      <p:sp>
        <p:nvSpPr>
          <p:cNvPr id="7" name="重制文本_200">
            <a:extLst xmlns:a="http://schemas.openxmlformats.org/drawingml/2006/main">
              <a:ext uri="{FF2B5EF4-FFF2-40B4-BE49-F238E27FC236}">
                <a16:creationId xmlns:a16="http://schemas.microsoft.com/office/drawing/2014/main" id="{4D3C3FF1-738C-4D4B-85D0-F15E7863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800 m / 1080p：约 0.77 px 是项目经验线；换距离与分辨率要重新标定。</a:t>
            </a:r>
          </a:p>
        </p:txBody>
      </p:sp>
      <p:sp>
        <p:nvSpPr>
          <p:cNvPr id="8" name="构图_201">
            <a:extLst xmlns:a="http://schemas.openxmlformats.org/drawingml/2006/main">
              <a:ext uri="{FF2B5EF4-FFF2-40B4-BE49-F238E27FC236}">
                <a16:creationId xmlns:a16="http://schemas.microsoft.com/office/drawing/2014/main" id="{37F0EA41-5263-4374-8B76-B4E94B70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68000"/>
            </a:srgbClr>
          </a:solidFill>
          <a:ln xmlns:a="http://schemas.openxmlformats.org/drawingml/2006/main" w="0">
            <a:noFill/>
          </a:ln>
        </p:spPr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08096-EC8A-4D0A-ADD7-4CF3B8E19D8E}"/>
              </a:ext>
            </a:extLst>
          </p:cNvPr>
          <p:cNvGraphicFramePr/>
          <p:nvPr/>
        </p:nvGraphicFramePr>
        <p:xfrm>
          <a:off xmlns:a="http://schemas.openxmlformats.org/drawingml/2006/main" x="609600" y="3190875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4381500"/>
                <a:gridCol w="3962400"/>
              </a:tblGrid>
              <a:tr h="609600">
                <a:tc>
                  <a:txBody>
                    <a:bodyPr lIns="0" tIns="0" rIns="0" bIns="0"/>
                    <a:lstStyle/>
                    <a:p>
                      <a:r>
                        <a:rPr sz="150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50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 / M / S 总帧数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50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上升段最慢帧率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609600">
                <a:tc>
                  <a:txBody>
                    <a:bodyPr lIns="0" tIns="0" rIns="0" bIns="0"/>
                    <a:lstStyle/>
                    <a:p>
                      <a:r>
                        <a:rPr sz="1875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4.9.26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875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253 / 126 / 102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875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分阶段重新分配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609600">
                <a:tc>
                  <a:txBody>
                    <a:bodyPr lIns="0" tIns="0" rIns="0" bIns="0"/>
                    <a:lstStyle/>
                    <a:p>
                      <a:r>
                        <a:rPr sz="1875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4.9.31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875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 / 128 / 96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875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/ 15 / 30 fps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10" name="重制文本_202">
            <a:extLst xmlns:a="http://schemas.openxmlformats.org/drawingml/2006/main">
              <a:ext uri="{FF2B5EF4-FFF2-40B4-BE49-F238E27FC236}">
                <a16:creationId xmlns:a16="http://schemas.microsoft.com/office/drawing/2014/main" id="{7673D12A-F08A-4FB3-989F-52E82CB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历史 PC S/M/L/Hero：RiseLoop + TrailFar；Tiny/XS 与手游：TrailFull。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L 单格曾从 128×2048 调到 128×512；时间更密，近看更软。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2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附录 · 仙女棒实现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层次来自亲子关系、运动继承和成像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55FB6-C23E-4451-BB38-83437C4B5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85d3608314330"/>
          <a:stretch xmlns:a="http://schemas.openxmlformats.org/drawingml/2006/main"/>
        </p:blipFill>
        <p:spPr>
          <a:xfrm xmlns:a="http://schemas.openxmlformats.org/drawingml/2006/main">
            <a:off x="2488746" y="1381125"/>
            <a:ext cx="3575957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构图_203">
            <a:extLst xmlns:a="http://schemas.openxmlformats.org/drawingml/2006/main">
              <a:ext uri="{FF2B5EF4-FFF2-40B4-BE49-F238E27FC236}">
                <a16:creationId xmlns:a16="http://schemas.microsoft.com/office/drawing/2014/main" id="{4F21F44D-1ABC-4A4B-AF3C-647010F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204">
            <a:extLst xmlns:a="http://schemas.openxmlformats.org/drawingml/2006/main">
              <a:ext uri="{FF2B5EF4-FFF2-40B4-BE49-F238E27FC236}">
                <a16:creationId xmlns:a16="http://schemas.microsoft.com/office/drawing/2014/main" id="{2D4DAD16-2047-4405-9C13-E4EF079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烘焙器分层形态 · 沿用 Blender V05</a:t>
            </a:r>
          </a:p>
        </p:txBody>
      </p:sp>
      <p:sp>
        <p:nvSpPr>
          <p:cNvPr id="9" name="重制文本_205">
            <a:extLst xmlns:a="http://schemas.openxmlformats.org/drawingml/2006/main">
              <a:ext uri="{FF2B5EF4-FFF2-40B4-BE49-F238E27FC236}">
                <a16:creationId xmlns:a16="http://schemas.microsoft.com/office/drawing/2014/main" id="{D53C2639-6CD5-408B-B161-791A3D85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573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13 类模拟层</a:t>
            </a:r>
          </a:p>
        </p:txBody>
      </p:sp>
      <p:sp>
        <p:nvSpPr>
          <p:cNvPr id="10" name="重制文本_206">
            <a:extLst xmlns:a="http://schemas.openxmlformats.org/drawingml/2006/main">
              <a:ext uri="{FF2B5EF4-FFF2-40B4-BE49-F238E27FC236}">
                <a16:creationId xmlns:a16="http://schemas.microsoft.com/office/drawing/2014/main" id="{8E8AA9FA-FC77-47AF-8FD7-6DC757C0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3257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核心 / 细丝 / 粗火星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母粒 / 多级分叉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碎片 / 余烬 / 近远火星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燃烧头 / 炽热点</a:t>
            </a:r>
          </a:p>
        </p:txBody>
      </p:sp>
      <p:sp>
        <p:nvSpPr>
          <p:cNvPr id="11" name="重制文本_207">
            <a:extLst xmlns:a="http://schemas.openxmlformats.org/drawingml/2006/main">
              <a:ext uri="{FF2B5EF4-FFF2-40B4-BE49-F238E27FC236}">
                <a16:creationId xmlns:a16="http://schemas.microsoft.com/office/drawing/2014/main" id="{EE3E049A-C56D-4795-9340-EBAF5BC3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14775"/>
            <a:ext cx="3257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4.9.118 候选实包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每平台 1 个 CPU Main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1 张 64 帧主序列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4×4 格 × RGBA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另有 Ramp / Cutout</a:t>
            </a:r>
          </a:p>
        </p:txBody>
      </p:sp>
      <p:sp>
        <p:nvSpPr>
          <p:cNvPr id="12" name="重制文本_208">
            <a:extLst xmlns:a="http://schemas.openxmlformats.org/drawingml/2006/main">
              <a:ext uri="{FF2B5EF4-FFF2-40B4-BE49-F238E27FC236}">
                <a16:creationId xmlns:a16="http://schemas.microsoft.com/office/drawing/2014/main" id="{CA6F0D6C-47C2-4387-B2F8-F11E50F0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原工程包含 13 个发射层；不是 13 个独立系统。快门积分也继承了原工程经验。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slides/slide2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附录 · 排查经过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ts val="325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模糊与方头：逐步隔离采样、流送与画质条件</a:t>
            </a:r>
          </a:p>
        </p:txBody>
      </p:sp>
      <p:sp>
        <p:nvSpPr>
          <p:cNvPr id="4" name="footer_mark">
            <a:extLst xmlns:a="http://schemas.openxmlformats.org/drawingml/2006/main"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F79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44525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8EB70-A7A4-491A-9A61-4BB91A44C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41ab94cf6487c"/>
          <a:stretch xmlns:a="http://schemas.openxmlformats.org/drawingml/2006/main"/>
        </p:blipFill>
        <p:spPr>
          <a:xfrm xmlns:a="http://schemas.openxmlformats.org/drawingml/2006/main">
            <a:off x="620639" y="1381125"/>
            <a:ext cx="6169172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构图_209">
            <a:extLst xmlns:a="http://schemas.openxmlformats.org/drawingml/2006/main">
              <a:ext uri="{FF2B5EF4-FFF2-40B4-BE49-F238E27FC236}">
                <a16:creationId xmlns:a16="http://schemas.microsoft.com/office/drawing/2014/main" id="{18CA5579-7AA7-4D66-879E-9A885BA6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5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重制文本_210">
            <a:extLst xmlns:a="http://schemas.openxmlformats.org/drawingml/2006/main">
              <a:ext uri="{FF2B5EF4-FFF2-40B4-BE49-F238E27FC236}">
                <a16:creationId xmlns:a16="http://schemas.microsoft.com/office/drawing/2014/main" id="{D2852442-99A6-4C9F-B6FA-51B5ED90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用户现场反馈 · 非受控配对</a:t>
            </a:r>
          </a:p>
        </p:txBody>
      </p:sp>
      <p:sp>
        <p:nvSpPr>
          <p:cNvPr id="9" name="重制文本_211">
            <a:extLst xmlns:a="http://schemas.openxmlformats.org/drawingml/2006/main">
              <a:ext uri="{FF2B5EF4-FFF2-40B4-BE49-F238E27FC236}">
                <a16:creationId xmlns:a16="http://schemas.microsoft.com/office/drawing/2014/main" id="{22F0A80B-10BA-45DA-A26E-05B62FBF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382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从症状到受控对比</a:t>
            </a:r>
          </a:p>
        </p:txBody>
      </p:sp>
      <p:sp>
        <p:nvSpPr>
          <p:cNvPr id="10" name="重制文本_212">
            <a:extLst xmlns:a="http://schemas.openxmlformats.org/drawingml/2006/main">
              <a:ext uri="{FF2B5EF4-FFF2-40B4-BE49-F238E27FC236}">
                <a16:creationId xmlns:a16="http://schemas.microsoft.com/office/drawing/2014/main" id="{01382C3E-D649-43C6-A63D-9EBE4935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05025"/>
            <a:ext cx="43434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1  检查半透明降分辨率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2  隔离各向异性、主序列与 Ramp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3  同机位、同档位、同刻播放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4  区分形状采样与首次流送</a:t>
            </a:r>
          </a:p>
        </p:txBody>
      </p:sp>
      <p:sp>
        <p:nvSpPr>
          <p:cNvPr id="11" name="重制文本_213">
            <a:extLst xmlns:a="http://schemas.openxmlformats.org/drawingml/2006/main">
              <a:ext uri="{FF2B5EF4-FFF2-40B4-BE49-F238E27FC236}">
                <a16:creationId xmlns:a16="http://schemas.microsoft.com/office/drawing/2014/main" id="{96177BFD-DA41-4426-AC70-E4281E1B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最终按平台固化规则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PC 主序列 NoMip；手游保留 Mip / 流送、最大 1024。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Ramp 使用 Clamp / NoMip。末格黑块另按 0.98 处理。</a:t>
            </a:r>
          </a:p>
        </p:txBody>
      </p:sp>
      <p:sp>
        <p:nvSpPr>
          <p:cNvPr id="12" name="重制文本_214">
            <a:extLst xmlns:a="http://schemas.openxmlformats.org/drawingml/2006/main">
              <a:ext uri="{FF2B5EF4-FFF2-40B4-BE49-F238E27FC236}">
                <a16:creationId xmlns:a16="http://schemas.microsoft.com/office/drawing/2014/main" id="{888B6F13-42FA-4950-A384-803A3E1D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05425"/>
            <a:ext cx="4343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黑点与末格黑块仍缺成对 UE 原图；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只使用参数、用户反馈与单侧修后依据。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2026-10-29T18:21:20.0720000Z</dcterms:created>
  <dcterms:modified xsi:type="dcterms:W3CDTF">2026-10-29T18:21:20.0720000Z</dcterms:modified>
</coreProperties>
</file>