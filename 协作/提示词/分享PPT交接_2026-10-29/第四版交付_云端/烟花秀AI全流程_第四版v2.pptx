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页 · 封面（约 25 秒）</a:t>
            </a:r>
          </a:p>
          <a:p>
            <a:r>
              <a:t>提词：三块工作都做了工具 · 分四部分讲</a:t>
            </a:r>
          </a:p>
          <a:p/>
          <a:p>
            <a:r>
              <a:t>大家好，我是____。今天和大家分享跨年烟花秀的制作过程。这一个多月里，效果制作、资源交付和节目编排这三块工作，我都借助 AI 做了工具。我分四部分来讲：先说遇到的挑战，再说解决思路，然后看实践成果，最后分享一点工作方法。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2 页 · 制作规模（约 30 秒）</a:t>
            </a:r>
          </a:p>
          <a:p>
            <a:r>
              <a:t>提词：3 → 26 种 · 1 → 6 档 · 70 → 220 秒 · 两套</a:t>
            </a:r>
          </a:p>
          <a:p/>
          <a:p>
            <a:r>
              <a:t>先说挑战，第一个是规模。去年是 3 种烟花、1 条升空尾缀，节目大约 70 秒；今年开花有 26 种，扇形也算在里面，尾缀分了 6 档，节目大约 220 秒，而且 PC 和手游要各做一套。规模一大，重复的工作也跟着变多，最明显的就是资源交付。</a:t>
            </a:r>
          </a:p>
          <a:p/>
          <a:p>
            <a:r>
              <a:t>依据：去年 3 种、1 条尾缀、约 70 秒为讲者口述；今年 26 种、6 档、219.5 秒：第二版核验 verify_A1_A2 §1、B11 修订 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页 · 资源交付（约 50 秒）</a:t>
            </a:r>
          </a:p>
          <a:p>
            <a:r>
              <a:t>提词：导出一串规格 · 导入十几项设置 · 绿框三项最要命</a:t>
            </a:r>
          </a:p>
          <a:p/>
          <a:p>
            <a:r>
              <a:t>资源交付分导出和导入两段。导出时，每种烟花都要定取景、帧数、排格和打包，还要做 Ramp 和 Cutout，两个平台各出一份；导入时，每个资源还有十几项引擎设置。以前这些全靠手工一个个做，效果一改就要重来。漏掉一项就会出问题，比如标绿的三项：NeverStream 没关，贴图会常驻内存；PC 主序列带了 Mip，星头会变方；EmissiveDissolve 没设好，最亮的地方会出黑块。除了资源，第三个挑战在编排。</a:t>
            </a:r>
          </a:p>
          <a:p/>
          <a:p>
            <a:r>
              <a:t>依据：12 项设置：烟花贴图规范（与性能组约定）与烟花特效资产规范；三项后果见第 16 页与 LOWQ_FIX_20261018。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4 页 · 编排（约 40 秒）</a:t>
            </a:r>
          </a:p>
          <a:p>
            <a:r>
              <a:t>提词：去年 12 条子序列、2726 条轨道 · 今年 220 秒、24 点位、两平台各 3 档</a:t>
            </a:r>
          </a:p>
          <a:p/>
          <a:p>
            <a:r>
              <a:t>去年的编排是在定序器里手工拼的，一共 12 条子序列、两千七百多条轨道。改一处节奏要逐条对齐，整体构图也很难直接看到，每个画质档还要分别维护。今年节目更长，有 24 个发射点位，PC 和手游各分三档画质，节奏还要跟着音乐反复改，再靠手工排轨就改不过来了。规模、资源交付、编排，这就是三个挑战。下面一个一个说解决思路。</a:t>
            </a:r>
          </a:p>
          <a:p/>
          <a:p>
            <a:r>
              <a:t>依据：12 子序列、2726 轨道：UE 只读统计（10-29，第二版核验 A3）。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页 · 烟花烘焙器（约 40 秒）</a:t>
            </a:r>
          </a:p>
          <a:p>
            <a:r>
              <a:t>提词：之前 Blender 出图慢、预览对不上 · 选模板 → 调参 → 存效果 → 派生</a:t>
            </a:r>
          </a:p>
          <a:p/>
          <a:p>
            <a:r>
              <a:t>先说规模。我让 AI 开发了烟花烘焙器。之前也试过用 AI 脚本驱动 Blender 出图，能出，但每一轮都要等渲染，预览和最终输出也对不上。烘焙器只算游戏视角需要的序列，内置了花型模板和多层模板：选一个模板、调一调参数，就是一个新效果，存进效果库以后还能继续派生。效果做得快了，接下来要解决的是怎么把它规范地交出去。</a:t>
            </a:r>
          </a:p>
          <a:p/>
          <a:p>
            <a:r>
              <a:t>依据：模板数量：analysis/results/NF4/缩略图/缩略图.json（4.9.18：花型模板 27、多层模板 30）。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6 页 · 导出规范（约 40 秒）</a:t>
            </a:r>
          </a:p>
          <a:p>
            <a:r>
              <a:t>提词：三种取景 · 两成提到四成 · 其余自动 · 右边回放复核</a:t>
            </a:r>
          </a:p>
          <a:p/>
          <a:p>
            <a:r>
              <a:t>交付分两步，先看导出。第一步是取景：默认用固定框；随开花放大，能让刚开花时拿到更多像素；锚在爆点，适合单侧的花型。扇形测试里，内容占面片的比例从大约两成提到了四成。后面的排格、打包、Ramp、Cutout 和两个平台的导出都是自动完成的。右边是回放复核：按导出的 64 帧贴图一格一格回放，确认交出去的和我们看到的一致。导出之后就是导入。</a:t>
            </a:r>
          </a:p>
          <a:p/>
          <a:p>
            <a:r>
              <a:t>依据：tool/CHANGELOG.md 4.9.33、4.9.81（FC6O 取景估算 0.20 / 0.21 / 0.41）；动图为用户 10-30 录屏。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7 页 · 导入规范（约 35 秒）</a:t>
            </a:r>
          </a:p>
          <a:p>
            <a:r>
              <a:t>提词：检查 → 创建 → 确认写入 → 读回 · 规范写进工具</a:t>
            </a:r>
          </a:p>
          <a:p/>
          <a:p>
            <a:r>
              <a:t>导入交给导入器。它读取素材包，先检查命名、尺寸和各项规范，再按平台创建贴图、材质实例和发射器，确认以后写入 UE，并读回核对。和性能组定下的贴图规范，还有包围盒、朝向、EmissiveDissolve 这些设置，都写进了工具，不用再靠人记。资源能顺利进引擎了，剩下的是编排。</a:t>
            </a:r>
          </a:p>
          <a:p/>
          <a:p>
            <a:r>
              <a:t>依据：项目规则 §2 烟花贴图规范（v2.31）；spec/workspace_resource_v1.md。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8 页 · 编排推演（约 50 秒）</a:t>
            </a:r>
          </a:p>
          <a:p>
            <a:r>
              <a:t>提词：800 米大坝 · 点距 100 米 · 1.5 倍 / 2 倍 / 3 倍 · 四档 · 极限帧</a:t>
            </a:r>
          </a:p>
          <a:p/>
          <a:p>
            <a:r>
              <a:t>编排我先做推演。舞台是一座宽约 800 米、高 150 米的大坝，按约 100 米的点距布置发射点，一共 24 个。花径大约是点距的 1.5 倍时，还能分清单朵；到 2 倍以上会连成花墙；3 倍左右就容易糊成一片。按这个关系，把花型分成 S、M、L 和主角四档，定好各自的开花高度，再检查极限帧，也就是同一时刻各档都开到最大时，会不会叠得太满。这些规则写进了编排宪章，每一版都自动检查。规则有了，还需要一个工具把它落地。</a:t>
            </a:r>
          </a:p>
          <a:p/>
          <a:p>
            <a:r>
              <a:t>依据：协作/跨年秀编排宪章.md；第二版重制第 7 页；舞台图按编排工作台设计令牌配色重画（设计值）。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9 页 · 烟花编排工作台（约 45 秒）</a:t>
            </a:r>
          </a:p>
          <a:p>
            <a:r>
              <a:t>提词：基础模板 → 花型模板 → 编排片段 → 导演表 · 改节奏只要重新出表</a:t>
            </a:r>
          </a:p>
          <a:p/>
          <a:p>
            <a:r>
              <a:t>这个工具就是烟花编排工作台。资源表里的效果是基础模板；配上尺寸、高度和尾缀，就成了花型模板；把花型模板放上时间轴，就是编排片段。右边是工作台的整页：左边是模板库，中间是舞台预览，下面是时间轴上的编排片段，右上角的交付按钮生成导演表。片段按音乐分段，可以一段一段调节奏和构图，最后一键生成导演表，导入 UE。改节奏只要重新出一次表。把三个问题和三个工具放在一起，就是下面这张图。</a:t>
            </a:r>
          </a:p>
          <a:p/>
          <a:p>
            <a:r>
              <a:t>依据：云端打开 tool/烟花编排工作台.html（B11 修订 3，2:45.5，PC 高配）：基础模板 33、花型模板 97、编排片段 492。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10 页 · 解决思路汇总（约 35 秒）</a:t>
            </a:r>
          </a:p>
          <a:p>
            <a:r>
              <a:t>提词：三个问题 → 三个工具 → UE · 分工与跨组协作</a:t>
            </a:r>
          </a:p>
          <a:p/>
          <a:p>
            <a:r>
              <a:t>三个问题对应三个工具：烘焙器解决规模，导入器解决资源交付，编排工作台解决编排，工具之间用固定格式衔接，最后在 UE 里播放。分工上，目标、审美和引擎约束由我来定，工具由 AI 开发，关键结果在 UE 里验收；导演蓝图和程序一起设计，贴图规范和性能组一起定。接下来看这些工具实际做出了什么。</a:t>
            </a:r>
          </a:p>
          <a:p/>
          <a:p>
            <a:r>
              <a:t>依据：约 2200 次提交：第二版核验 verify_A1_A2 §1（含后台自动回传）。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11 页 · 资源成果（约 30 秒）</a:t>
            </a:r>
          </a:p>
          <a:p>
            <a:r>
              <a:t>提词：PC 26 种 · 6 档尾缀 · 窜天猴 1 套 · 手游 12 种 · 贴图 212 张</a:t>
            </a:r>
          </a:p>
          <a:p/>
          <a:p>
            <a:r>
              <a:t>先看资源。进入跨年 3.0 资源表的，有球花和扇形 26 种、升空尾缀 6 档、窜天猴一套；手游覆盖 12 种开花，尾缀和窜天猴也都有。引用的贴图去重以后一共 212 张。其中 19 种开花保留了配方和导出记录，以后调参可以直接重新导出。资源之后，看编排。</a:t>
            </a:r>
          </a:p>
          <a:p/>
          <a:p>
            <a:r>
              <a:t>依据：verify_A1_A2 §1、§6；第三版素材/资源分类.md；尾缀格为用户 10-30 UE 录屏。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12 页 · 编排成果（约 50 秒）</a:t>
            </a:r>
          </a:p>
          <a:p>
            <a:r>
              <a:t>提词：3:05 同一时刻：PC 31 朵、手游 13 朵 · 自动分档 · 11 个大版本</a:t>
            </a:r>
          </a:p>
          <a:p/>
          <a:p>
            <a:r>
              <a:t>编排成果先看重叠检查。上面这两张是整场球花最满的时刻，3 分 05 秒，所有花都按开到最大来画：PC 高配同时有 31 朵，手游 13 朵，圈和圈重叠的地方，就是推演时要控制的。下面是辅助数据：同一份编排按平台和画质自动分档，PC 一场从大约 1150 次到 440 次播放，手游从 450 次到 180 次，不用每档单独排；一共迭代了 11 个大版本，每版都自动检查。目前节拍对齐的指标还没达到宪章目标，还在继续调。</a:t>
            </a:r>
          </a:p>
          <a:p/>
          <a:p>
            <a:r>
              <a:t>依据：B11 修订 3 编排检查（PC 1145 / 852 / 438，手游 448 / 349 / 181）；重叠图取编排方案 B11 修订 1 页逐 0.5 s 扫描球花面积最大的 185.0 s（PC 小 10 · 中 8 · 大 13；手游同刻大 13），按满径原生绘制。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13 页 · 接入成果（约 45 秒）</a:t>
            </a:r>
          </a:p>
          <a:p>
            <a:r>
              <a:t>提词：149 / 149 读回一致 · 115 个包无错误 · Overdraw 看叠加</a:t>
            </a:r>
          </a:p>
          <a:p/>
          <a:p>
            <a:r>
              <a:t>再看资源接入。接入这边做过两轮批量修正：贴图规范定下来以后，149 张贴图一次批量重设，读回全部一致；更早一轮修了 115 个包，也没有报错。这些规则现在都在导入器里，新资源进来会自动执行。右边是 UE 里的 Overdraw 视图，颜色越暖叠得越多，哪里需要减层一眼就能看出来。在开发机上实测，PC 高配烟花半透明的耗时在 0.08 到 0.5 毫秒之间。下面讲两个技术案例。</a:t>
            </a:r>
          </a:p>
          <a:p/>
          <a:p>
            <a:r>
              <a:t>依据：TEX_SPEC_20261018/verify.json；资源规范统一_20261016/改后读回.json；实测见 OVERDRAW_B11r3_20261019/看法.md（RTX 5080 编辑器视口，非目标机）；截图为用户提供。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14 页 · 仙女棒（约 40 秒）</a:t>
            </a:r>
          </a:p>
          <a:p>
            <a:r>
              <a:t>提词：一级二级分叉 · 以往 10 个发射器 · 13 类合成 1 张 64 帧 · 左 UE 实录</a:t>
            </a:r>
          </a:p>
          <a:p/>
          <a:p>
            <a:r>
              <a:t>第一个是仙女棒。它的火星有一级、二级分叉，也有清楚和模糊的层次。以往类似的效果，比如窜天猴的拖尾，要用 10 个发射器拼。这次我把之前 Blender 工程里的 13 类火星交给 AI，改成通用的母子分叉，烘焙时合成一张 64 帧序列，每个平台只要一个发射器。左边是 UE 里的实录，右边绿框里是烘焙器的引擎回放。第二个案例是升空尾缀。</a:t>
            </a:r>
          </a:p>
          <a:p/>
          <a:p>
            <a:r>
              <a:t>依据：verify_A4；UE 实录与引擎回放为用户 10-30 录屏。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15 页 · 升空尾缀（约 45 秒）</a:t>
            </a:r>
          </a:p>
          <a:p>
            <a:r>
              <a:t>提词：上升段走得快 · 按屏幕位移分帧 · 1.9 → 30 fps · 代价近看略软</a:t>
            </a:r>
          </a:p>
          <a:p/>
          <a:p>
            <a:r>
              <a:t>尾缀的难点在帧数。上升的时候它在屏幕上走得很快，如果按时间平均分帧，这一段每帧跳得太远，看起来一顿一顿的。所以我按观看距离，算出每一帧在屏幕上的位移：走得快的阶段多给帧，慢的阶段少给。L 档上升段最慢处的帧率，从大约 1.9 提到了 30。代价是单格高度变小，近看稍微软一点。左边是 UE 实录，中间是烘焙器里的实时模拟。除了做新效果，排查问题也花了不少时间。</a:t>
            </a:r>
          </a:p>
          <a:p/>
          <a:p>
            <a:r>
              <a:t>依据：第二版重制第 13、19 页；tool/CHANGELOG.md 4.9.26、4.9.31；录屏为用户 10-30 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16 页 · 方头与黑块（约 45 秒）</a:t>
            </a:r>
          </a:p>
          <a:p>
            <a:r>
              <a:t>提词：方头：低配低 Mip → PC 主序列不用 Mip · 黑块：Ramp 末格 → 0.98</a:t>
            </a:r>
          </a:p>
          <a:p/>
          <a:p>
            <a:r>
              <a:t>排查里有两个典型问题。一个是方头，只在低配出现：长条格被压扁后采样到了低 Mip，星头就变方了；固定机位逐档对比后定位，PC 主序列改成不用 Mip。另一个是最亮处的黑块，看上去是一个个黑点：亮度采样落到了 Ramp 最后一格的黑色，把 EmissiveDissolve 设成 0.98 就解决了。这两条都写进了导出和导入规则，后面不会再犯。最后用一段录屏把整个流程串一遍。</a:t>
            </a:r>
          </a:p>
          <a:p/>
          <a:p>
            <a:r>
              <a:t>依据：analysis/results/LOWQ_FIX_20261018；analysis/probe/BC7护栏黑块_2026-10-15（机制复现为模拟）。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17 页 · 流程演示（约 145 秒）</a:t>
            </a:r>
          </a:p>
          <a:p>
            <a:r>
              <a:t>提词：模板调参 → 回放复核 → 双平台导出 → 导入 UE → 编排</a:t>
            </a:r>
          </a:p>
          <a:p/>
          <a:p>
            <a:r>
              <a:t>这段录屏从选模板、调参数开始，在引擎回放里复核，同时导出 PC 和手游，用导入器写进 UE，再到编排工作台排进节目。（播放录屏，约 2 分钟）录屏剪辑过，完整走一遍实际大约 ×× 分钟。最后分享一点工作方法。</a:t>
            </a:r>
          </a:p>
          <a:p/>
          <a:p>
            <a:r>
              <a:t>依据：录屏由讲者提供。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18 页 · 工作方法（约 50 秒）</a:t>
            </a:r>
          </a:p>
          <a:p>
            <a:r>
              <a:t>提词：明确需求 · 建立规范 · 结果把关 · 从一项重复工作开始</a:t>
            </a:r>
          </a:p>
          <a:p/>
          <a:p>
            <a:r>
              <a:t>这一个多月下来，我的体会是：批量需求可以分三个阶段和 AI 协作。第一，明确需求：先定目标、约束和验收标准，让 AI 梳理需要的技术，选最简单可行的方案。第二，建立规范：按效果、工具、编排拆分任务，把参数、交互、编排规则写成宪章，每次开工前先读规范和交接。第三，结果把关：先自动检查，再到 UE 里验收，执行、自检和验收分开记录，通过的版本锁定复用。工具包我会放在 xx 处，建议大家从手边一项重复性工作开始试。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19 页 · Thank You（约 5 秒）</a:t>
            </a:r>
          </a:p>
          <a:p>
            <a:r>
              <a:t>提词：谢谢 · 欢迎交流</a:t>
            </a:r>
          </a:p>
          <a:p/>
          <a:p>
            <a:r>
              <a:t>以上就是我的分享，谢谢大家，欢迎交流。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gif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gif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gif"/><Relationship Id="rId3" Type="http://schemas.openxmlformats.org/officeDocument/2006/relationships/image" Target="../media/image25.jpg"/><Relationship Id="rId4" Type="http://schemas.openxmlformats.org/officeDocument/2006/relationships/image" Target="../media/image26.jpg"/><Relationship Id="rId5" Type="http://schemas.openxmlformats.org/officeDocument/2006/relationships/image" Target="../media/image27.gif"/><Relationship Id="rId6" Type="http://schemas.openxmlformats.org/officeDocument/2006/relationships/image" Target="../media/image28.jpg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gif"/><Relationship Id="rId3" Type="http://schemas.openxmlformats.org/officeDocument/2006/relationships/image" Target="../media/image30.gif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4" name="Picture 3" descr="p01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55400" y="6527800"/>
            <a:ext cx="6604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ource_tag"/>
          <p:cNvSpPr txBox="1"/>
          <p:nvPr/>
        </p:nvSpPr>
        <p:spPr>
          <a:xfrm>
            <a:off x="11455400" y="6527800"/>
            <a:ext cx="6604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示意图</a:t>
            </a:r>
          </a:p>
        </p:txBody>
      </p:sp>
      <p:sp>
        <p:nvSpPr>
          <p:cNvPr id="7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17600"/>
            <a:ext cx="698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组内分享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2026.10.30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435100"/>
            <a:ext cx="8255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439"/>
              </a:lnSpc>
            </a:pP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烟花秀</a:t>
            </a:r>
            <a:r>
              <a:rPr sz="5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5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5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全流程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451100"/>
            <a:ext cx="6985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40"/>
              </a:lnSpc>
            </a:pP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烟花烘焙器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导入器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烟花编排工作台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3022600"/>
            <a:ext cx="4572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32512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分享人：____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4660900"/>
            <a:ext cx="2032000" cy="6350"/>
          </a:xfrm>
          <a:prstGeom prst="rect">
            <a:avLst/>
          </a:prstGeom>
          <a:solidFill>
            <a:srgbClr val="F5F5F5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7879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7879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制作与挑战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0800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800" y="50800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解决思路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53721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53721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实践成果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664200"/>
            <a:ext cx="279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800" y="56642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分享与方法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制作与挑战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规模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制作规模：开花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26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种、尾缀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6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档、时长约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220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秒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02_sh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10972800" cy="2667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3695700"/>
            <a:ext cx="15062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3695700"/>
            <a:ext cx="15062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今年节目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4254500"/>
            <a:ext cx="2552700" cy="6350"/>
          </a:xfrm>
          <a:prstGeom prst="rect">
            <a:avLst/>
          </a:prstGeom>
          <a:solidFill>
            <a:srgbClr val="F5F5F5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381500"/>
            <a:ext cx="2552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开花种类（含扇形）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673600"/>
            <a:ext cx="25527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60"/>
              </a:lnSpc>
            </a:pPr>
            <a:r>
              <a:rPr sz="2200" b="1" lang="zh-CN" altLang="en-US">
                <a:solidFill>
                  <a:srgbClr val="F5F5F5">
                    <a:alpha val="45000"/>
                  </a:srgbClr>
                </a:solidFill>
                <a:latin typeface="Consolas"/>
                <a:ea typeface="微软雅黑"/>
                <a:cs typeface="微软雅黑"/>
              </a:rPr>
              <a:t>3</a:t>
            </a:r>
            <a:r>
              <a:rPr sz="1600" b="0" lang="zh-CN" altLang="en-US">
                <a:solidFill>
                  <a:srgbClr val="F5F5F5">
                    <a:alpha val="4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lang="zh-CN" altLang="en-US">
                <a:solidFill>
                  <a:srgbClr val="F5F5F5">
                    <a:alpha val="4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600" b="0" lang="zh-CN" altLang="en-US">
                <a:solidFill>
                  <a:srgbClr val="F5F5F5">
                    <a:alpha val="4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3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26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6300" y="4254500"/>
            <a:ext cx="2552700" cy="6350"/>
          </a:xfrm>
          <a:prstGeom prst="rect">
            <a:avLst/>
          </a:prstGeom>
          <a:solidFill>
            <a:srgbClr val="F5F5F5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6300" y="4381500"/>
            <a:ext cx="2552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升空尾缀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6300" y="4673600"/>
            <a:ext cx="25527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200" b="1" lang="zh-CN" altLang="en-US">
                <a:solidFill>
                  <a:srgbClr val="F5F5F5">
                    <a:alpha val="45000"/>
                  </a:srgbClr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600" b="0" lang="zh-CN" altLang="en-US">
                <a:solidFill>
                  <a:srgbClr val="F5F5F5">
                    <a:alpha val="4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lang="zh-CN" altLang="en-US">
                <a:solidFill>
                  <a:srgbClr val="F5F5F5">
                    <a:alpha val="4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600" b="0" lang="zh-CN" altLang="en-US">
                <a:solidFill>
                  <a:srgbClr val="F5F5F5">
                    <a:alpha val="4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6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000" y="4254500"/>
            <a:ext cx="2552700" cy="6350"/>
          </a:xfrm>
          <a:prstGeom prst="rect">
            <a:avLst/>
          </a:prstGeom>
          <a:solidFill>
            <a:srgbClr val="F5F5F5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3000" y="4381500"/>
            <a:ext cx="2552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节目时长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3000" y="4673600"/>
            <a:ext cx="25527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200" b="1" lang="zh-CN" altLang="en-US">
                <a:solidFill>
                  <a:srgbClr val="F5F5F5">
                    <a:alpha val="45000"/>
                  </a:srgbClr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2200" b="1" lang="zh-CN" altLang="en-US">
                <a:solidFill>
                  <a:srgbClr val="F5F5F5">
                    <a:alpha val="4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200" b="1" lang="zh-CN" altLang="en-US">
                <a:solidFill>
                  <a:srgbClr val="F5F5F5">
                    <a:alpha val="45000"/>
                  </a:srgbClr>
                </a:solidFill>
                <a:latin typeface="Consolas"/>
                <a:ea typeface="微软雅黑"/>
                <a:cs typeface="微软雅黑"/>
              </a:rPr>
              <a:t>70</a:t>
            </a:r>
            <a:r>
              <a:rPr sz="1600" b="0" lang="zh-CN" altLang="en-US">
                <a:solidFill>
                  <a:srgbClr val="F5F5F5">
                    <a:alpha val="4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0" lang="zh-CN" altLang="en-US">
                <a:solidFill>
                  <a:srgbClr val="F5F5F5">
                    <a:alpha val="4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600" b="0" lang="zh-CN" altLang="en-US">
                <a:solidFill>
                  <a:srgbClr val="F5F5F5">
                    <a:alpha val="4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2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220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29700" y="4254500"/>
            <a:ext cx="2552700" cy="6350"/>
          </a:xfrm>
          <a:prstGeom prst="rect">
            <a:avLst/>
          </a:prstGeom>
          <a:solidFill>
            <a:srgbClr val="F5F5F5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9700" y="4381500"/>
            <a:ext cx="2552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输出平台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29700" y="4673600"/>
            <a:ext cx="25527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80"/>
              </a:lnSpc>
            </a:pPr>
            <a:r>
              <a:rPr sz="2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套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与手游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制作与挑战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资源交付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资源交付：出图规格与引擎设置需逐项重复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导出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9100" y="1358900"/>
            <a:ext cx="3810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导入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1587500"/>
            <a:ext cx="6045200" cy="12700"/>
          </a:xfrm>
          <a:prstGeom prst="rect">
            <a:avLst/>
          </a:prstGeom>
          <a:solidFill>
            <a:srgbClr val="0FF796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9100" y="1587500"/>
            <a:ext cx="4813300" cy="12700"/>
          </a:xfrm>
          <a:prstGeom prst="rect">
            <a:avLst/>
          </a:prstGeom>
          <a:solidFill>
            <a:srgbClr val="0FF796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渲染出图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462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18415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669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取景裁切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81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16" name="Rectangle 15"/>
          <p:cNvSpPr/>
          <p:nvPr/>
        </p:nvSpPr>
        <p:spPr>
          <a:xfrm>
            <a:off x="30734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988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排格打包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100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43053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07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2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/</a:t>
            </a:r>
            <a:r>
              <a:rPr sz="12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Cutout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419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22" name="Rectangle 21"/>
          <p:cNvSpPr/>
          <p:nvPr/>
        </p:nvSpPr>
        <p:spPr>
          <a:xfrm>
            <a:off x="55372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626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双平台导出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6738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67691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45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合入工程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057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28" name="Rectangle 27"/>
          <p:cNvSpPr/>
          <p:nvPr/>
        </p:nvSpPr>
        <p:spPr>
          <a:xfrm>
            <a:off x="80010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64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创建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376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31" name="Rectangle 30"/>
          <p:cNvSpPr/>
          <p:nvPr/>
        </p:nvSpPr>
        <p:spPr>
          <a:xfrm>
            <a:off x="9232900" y="1689100"/>
            <a:ext cx="1117600" cy="406400"/>
          </a:xfrm>
          <a:prstGeom prst="rect">
            <a:avLst/>
          </a:prstGeom>
          <a:solidFill>
            <a:srgbClr val="0FF796">
              <a:alpha val="8000"/>
            </a:srgbClr>
          </a:solidFill>
          <a:ln w="12700">
            <a:solidFill>
              <a:srgbClr val="0FF796">
                <a:alpha val="9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583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逐项设置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369550" y="1892300"/>
            <a:ext cx="76200" cy="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10464800" y="1689100"/>
            <a:ext cx="1117600" cy="4064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90200" y="1689100"/>
            <a:ext cx="1066800" cy="406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" y="2489200"/>
            <a:ext cx="381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导出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每种烟花需确定的规格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2870200"/>
            <a:ext cx="1860550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3900" y="2870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3300" y="2870200"/>
            <a:ext cx="141605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取景与爆点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59050" y="2870200"/>
            <a:ext cx="1860550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73350" y="2870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52750" y="2870200"/>
            <a:ext cx="141605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帧数分配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3441700"/>
            <a:ext cx="1860550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900" y="3441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300" y="3441700"/>
            <a:ext cx="141605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格子排布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59050" y="3441700"/>
            <a:ext cx="1860550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73350" y="3441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52750" y="3441700"/>
            <a:ext cx="141605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多帧打包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600" y="4013200"/>
            <a:ext cx="1860550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3900" y="4013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3300" y="4013200"/>
            <a:ext cx="141605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2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与</a:t>
            </a:r>
            <a:r>
              <a:rPr sz="12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Cutout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59050" y="4013200"/>
            <a:ext cx="1860550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73350" y="4013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952750" y="4013200"/>
            <a:ext cx="141605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2"/>
              </a:lnSpc>
            </a:pP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与手游两套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24400" y="2489200"/>
            <a:ext cx="6858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导入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每个资源需完成的设置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24400" y="28702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38700" y="2870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18100" y="28702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NeverStream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关闭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40033" y="28702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54333" y="2870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33733" y="28702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DistantVFX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贴图组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55667" y="28702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69967" y="2870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49367" y="28702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主序列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NoMip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24400" y="34417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38700" y="3441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18100" y="34417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手游主序列带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Mip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040033" y="34417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54333" y="3441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33733" y="34417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手游最大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1024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355667" y="34417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469967" y="3441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749367" y="34417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手游压缩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ASTC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24400" y="40132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38700" y="4013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118100" y="40132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Clamp、NoMip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040033" y="40132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54333" y="4013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33733" y="40132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固定包围盒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55667" y="40132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469967" y="40132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09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749367" y="40132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面片朝向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24400" y="45847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38700" y="4584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18100" y="45847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UV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翻转方式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40033" y="45847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54333" y="4584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33733" y="45847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EmissiveDissolve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0.98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355667" y="4584700"/>
            <a:ext cx="2226733" cy="48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469967" y="4584700"/>
            <a:ext cx="317500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749367" y="4584700"/>
            <a:ext cx="1782233" cy="482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7"/>
              </a:lnSpc>
            </a:pP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LOD</a:t>
            </a:r>
            <a:r>
              <a:rPr sz="115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5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方式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24400" y="2870200"/>
            <a:ext cx="2226733" cy="482600"/>
          </a:xfrm>
          <a:prstGeom prst="rect">
            <a:avLst/>
          </a:prstGeom>
          <a:solidFill>
            <a:srgbClr val="0FF796">
              <a:alpha val="8000"/>
            </a:srgbClr>
          </a:solidFill>
          <a:ln w="12700">
            <a:solidFill>
              <a:srgbClr val="0FF796">
                <a:alpha val="9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355667" y="2870200"/>
            <a:ext cx="2226733" cy="482600"/>
          </a:xfrm>
          <a:prstGeom prst="rect">
            <a:avLst/>
          </a:prstGeom>
          <a:solidFill>
            <a:srgbClr val="0FF796">
              <a:alpha val="8000"/>
            </a:srgbClr>
          </a:solidFill>
          <a:ln w="12700">
            <a:solidFill>
              <a:srgbClr val="0FF796">
                <a:alpha val="9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040033" y="4584700"/>
            <a:ext cx="2226733" cy="482600"/>
          </a:xfrm>
          <a:prstGeom prst="rect">
            <a:avLst/>
          </a:prstGeom>
          <a:solidFill>
            <a:srgbClr val="0FF796">
              <a:alpha val="8000"/>
            </a:srgbClr>
          </a:solidFill>
          <a:ln w="12700">
            <a:solidFill>
              <a:srgbClr val="0FF796">
                <a:alpha val="9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9600" y="5308600"/>
            <a:ext cx="109728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09600" y="5448300"/>
            <a:ext cx="10972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原有方式：以上步骤逐个资源手工完成，效果一调整就需重做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9600" y="57531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漏设一项即出现问题：</a:t>
            </a:r>
            <a:r>
              <a:rPr sz="12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贴图常驻内存（01）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、</a:t>
            </a:r>
            <a:r>
              <a:rPr sz="12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星头方块（03）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、</a:t>
            </a:r>
            <a:r>
              <a:rPr sz="12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最亮处黑块（11）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制作与挑战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编排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编排：定序器手工排轨难以支撑今年规模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05_sequenc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6400800" cy="47117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5740400"/>
            <a:ext cx="196342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5740400"/>
            <a:ext cx="196342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编辑器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去年的定序器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589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去年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25600"/>
            <a:ext cx="42672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520"/>
              </a:lnSpc>
            </a:pPr>
            <a:r>
              <a:rPr sz="3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2726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条轨道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12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条子序列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227965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80300" y="2197100"/>
            <a:ext cx="41021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调整节奏需逐条对齐轨道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257175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80300" y="2489200"/>
            <a:ext cx="41021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无法直观预览整体构图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86385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80300" y="2781300"/>
            <a:ext cx="41021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各画质档需分别维护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155950"/>
            <a:ext cx="63500" cy="6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80300" y="3073400"/>
            <a:ext cx="41021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内存占用偏高（性能组反馈）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3530600"/>
            <a:ext cx="42672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37084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今年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4000500"/>
            <a:ext cx="42672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6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220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秒节目时长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83100"/>
            <a:ext cx="42672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6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24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个发射点位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965700"/>
            <a:ext cx="42672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6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×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与手游各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3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档画质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524500"/>
            <a:ext cx="42672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节奏需随音乐反复调整，</a:t>
            </a:r>
          </a:p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手工排轨的修改成本过高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制作规模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烟花烘焙器：从模板快速生成效果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32893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3600" y="15621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此前尝试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600" y="1841500"/>
            <a:ext cx="2794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6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脚本驱动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Blender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63600" y="2406650"/>
            <a:ext cx="88900" cy="88900"/>
          </a:xfrm>
          <a:prstGeom prst="rect">
            <a:avLst/>
          </a:prstGeom>
          <a:solidFill>
            <a:srgbClr val="F5F5F5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4100" y="2324100"/>
            <a:ext cx="2667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每轮等待离线渲染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3600" y="2736850"/>
            <a:ext cx="88900" cy="88900"/>
          </a:xfrm>
          <a:prstGeom prst="rect">
            <a:avLst/>
          </a:prstGeom>
          <a:solidFill>
            <a:srgbClr val="F5F5F5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4100" y="2654300"/>
            <a:ext cx="2667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预览与输出不一致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3600" y="3111500"/>
            <a:ext cx="27813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600" y="32766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烘焙器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" y="356870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可视化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" y="38227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实时调参；导出后在烘焙器内回放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600" y="433070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快速输出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600" y="45847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即改即看，直接输出引擎格式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600" y="5092700"/>
            <a:ext cx="279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项目定制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600" y="53467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按本项目舞台、视距与规范</a:t>
            </a:r>
          </a:p>
        </p:txBody>
      </p:sp>
      <p:pic>
        <p:nvPicPr>
          <p:cNvPr id="21" name="Picture 20" descr="p05_tp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00" y="1358900"/>
            <a:ext cx="3625850" cy="2095500"/>
          </a:xfrm>
          <a:prstGeom prst="rect">
            <a:avLst/>
          </a:prstGeom>
        </p:spPr>
      </p:pic>
      <p:pic>
        <p:nvPicPr>
          <p:cNvPr id="22" name="Picture 21" descr="p05_mult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550" y="1358900"/>
            <a:ext cx="3625850" cy="2095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03700" y="3505200"/>
            <a:ext cx="3625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单层花型模板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27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6550" y="3505200"/>
            <a:ext cx="3625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多层模板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30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种</a:t>
            </a:r>
          </a:p>
        </p:txBody>
      </p:sp>
      <p:pic>
        <p:nvPicPr>
          <p:cNvPr id="25" name="Picture 24" descr="p05_fx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700" y="3810000"/>
            <a:ext cx="3625850" cy="2095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03700" y="5956300"/>
            <a:ext cx="362585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75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效果库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基于模板调出的效果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6550" y="3810000"/>
            <a:ext cx="362585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制作流程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6550" y="4127500"/>
            <a:ext cx="3625850" cy="355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3550" y="4127500"/>
            <a:ext cx="38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4550" y="41275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选择模板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66300" y="4495800"/>
            <a:ext cx="0" cy="7620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</a:ln>
        </p:spPr>
      </p:cxnSp>
      <p:sp>
        <p:nvSpPr>
          <p:cNvPr id="32" name="Rectangle 31"/>
          <p:cNvSpPr/>
          <p:nvPr/>
        </p:nvSpPr>
        <p:spPr>
          <a:xfrm>
            <a:off x="7956550" y="4584700"/>
            <a:ext cx="3625850" cy="355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83550" y="4584700"/>
            <a:ext cx="38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4550" y="45847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调整参数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66300" y="4953000"/>
            <a:ext cx="0" cy="7620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7956550" y="5041900"/>
            <a:ext cx="3625850" cy="355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83550" y="5041900"/>
            <a:ext cx="38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64550" y="50419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保存为效果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766300" y="5410200"/>
            <a:ext cx="0" cy="76200"/>
          </a:xfrm>
          <a:prstGeom prst="line">
            <a:avLst/>
          </a:prstGeom>
          <a:ln w="12700">
            <a:solidFill>
              <a:srgbClr val="F5F5F5">
                <a:alpha val="45000"/>
              </a:srgbClr>
            </a:solidFill>
          </a:ln>
        </p:spPr>
      </p:cxnSp>
      <p:sp>
        <p:nvSpPr>
          <p:cNvPr id="40" name="Rectangle 39"/>
          <p:cNvSpPr/>
          <p:nvPr/>
        </p:nvSpPr>
        <p:spPr>
          <a:xfrm>
            <a:off x="7956550" y="5499100"/>
            <a:ext cx="3625850" cy="355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83550" y="5499100"/>
            <a:ext cx="38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4550" y="54991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派生与复用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资源交付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导出规范：取景、打包与双平台输出自动完成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06_fix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2286000" cy="1739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1623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固定框（默认）</a:t>
            </a:r>
            <a:r>
              <a:rPr sz="13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3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3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13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成</a:t>
            </a:r>
          </a:p>
        </p:txBody>
      </p:sp>
      <p:pic>
        <p:nvPicPr>
          <p:cNvPr id="8" name="Picture 7" descr="p06_zo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358900"/>
            <a:ext cx="2286000" cy="1739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48000" y="31623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随开花放大</a:t>
            </a:r>
            <a:r>
              <a:rPr sz="13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3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3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13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成</a:t>
            </a:r>
          </a:p>
        </p:txBody>
      </p:sp>
      <p:pic>
        <p:nvPicPr>
          <p:cNvPr id="10" name="Picture 9" descr="p06_anch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58900"/>
            <a:ext cx="2286000" cy="17399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0" y="31623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锚在爆点</a:t>
            </a:r>
            <a:r>
              <a:rPr sz="13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3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13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4</a:t>
            </a:r>
            <a:r>
              <a:rPr sz="13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479800"/>
            <a:ext cx="71628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绿点为爆点；比例为扇形开满时内容占面片的比例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4800" y="1358900"/>
            <a:ext cx="3657600" cy="2266950"/>
          </a:xfrm>
          <a:prstGeom prst="rect">
            <a:avLst/>
          </a:prstGeom>
          <a:solidFill>
            <a:srgbClr val="0A0A0A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gif_review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800" y="1511300"/>
            <a:ext cx="3657600" cy="196215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693400" y="158750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ource_tag"/>
          <p:cNvSpPr txBox="1"/>
          <p:nvPr/>
        </p:nvSpPr>
        <p:spPr>
          <a:xfrm>
            <a:off x="10693400" y="158750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工具录屏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800" y="3683000"/>
            <a:ext cx="36576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回放复核：按导出的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帧贴图逐格回放，高亮当前格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600" y="4127500"/>
            <a:ext cx="1744133" cy="1333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4127500"/>
            <a:ext cx="38100" cy="1333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4254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546600"/>
            <a:ext cx="14901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取景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4838700"/>
            <a:ext cx="149013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三种方式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按花型选择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55333" y="4127500"/>
            <a:ext cx="1744133" cy="1333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7733" y="4254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7733" y="4546600"/>
            <a:ext cx="14901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烘焙后收紧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7733" y="4838700"/>
            <a:ext cx="149013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按每帧内容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二次收紧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01067" y="4127500"/>
            <a:ext cx="1744133" cy="1333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3467" y="4254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3467" y="4546600"/>
            <a:ext cx="14901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排格打包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467" y="4838700"/>
            <a:ext cx="149013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按形状排格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每张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6800" y="4127500"/>
            <a:ext cx="1744133" cy="1333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9200" y="4254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9200" y="4546600"/>
            <a:ext cx="14901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3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与</a:t>
            </a:r>
            <a:r>
              <a:rPr sz="13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Cutout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9200" y="4838700"/>
            <a:ext cx="149013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灰度查色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按收益生成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Cutout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92533" y="4127500"/>
            <a:ext cx="1744133" cy="1333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44933" y="4254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44933" y="4546600"/>
            <a:ext cx="14901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双平台导出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44933" y="4838700"/>
            <a:ext cx="149013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与手游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同时输出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38267" y="4127500"/>
            <a:ext cx="1744133" cy="1333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90667" y="4254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90667" y="4546600"/>
            <a:ext cx="1490133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回放复核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90667" y="4838700"/>
            <a:ext cx="1490133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在烘焙器内</a:t>
            </a:r>
            <a:br/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按导出贴图回放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9600" y="5651500"/>
            <a:ext cx="10972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原本手工完成的取景、排格与合通道，现在每次导出自动执行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资源交付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导入规范：检查、创建、设置与读回由工具完成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07_import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6400800" cy="36004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5800" y="4629150"/>
            <a:ext cx="19024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urce_tag"/>
          <p:cNvSpPr txBox="1"/>
          <p:nvPr/>
        </p:nvSpPr>
        <p:spPr>
          <a:xfrm>
            <a:off x="685800" y="4629150"/>
            <a:ext cx="19024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烟花素材导入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335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8600" y="1358900"/>
            <a:ext cx="3733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读取素材包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8600" y="1663700"/>
            <a:ext cx="3733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烘焙器导出后直接进入导入清单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2352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600" y="2260600"/>
            <a:ext cx="3733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检查规范项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8600" y="2565400"/>
            <a:ext cx="3733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命名、尺寸、平台，不合格先拦截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1369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8600" y="3162300"/>
            <a:ext cx="3733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创建与设置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3467100"/>
            <a:ext cx="3733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按平台创建贴图、材质实例、发射器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0386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48600" y="4064000"/>
            <a:ext cx="37338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确认写入，读回核对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48600" y="4368800"/>
            <a:ext cx="3733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检查阶段不修改工程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1181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内置于工具的引擎规范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5397500"/>
            <a:ext cx="2123440" cy="292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3975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NeverStream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关闭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21940" y="5397500"/>
            <a:ext cx="2123440" cy="292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21940" y="53975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贴图组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DistantVFX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34280" y="5397500"/>
            <a:ext cx="2123440" cy="292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34280" y="53975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主序列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NoMip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46620" y="5397500"/>
            <a:ext cx="2123440" cy="292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46620" y="53975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手游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Mip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≤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58960" y="5397500"/>
            <a:ext cx="2123440" cy="292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58960" y="53975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Clamp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5765800"/>
            <a:ext cx="2123440" cy="292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" y="57658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EmissiveDissolve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0.98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21940" y="5765800"/>
            <a:ext cx="2123440" cy="292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21940" y="57658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固定包围盒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34280" y="5765800"/>
            <a:ext cx="2123440" cy="292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34280" y="57658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面片朝向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46620" y="5765800"/>
            <a:ext cx="2123440" cy="292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46620" y="57658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UV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翻转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58960" y="5765800"/>
            <a:ext cx="2123440" cy="292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58960" y="5765800"/>
            <a:ext cx="2123440" cy="292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2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LOD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方式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编排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编排推演：由舞台、花径与点距推导分档和极限帧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10972800" cy="4064000"/>
          </a:xfrm>
          <a:prstGeom prst="rect">
            <a:avLst/>
          </a:prstGeom>
          <a:solidFill>
            <a:srgbClr val="111D21"/>
          </a:solidFill>
          <a:ln w="6350">
            <a:solidFill>
              <a:srgbClr val="2B41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1200" y="1460500"/>
            <a:ext cx="6413500" cy="3860800"/>
          </a:xfrm>
          <a:prstGeom prst="rect">
            <a:avLst/>
          </a:prstGeom>
          <a:solidFill>
            <a:srgbClr val="101A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066800" y="5105400"/>
            <a:ext cx="5956300" cy="0"/>
          </a:xfrm>
          <a:prstGeom prst="line">
            <a:avLst/>
          </a:prstGeom>
          <a:ln w="6350">
            <a:solidFill>
              <a:srgbClr val="263D42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762000" y="5016500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0</a:t>
            </a:r>
            <a:r>
              <a:rPr sz="700" b="0" lang="zh-CN" altLang="en-US">
                <a:solidFill>
                  <a:srgbClr val="8FA7A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66800" y="4393671"/>
            <a:ext cx="5956300" cy="0"/>
          </a:xfrm>
          <a:prstGeom prst="line">
            <a:avLst/>
          </a:prstGeom>
          <a:ln w="6350">
            <a:solidFill>
              <a:srgbClr val="263D4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762000" y="4304771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150</a:t>
            </a:r>
            <a:r>
              <a:rPr sz="700" b="0" lang="zh-CN" altLang="en-US">
                <a:solidFill>
                  <a:srgbClr val="8FA7A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66800" y="3681942"/>
            <a:ext cx="5956300" cy="0"/>
          </a:xfrm>
          <a:prstGeom prst="line">
            <a:avLst/>
          </a:prstGeom>
          <a:ln w="6350">
            <a:solidFill>
              <a:srgbClr val="263D4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762000" y="3593042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300</a:t>
            </a:r>
            <a:r>
              <a:rPr sz="700" b="0" lang="zh-CN" altLang="en-US">
                <a:solidFill>
                  <a:srgbClr val="8FA7A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6800" y="2970212"/>
            <a:ext cx="5956300" cy="0"/>
          </a:xfrm>
          <a:prstGeom prst="line">
            <a:avLst/>
          </a:prstGeom>
          <a:ln w="6350">
            <a:solidFill>
              <a:srgbClr val="263D4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762000" y="2881312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450</a:t>
            </a:r>
            <a:r>
              <a:rPr sz="700" b="0" lang="zh-CN" altLang="en-US">
                <a:solidFill>
                  <a:srgbClr val="8FA7A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66800" y="2258483"/>
            <a:ext cx="5956300" cy="0"/>
          </a:xfrm>
          <a:prstGeom prst="line">
            <a:avLst/>
          </a:prstGeom>
          <a:ln w="6350">
            <a:solidFill>
              <a:srgbClr val="263D42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62000" y="2169583"/>
            <a:ext cx="3048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600</a:t>
            </a:r>
            <a:r>
              <a:rPr sz="700" b="0" lang="zh-CN" altLang="en-US">
                <a:solidFill>
                  <a:srgbClr val="8FA7A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30186" y="4393671"/>
            <a:ext cx="3795889" cy="711729"/>
          </a:xfrm>
          <a:prstGeom prst="rect">
            <a:avLst/>
          </a:prstGeom>
          <a:solidFill>
            <a:srgbClr val="1E3036"/>
          </a:solidFill>
          <a:ln w="9525">
            <a:solidFill>
              <a:srgbClr val="829297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341915" y="4393671"/>
            <a:ext cx="0" cy="711729"/>
          </a:xfrm>
          <a:prstGeom prst="line">
            <a:avLst/>
          </a:prstGeom>
          <a:ln w="6350">
            <a:solidFill>
              <a:srgbClr val="829297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3053644" y="4393671"/>
            <a:ext cx="0" cy="711729"/>
          </a:xfrm>
          <a:prstGeom prst="line">
            <a:avLst/>
          </a:prstGeom>
          <a:ln w="6350">
            <a:solidFill>
              <a:srgbClr val="829297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002617" y="4393671"/>
            <a:ext cx="0" cy="711729"/>
          </a:xfrm>
          <a:prstGeom prst="line">
            <a:avLst/>
          </a:prstGeom>
          <a:ln w="6350">
            <a:solidFill>
              <a:srgbClr val="829297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4714346" y="4393671"/>
            <a:ext cx="0" cy="711729"/>
          </a:xfrm>
          <a:prstGeom prst="line">
            <a:avLst/>
          </a:prstGeom>
          <a:ln w="6350">
            <a:solidFill>
              <a:srgbClr val="829297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3053644" y="4868157"/>
            <a:ext cx="948972" cy="237243"/>
          </a:xfrm>
          <a:prstGeom prst="rect">
            <a:avLst/>
          </a:prstGeom>
          <a:noFill/>
          <a:ln w="7620">
            <a:solidFill>
              <a:srgbClr val="8292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76875" y="4406371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坝顶</a:t>
            </a:r>
            <a:r>
              <a:rPr sz="700" b="0" lang="zh-CN" altLang="en-US">
                <a:solidFill>
                  <a:srgbClr val="8FA7A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150</a:t>
            </a:r>
            <a:r>
              <a:rPr sz="700" b="0" lang="zh-CN" altLang="en-US">
                <a:solidFill>
                  <a:srgbClr val="8FA7A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40717" y="4715757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前台</a:t>
            </a:r>
            <a:r>
              <a:rPr sz="700" b="0" lang="zh-CN" altLang="en-US">
                <a:solidFill>
                  <a:srgbClr val="8FA7A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50</a:t>
            </a:r>
            <a:r>
              <a:rPr sz="700" b="0" lang="zh-CN" altLang="en-US">
                <a:solidFill>
                  <a:srgbClr val="8FA7A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867429" y="3681942"/>
            <a:ext cx="0" cy="711729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341915" y="3681942"/>
            <a:ext cx="0" cy="711729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816401" y="3681942"/>
            <a:ext cx="0" cy="711729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290888" y="3681942"/>
            <a:ext cx="0" cy="711729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765374" y="3681942"/>
            <a:ext cx="0" cy="711729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4239860" y="3681942"/>
            <a:ext cx="0" cy="711729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4714346" y="3681942"/>
            <a:ext cx="0" cy="711729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5188832" y="3681942"/>
            <a:ext cx="0" cy="711729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34" name="Connector 33"/>
          <p:cNvCxnSpPr/>
          <p:nvPr/>
        </p:nvCxnSpPr>
        <p:spPr>
          <a:xfrm flipV="1">
            <a:off x="2104672" y="3397250"/>
            <a:ext cx="0" cy="996421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3053644" y="3397250"/>
            <a:ext cx="0" cy="996421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36" name="Connector 35"/>
          <p:cNvCxnSpPr/>
          <p:nvPr/>
        </p:nvCxnSpPr>
        <p:spPr>
          <a:xfrm flipV="1">
            <a:off x="4002617" y="3397250"/>
            <a:ext cx="0" cy="996421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37" name="Connector 36"/>
          <p:cNvCxnSpPr/>
          <p:nvPr/>
        </p:nvCxnSpPr>
        <p:spPr>
          <a:xfrm flipV="1">
            <a:off x="4951589" y="3397250"/>
            <a:ext cx="0" cy="996421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38" name="Connector 37"/>
          <p:cNvCxnSpPr/>
          <p:nvPr/>
        </p:nvCxnSpPr>
        <p:spPr>
          <a:xfrm flipV="1">
            <a:off x="1630186" y="2827867"/>
            <a:ext cx="0" cy="1565804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39" name="Connector 38"/>
          <p:cNvCxnSpPr/>
          <p:nvPr/>
        </p:nvCxnSpPr>
        <p:spPr>
          <a:xfrm flipV="1">
            <a:off x="2579158" y="2827867"/>
            <a:ext cx="0" cy="1565804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40" name="Connector 39"/>
          <p:cNvCxnSpPr/>
          <p:nvPr/>
        </p:nvCxnSpPr>
        <p:spPr>
          <a:xfrm flipV="1">
            <a:off x="4477103" y="2827867"/>
            <a:ext cx="0" cy="1565804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41" name="Connector 40"/>
          <p:cNvCxnSpPr/>
          <p:nvPr/>
        </p:nvCxnSpPr>
        <p:spPr>
          <a:xfrm flipV="1">
            <a:off x="5426075" y="2827867"/>
            <a:ext cx="0" cy="1565804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528131" y="2495726"/>
            <a:ext cx="0" cy="1897945"/>
          </a:xfrm>
          <a:prstGeom prst="line">
            <a:avLst/>
          </a:prstGeom>
          <a:ln w="6350">
            <a:solidFill>
              <a:srgbClr val="526367"/>
            </a:solidFill>
          </a:ln>
        </p:spPr>
      </p:cxnSp>
      <p:sp>
        <p:nvSpPr>
          <p:cNvPr id="43" name="Oval 42"/>
          <p:cNvSpPr/>
          <p:nvPr/>
        </p:nvSpPr>
        <p:spPr>
          <a:xfrm>
            <a:off x="1653910" y="3468423"/>
            <a:ext cx="427038" cy="427038"/>
          </a:xfrm>
          <a:prstGeom prst="ellipse">
            <a:avLst/>
          </a:prstGeom>
          <a:solidFill>
            <a:srgbClr val="829297">
              <a:alpha val="5000"/>
            </a:srgbClr>
          </a:solidFill>
          <a:ln w="8890">
            <a:solidFill>
              <a:srgbClr val="8292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128397" y="3468423"/>
            <a:ext cx="427038" cy="427038"/>
          </a:xfrm>
          <a:prstGeom prst="ellipse">
            <a:avLst/>
          </a:prstGeom>
          <a:solidFill>
            <a:srgbClr val="829297">
              <a:alpha val="5000"/>
            </a:srgbClr>
          </a:solidFill>
          <a:ln w="8890">
            <a:solidFill>
              <a:srgbClr val="8292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602883" y="3468423"/>
            <a:ext cx="427038" cy="427038"/>
          </a:xfrm>
          <a:prstGeom prst="ellipse">
            <a:avLst/>
          </a:prstGeom>
          <a:solidFill>
            <a:srgbClr val="829297">
              <a:alpha val="5000"/>
            </a:srgbClr>
          </a:solidFill>
          <a:ln w="8890">
            <a:solidFill>
              <a:srgbClr val="8292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077369" y="3468423"/>
            <a:ext cx="427038" cy="427038"/>
          </a:xfrm>
          <a:prstGeom prst="ellipse">
            <a:avLst/>
          </a:prstGeom>
          <a:solidFill>
            <a:srgbClr val="829297">
              <a:alpha val="5000"/>
            </a:srgbClr>
          </a:solidFill>
          <a:ln w="8890">
            <a:solidFill>
              <a:srgbClr val="8292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551855" y="3468423"/>
            <a:ext cx="427038" cy="427038"/>
          </a:xfrm>
          <a:prstGeom prst="ellipse">
            <a:avLst/>
          </a:prstGeom>
          <a:solidFill>
            <a:srgbClr val="829297">
              <a:alpha val="5000"/>
            </a:srgbClr>
          </a:solidFill>
          <a:ln w="8890">
            <a:solidFill>
              <a:srgbClr val="8292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026341" y="3468423"/>
            <a:ext cx="427038" cy="427038"/>
          </a:xfrm>
          <a:prstGeom prst="ellipse">
            <a:avLst/>
          </a:prstGeom>
          <a:solidFill>
            <a:srgbClr val="829297">
              <a:alpha val="5000"/>
            </a:srgbClr>
          </a:solidFill>
          <a:ln w="8890">
            <a:solidFill>
              <a:srgbClr val="8292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00827" y="3468423"/>
            <a:ext cx="427038" cy="427038"/>
          </a:xfrm>
          <a:prstGeom prst="ellipse">
            <a:avLst/>
          </a:prstGeom>
          <a:solidFill>
            <a:srgbClr val="829297">
              <a:alpha val="5000"/>
            </a:srgbClr>
          </a:solidFill>
          <a:ln w="8890">
            <a:solidFill>
              <a:srgbClr val="8292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975313" y="3468423"/>
            <a:ext cx="427038" cy="427038"/>
          </a:xfrm>
          <a:prstGeom prst="ellipse">
            <a:avLst/>
          </a:prstGeom>
          <a:solidFill>
            <a:srgbClr val="829297">
              <a:alpha val="5000"/>
            </a:srgbClr>
          </a:solidFill>
          <a:ln w="8890">
            <a:solidFill>
              <a:srgbClr val="82929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748808" y="3041385"/>
            <a:ext cx="711729" cy="711729"/>
          </a:xfrm>
          <a:prstGeom prst="ellipse">
            <a:avLst/>
          </a:prstGeom>
          <a:solidFill>
            <a:srgbClr val="9EB6BC">
              <a:alpha val="5000"/>
            </a:srgbClr>
          </a:solidFill>
          <a:ln w="8890">
            <a:solidFill>
              <a:srgbClr val="9EB6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697780" y="3041385"/>
            <a:ext cx="711729" cy="711729"/>
          </a:xfrm>
          <a:prstGeom prst="ellipse">
            <a:avLst/>
          </a:prstGeom>
          <a:solidFill>
            <a:srgbClr val="9EB6BC">
              <a:alpha val="5000"/>
            </a:srgbClr>
          </a:solidFill>
          <a:ln w="8890">
            <a:solidFill>
              <a:srgbClr val="9EB6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646752" y="3041385"/>
            <a:ext cx="711729" cy="711729"/>
          </a:xfrm>
          <a:prstGeom prst="ellipse">
            <a:avLst/>
          </a:prstGeom>
          <a:solidFill>
            <a:srgbClr val="9EB6BC">
              <a:alpha val="5000"/>
            </a:srgbClr>
          </a:solidFill>
          <a:ln w="8890">
            <a:solidFill>
              <a:srgbClr val="9EB6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595724" y="3041385"/>
            <a:ext cx="711729" cy="711729"/>
          </a:xfrm>
          <a:prstGeom prst="ellipse">
            <a:avLst/>
          </a:prstGeom>
          <a:solidFill>
            <a:srgbClr val="9EB6BC">
              <a:alpha val="5000"/>
            </a:srgbClr>
          </a:solidFill>
          <a:ln w="8890">
            <a:solidFill>
              <a:srgbClr val="9EB6B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84527" y="2282208"/>
            <a:ext cx="1091318" cy="1091318"/>
          </a:xfrm>
          <a:prstGeom prst="ellipse">
            <a:avLst/>
          </a:prstGeom>
          <a:solidFill>
            <a:srgbClr val="B6C7CB">
              <a:alpha val="5000"/>
            </a:srgbClr>
          </a:solidFill>
          <a:ln w="8890">
            <a:solidFill>
              <a:srgbClr val="B6C7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033499" y="2282208"/>
            <a:ext cx="1091318" cy="1091318"/>
          </a:xfrm>
          <a:prstGeom prst="ellipse">
            <a:avLst/>
          </a:prstGeom>
          <a:solidFill>
            <a:srgbClr val="B6C7CB">
              <a:alpha val="5000"/>
            </a:srgbClr>
          </a:solidFill>
          <a:ln w="8890">
            <a:solidFill>
              <a:srgbClr val="B6C7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3931444" y="2282208"/>
            <a:ext cx="1091318" cy="1091318"/>
          </a:xfrm>
          <a:prstGeom prst="ellipse">
            <a:avLst/>
          </a:prstGeom>
          <a:solidFill>
            <a:srgbClr val="B6C7CB">
              <a:alpha val="5000"/>
            </a:srgbClr>
          </a:solidFill>
          <a:ln w="8890">
            <a:solidFill>
              <a:srgbClr val="B6C7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880416" y="2282208"/>
            <a:ext cx="1091318" cy="1091318"/>
          </a:xfrm>
          <a:prstGeom prst="ellipse">
            <a:avLst/>
          </a:prstGeom>
          <a:solidFill>
            <a:srgbClr val="B6C7CB">
              <a:alpha val="5000"/>
            </a:srgbClr>
          </a:solidFill>
          <a:ln w="8890">
            <a:solidFill>
              <a:srgbClr val="B6C7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63850" y="1831446"/>
            <a:ext cx="1328561" cy="1328561"/>
          </a:xfrm>
          <a:prstGeom prst="ellipse">
            <a:avLst/>
          </a:prstGeom>
          <a:solidFill>
            <a:srgbClr val="83DFC0">
              <a:alpha val="12000"/>
            </a:srgbClr>
          </a:solidFill>
          <a:ln w="15240">
            <a:solidFill>
              <a:srgbClr val="83DFC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H="1" flipV="1">
            <a:off x="2174716" y="4253374"/>
            <a:ext cx="167199" cy="140297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61" name="Connector 60"/>
          <p:cNvCxnSpPr/>
          <p:nvPr/>
        </p:nvCxnSpPr>
        <p:spPr>
          <a:xfrm flipH="1" flipV="1">
            <a:off x="2249673" y="4195857"/>
            <a:ext cx="92242" cy="197814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62" name="Connector 61"/>
          <p:cNvCxnSpPr/>
          <p:nvPr/>
        </p:nvCxnSpPr>
        <p:spPr>
          <a:xfrm flipV="1">
            <a:off x="2341915" y="4175407"/>
            <a:ext cx="0" cy="218264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63" name="Connector 62"/>
          <p:cNvCxnSpPr/>
          <p:nvPr/>
        </p:nvCxnSpPr>
        <p:spPr>
          <a:xfrm flipV="1">
            <a:off x="2341915" y="4195857"/>
            <a:ext cx="92242" cy="197814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64" name="Connector 63"/>
          <p:cNvCxnSpPr/>
          <p:nvPr/>
        </p:nvCxnSpPr>
        <p:spPr>
          <a:xfrm flipV="1">
            <a:off x="2341915" y="4253374"/>
            <a:ext cx="167200" cy="140297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65" name="Connector 64"/>
          <p:cNvCxnSpPr/>
          <p:nvPr/>
        </p:nvCxnSpPr>
        <p:spPr>
          <a:xfrm flipH="1" flipV="1">
            <a:off x="3123688" y="4253374"/>
            <a:ext cx="167200" cy="140297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66" name="Connector 65"/>
          <p:cNvCxnSpPr/>
          <p:nvPr/>
        </p:nvCxnSpPr>
        <p:spPr>
          <a:xfrm flipH="1" flipV="1">
            <a:off x="3198645" y="4195857"/>
            <a:ext cx="92243" cy="197814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67" name="Connector 66"/>
          <p:cNvCxnSpPr/>
          <p:nvPr/>
        </p:nvCxnSpPr>
        <p:spPr>
          <a:xfrm flipV="1">
            <a:off x="3290888" y="4175407"/>
            <a:ext cx="0" cy="218264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68" name="Connector 67"/>
          <p:cNvCxnSpPr/>
          <p:nvPr/>
        </p:nvCxnSpPr>
        <p:spPr>
          <a:xfrm flipV="1">
            <a:off x="3290888" y="4195857"/>
            <a:ext cx="92242" cy="197814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69" name="Connector 68"/>
          <p:cNvCxnSpPr/>
          <p:nvPr/>
        </p:nvCxnSpPr>
        <p:spPr>
          <a:xfrm flipV="1">
            <a:off x="3290888" y="4253374"/>
            <a:ext cx="167199" cy="140297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70" name="Connector 69"/>
          <p:cNvCxnSpPr/>
          <p:nvPr/>
        </p:nvCxnSpPr>
        <p:spPr>
          <a:xfrm flipH="1" flipV="1">
            <a:off x="3598174" y="4253374"/>
            <a:ext cx="167200" cy="140297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71" name="Connector 70"/>
          <p:cNvCxnSpPr/>
          <p:nvPr/>
        </p:nvCxnSpPr>
        <p:spPr>
          <a:xfrm flipH="1" flipV="1">
            <a:off x="3673131" y="4195857"/>
            <a:ext cx="92243" cy="197814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72" name="Connector 71"/>
          <p:cNvCxnSpPr/>
          <p:nvPr/>
        </p:nvCxnSpPr>
        <p:spPr>
          <a:xfrm flipV="1">
            <a:off x="3765374" y="4175407"/>
            <a:ext cx="0" cy="218264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73" name="Connector 72"/>
          <p:cNvCxnSpPr/>
          <p:nvPr/>
        </p:nvCxnSpPr>
        <p:spPr>
          <a:xfrm flipV="1">
            <a:off x="3765374" y="4195857"/>
            <a:ext cx="92242" cy="197814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74" name="Connector 73"/>
          <p:cNvCxnSpPr/>
          <p:nvPr/>
        </p:nvCxnSpPr>
        <p:spPr>
          <a:xfrm flipV="1">
            <a:off x="3765374" y="4253374"/>
            <a:ext cx="167199" cy="140297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75" name="Connector 74"/>
          <p:cNvCxnSpPr/>
          <p:nvPr/>
        </p:nvCxnSpPr>
        <p:spPr>
          <a:xfrm flipH="1" flipV="1">
            <a:off x="4547146" y="4253374"/>
            <a:ext cx="167200" cy="140297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76" name="Connector 75"/>
          <p:cNvCxnSpPr/>
          <p:nvPr/>
        </p:nvCxnSpPr>
        <p:spPr>
          <a:xfrm flipH="1" flipV="1">
            <a:off x="4622104" y="4195857"/>
            <a:ext cx="92242" cy="197814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77" name="Connector 76"/>
          <p:cNvCxnSpPr/>
          <p:nvPr/>
        </p:nvCxnSpPr>
        <p:spPr>
          <a:xfrm flipV="1">
            <a:off x="4714346" y="4175407"/>
            <a:ext cx="0" cy="218264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78" name="Connector 77"/>
          <p:cNvCxnSpPr/>
          <p:nvPr/>
        </p:nvCxnSpPr>
        <p:spPr>
          <a:xfrm flipV="1">
            <a:off x="4714346" y="4195857"/>
            <a:ext cx="92242" cy="197814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cxnSp>
        <p:nvCxnSpPr>
          <p:cNvPr id="79" name="Connector 78"/>
          <p:cNvCxnSpPr/>
          <p:nvPr/>
        </p:nvCxnSpPr>
        <p:spPr>
          <a:xfrm flipV="1">
            <a:off x="4714346" y="4253374"/>
            <a:ext cx="167199" cy="140297"/>
          </a:xfrm>
          <a:prstGeom prst="line">
            <a:avLst/>
          </a:prstGeom>
          <a:ln w="6350">
            <a:solidFill>
              <a:srgbClr val="A4D2E8"/>
            </a:solidFill>
          </a:ln>
        </p:spPr>
      </p:cxnSp>
      <p:sp>
        <p:nvSpPr>
          <p:cNvPr id="80" name="Isosceles Triangle 79"/>
          <p:cNvSpPr/>
          <p:nvPr/>
        </p:nvSpPr>
        <p:spPr>
          <a:xfrm>
            <a:off x="1598436" y="4330171"/>
            <a:ext cx="63500" cy="63500"/>
          </a:xfrm>
          <a:prstGeom prst="triangle">
            <a:avLst/>
          </a:prstGeom>
          <a:solidFill>
            <a:srgbClr val="B6C7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Isosceles Triangle 80"/>
          <p:cNvSpPr/>
          <p:nvPr/>
        </p:nvSpPr>
        <p:spPr>
          <a:xfrm>
            <a:off x="2072922" y="4330171"/>
            <a:ext cx="63500" cy="63500"/>
          </a:xfrm>
          <a:prstGeom prst="triangle">
            <a:avLst/>
          </a:prstGeom>
          <a:solidFill>
            <a:srgbClr val="B6C7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Isosceles Triangle 81"/>
          <p:cNvSpPr/>
          <p:nvPr/>
        </p:nvSpPr>
        <p:spPr>
          <a:xfrm>
            <a:off x="2547408" y="4330171"/>
            <a:ext cx="63500" cy="63500"/>
          </a:xfrm>
          <a:prstGeom prst="triangle">
            <a:avLst/>
          </a:prstGeom>
          <a:solidFill>
            <a:srgbClr val="B6C7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Isosceles Triangle 82"/>
          <p:cNvSpPr/>
          <p:nvPr/>
        </p:nvSpPr>
        <p:spPr>
          <a:xfrm>
            <a:off x="3021894" y="4330171"/>
            <a:ext cx="63500" cy="63500"/>
          </a:xfrm>
          <a:prstGeom prst="triangle">
            <a:avLst/>
          </a:prstGeom>
          <a:solidFill>
            <a:srgbClr val="B6C7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Isosceles Triangle 83"/>
          <p:cNvSpPr/>
          <p:nvPr/>
        </p:nvSpPr>
        <p:spPr>
          <a:xfrm>
            <a:off x="3496381" y="4330171"/>
            <a:ext cx="63500" cy="63500"/>
          </a:xfrm>
          <a:prstGeom prst="triangle">
            <a:avLst/>
          </a:prstGeom>
          <a:solidFill>
            <a:srgbClr val="B6C7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Isosceles Triangle 84"/>
          <p:cNvSpPr/>
          <p:nvPr/>
        </p:nvSpPr>
        <p:spPr>
          <a:xfrm>
            <a:off x="3970867" y="4330171"/>
            <a:ext cx="63500" cy="63500"/>
          </a:xfrm>
          <a:prstGeom prst="triangle">
            <a:avLst/>
          </a:prstGeom>
          <a:solidFill>
            <a:srgbClr val="B6C7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Isosceles Triangle 85"/>
          <p:cNvSpPr/>
          <p:nvPr/>
        </p:nvSpPr>
        <p:spPr>
          <a:xfrm>
            <a:off x="4445353" y="4330171"/>
            <a:ext cx="63500" cy="63500"/>
          </a:xfrm>
          <a:prstGeom prst="triangle">
            <a:avLst/>
          </a:prstGeom>
          <a:solidFill>
            <a:srgbClr val="B6C7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Isosceles Triangle 86"/>
          <p:cNvSpPr/>
          <p:nvPr/>
        </p:nvSpPr>
        <p:spPr>
          <a:xfrm>
            <a:off x="4919839" y="4330171"/>
            <a:ext cx="63500" cy="63500"/>
          </a:xfrm>
          <a:prstGeom prst="triangle">
            <a:avLst/>
          </a:prstGeom>
          <a:solidFill>
            <a:srgbClr val="B6C7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Isosceles Triangle 87"/>
          <p:cNvSpPr/>
          <p:nvPr/>
        </p:nvSpPr>
        <p:spPr>
          <a:xfrm>
            <a:off x="5394325" y="4330171"/>
            <a:ext cx="63500" cy="63500"/>
          </a:xfrm>
          <a:prstGeom prst="triangle">
            <a:avLst/>
          </a:prstGeom>
          <a:solidFill>
            <a:srgbClr val="B6C7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848379" y="4355571"/>
            <a:ext cx="38100" cy="38100"/>
          </a:xfrm>
          <a:prstGeom prst="ellipse">
            <a:avLst/>
          </a:prstGeom>
          <a:solidFill>
            <a:srgbClr val="B6C7CB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322865" y="4355571"/>
            <a:ext cx="38100" cy="38100"/>
          </a:xfrm>
          <a:prstGeom prst="ellipse">
            <a:avLst/>
          </a:prstGeom>
          <a:solidFill>
            <a:srgbClr val="B6C7CB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797351" y="4355571"/>
            <a:ext cx="38100" cy="38100"/>
          </a:xfrm>
          <a:prstGeom prst="ellipse">
            <a:avLst/>
          </a:prstGeom>
          <a:solidFill>
            <a:srgbClr val="B6C7CB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3271838" y="4355571"/>
            <a:ext cx="38100" cy="38100"/>
          </a:xfrm>
          <a:prstGeom prst="ellipse">
            <a:avLst/>
          </a:prstGeom>
          <a:solidFill>
            <a:srgbClr val="B6C7CB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3746324" y="4355571"/>
            <a:ext cx="38100" cy="38100"/>
          </a:xfrm>
          <a:prstGeom prst="ellipse">
            <a:avLst/>
          </a:prstGeom>
          <a:solidFill>
            <a:srgbClr val="B6C7CB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220810" y="4355571"/>
            <a:ext cx="38100" cy="38100"/>
          </a:xfrm>
          <a:prstGeom prst="ellipse">
            <a:avLst/>
          </a:prstGeom>
          <a:solidFill>
            <a:srgbClr val="B6C7CB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695296" y="4355571"/>
            <a:ext cx="38100" cy="38100"/>
          </a:xfrm>
          <a:prstGeom prst="ellipse">
            <a:avLst/>
          </a:prstGeom>
          <a:solidFill>
            <a:srgbClr val="B6C7CB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169782" y="4355571"/>
            <a:ext cx="38100" cy="38100"/>
          </a:xfrm>
          <a:prstGeom prst="ellipse">
            <a:avLst/>
          </a:prstGeom>
          <a:solidFill>
            <a:srgbClr val="B6C7CB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082043" y="4830057"/>
            <a:ext cx="38100" cy="38100"/>
          </a:xfrm>
          <a:prstGeom prst="ellipse">
            <a:avLst/>
          </a:prstGeom>
          <a:solidFill>
            <a:srgbClr val="A4D2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224389" y="4830057"/>
            <a:ext cx="38100" cy="38100"/>
          </a:xfrm>
          <a:prstGeom prst="ellipse">
            <a:avLst/>
          </a:prstGeom>
          <a:solidFill>
            <a:srgbClr val="A4D2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366735" y="4830057"/>
            <a:ext cx="38100" cy="38100"/>
          </a:xfrm>
          <a:prstGeom prst="ellipse">
            <a:avLst/>
          </a:prstGeom>
          <a:solidFill>
            <a:srgbClr val="A4D2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3509081" y="4830057"/>
            <a:ext cx="38100" cy="38100"/>
          </a:xfrm>
          <a:prstGeom prst="ellipse">
            <a:avLst/>
          </a:prstGeom>
          <a:solidFill>
            <a:srgbClr val="A4D2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651426" y="4830057"/>
            <a:ext cx="38100" cy="38100"/>
          </a:xfrm>
          <a:prstGeom prst="ellipse">
            <a:avLst/>
          </a:prstGeom>
          <a:solidFill>
            <a:srgbClr val="A4D2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793772" y="4830057"/>
            <a:ext cx="38100" cy="38100"/>
          </a:xfrm>
          <a:prstGeom prst="ellipse">
            <a:avLst/>
          </a:prstGeom>
          <a:solidFill>
            <a:srgbClr val="A4D2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936118" y="4830057"/>
            <a:ext cx="38100" cy="38100"/>
          </a:xfrm>
          <a:prstGeom prst="ellipse">
            <a:avLst/>
          </a:prstGeom>
          <a:solidFill>
            <a:srgbClr val="A4D2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299200" y="3605742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700"/>
              </a:lnSpc>
            </a:pPr>
            <a:r>
              <a:rPr sz="700" b="0" lang="zh-CN" altLang="en-US">
                <a:solidFill>
                  <a:srgbClr val="829297"/>
                </a:solidFill>
                <a:latin typeface="Consolas"/>
                <a:ea typeface="微软雅黑"/>
                <a:cs typeface="微软雅黑"/>
              </a:rPr>
              <a:t>S</a:t>
            </a:r>
            <a:r>
              <a:rPr sz="700" b="0" lang="zh-CN" altLang="en-US">
                <a:solidFill>
                  <a:srgbClr val="82929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829297"/>
                </a:solidFill>
                <a:latin typeface="Consolas"/>
                <a:ea typeface="微软雅黑"/>
                <a:cs typeface="微软雅黑"/>
              </a:rPr>
              <a:t>+150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99200" y="3321050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700"/>
              </a:lnSpc>
            </a:pPr>
            <a:r>
              <a:rPr sz="700" b="0" lang="zh-CN" altLang="en-US">
                <a:solidFill>
                  <a:srgbClr val="9EB6BC"/>
                </a:solidFill>
                <a:latin typeface="Consolas"/>
                <a:ea typeface="微软雅黑"/>
                <a:cs typeface="微软雅黑"/>
              </a:rPr>
              <a:t>M</a:t>
            </a:r>
            <a:r>
              <a:rPr sz="700" b="0" lang="zh-CN" altLang="en-US">
                <a:solidFill>
                  <a:srgbClr val="9EB6BC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9EB6BC"/>
                </a:solidFill>
                <a:latin typeface="Consolas"/>
                <a:ea typeface="微软雅黑"/>
                <a:cs typeface="微软雅黑"/>
              </a:rPr>
              <a:t>+210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99200" y="2751667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700"/>
              </a:lnSpc>
            </a:pPr>
            <a:r>
              <a:rPr sz="700" b="0" lang="zh-CN" altLang="en-US">
                <a:solidFill>
                  <a:srgbClr val="B6C7CB"/>
                </a:solidFill>
                <a:latin typeface="Consolas"/>
                <a:ea typeface="微软雅黑"/>
                <a:cs typeface="微软雅黑"/>
              </a:rPr>
              <a:t>L</a:t>
            </a:r>
            <a:r>
              <a:rPr sz="700" b="0" lang="zh-CN" altLang="en-US">
                <a:solidFill>
                  <a:srgbClr val="B6C7CB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B6C7CB"/>
                </a:solidFill>
                <a:latin typeface="Consolas"/>
                <a:ea typeface="微软雅黑"/>
                <a:cs typeface="微软雅黑"/>
              </a:rPr>
              <a:t>+330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299200" y="2419526"/>
            <a:ext cx="762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700"/>
              </a:lnSpc>
            </a:pPr>
            <a:r>
              <a:rPr sz="700" b="0" lang="zh-CN" altLang="en-US">
                <a:solidFill>
                  <a:srgbClr val="83DFC0"/>
                </a:solidFill>
                <a:latin typeface="Consolas"/>
                <a:ea typeface="微软雅黑"/>
                <a:cs typeface="微软雅黑"/>
              </a:rPr>
              <a:t>主角</a:t>
            </a:r>
            <a:r>
              <a:rPr sz="700" b="0" lang="zh-CN" altLang="en-US">
                <a:solidFill>
                  <a:srgbClr val="83DFC0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83DFC0"/>
                </a:solidFill>
                <a:latin typeface="Consolas"/>
                <a:ea typeface="微软雅黑"/>
                <a:cs typeface="微软雅黑"/>
              </a:rPr>
              <a:t>+400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838200" y="5232400"/>
            <a:ext cx="474486" cy="0"/>
          </a:xfrm>
          <a:prstGeom prst="line">
            <a:avLst/>
          </a:prstGeom>
          <a:ln w="9525">
            <a:solidFill>
              <a:srgbClr val="8FA7AA"/>
            </a:solidFill>
          </a:ln>
        </p:spPr>
      </p:cxnSp>
      <p:sp>
        <p:nvSpPr>
          <p:cNvPr id="109" name="TextBox 108"/>
          <p:cNvSpPr txBox="1"/>
          <p:nvPr/>
        </p:nvSpPr>
        <p:spPr>
          <a:xfrm>
            <a:off x="1350786" y="5156200"/>
            <a:ext cx="508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100</a:t>
            </a:r>
            <a:r>
              <a:rPr sz="700" b="0" lang="zh-CN" altLang="en-US">
                <a:solidFill>
                  <a:srgbClr val="8FA7A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11700" y="1524000"/>
            <a:ext cx="23495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700"/>
              </a:lnSpc>
            </a:pP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大坝宽</a:t>
            </a:r>
            <a:r>
              <a:rPr sz="700" b="0" lang="zh-CN" altLang="en-US">
                <a:solidFill>
                  <a:srgbClr val="8FA7A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800</a:t>
            </a:r>
            <a:r>
              <a:rPr sz="700" b="0" lang="zh-CN" altLang="en-US">
                <a:solidFill>
                  <a:srgbClr val="8FA7A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8FA7AA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40600" y="1498600"/>
            <a:ext cx="4089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83DFC0"/>
                </a:solidFill>
                <a:latin typeface="Consolas"/>
                <a:ea typeface="微软雅黑"/>
                <a:cs typeface="微软雅黑"/>
              </a:rPr>
              <a:t>分档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340600" y="17526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1000" b="1" lang="zh-CN" altLang="en-US">
                <a:solidFill>
                  <a:srgbClr val="B4C5CB"/>
                </a:solidFill>
                <a:latin typeface="Consolas"/>
                <a:ea typeface="微软雅黑"/>
                <a:cs typeface="微软雅黑"/>
              </a:rPr>
              <a:t>档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039100" y="17526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1000" b="1" lang="zh-CN" altLang="en-US">
                <a:solidFill>
                  <a:srgbClr val="B4C5CB"/>
                </a:solidFill>
                <a:latin typeface="Consolas"/>
                <a:ea typeface="微软雅黑"/>
                <a:cs typeface="微软雅黑"/>
              </a:rPr>
              <a:t>花径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991600" y="17526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1000" b="1" lang="zh-CN" altLang="en-US">
                <a:solidFill>
                  <a:srgbClr val="B4C5CB"/>
                </a:solidFill>
                <a:latin typeface="Consolas"/>
                <a:ea typeface="微软雅黑"/>
                <a:cs typeface="微软雅黑"/>
              </a:rPr>
              <a:t>开花高度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198100" y="17526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00"/>
              </a:lnSpc>
            </a:pPr>
            <a:r>
              <a:rPr sz="1000" b="1" lang="zh-CN" altLang="en-US">
                <a:solidFill>
                  <a:srgbClr val="B4C5CB"/>
                </a:solidFill>
                <a:latin typeface="Consolas"/>
                <a:ea typeface="微软雅黑"/>
                <a:cs typeface="微软雅黑"/>
              </a:rPr>
              <a:t>尾缀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340600" y="1955800"/>
            <a:ext cx="4089400" cy="6350"/>
          </a:xfrm>
          <a:prstGeom prst="rect">
            <a:avLst/>
          </a:prstGeom>
          <a:solidFill>
            <a:srgbClr val="2B4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340600" y="20129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83DFC0"/>
                </a:solidFill>
                <a:latin typeface="Consolas"/>
                <a:ea typeface="微软雅黑"/>
                <a:cs typeface="微软雅黑"/>
              </a:rPr>
              <a:t>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039100" y="20129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90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91600" y="20129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+150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198100" y="20129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340600" y="2286000"/>
            <a:ext cx="4089400" cy="6350"/>
          </a:xfrm>
          <a:prstGeom prst="rect">
            <a:avLst/>
          </a:prstGeom>
          <a:solidFill>
            <a:srgbClr val="2B4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340600" y="23431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83DFC0"/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039100" y="23431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150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991600" y="23431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+210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198100" y="23431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340600" y="2616200"/>
            <a:ext cx="4089400" cy="6350"/>
          </a:xfrm>
          <a:prstGeom prst="rect">
            <a:avLst/>
          </a:prstGeom>
          <a:solidFill>
            <a:srgbClr val="2B4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340600" y="26733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83DFC0"/>
                </a:solidFill>
                <a:latin typeface="Consolas"/>
                <a:ea typeface="微软雅黑"/>
                <a:cs typeface="微软雅黑"/>
              </a:rPr>
              <a:t>L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039100" y="26733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230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991600" y="26733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+330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198100" y="26733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340600" y="2946400"/>
            <a:ext cx="4089400" cy="6350"/>
          </a:xfrm>
          <a:prstGeom prst="rect">
            <a:avLst/>
          </a:prstGeom>
          <a:solidFill>
            <a:srgbClr val="2B4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7340600" y="30035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83DFC0"/>
                </a:solidFill>
                <a:latin typeface="Consolas"/>
                <a:ea typeface="微软雅黑"/>
                <a:cs typeface="微软雅黑"/>
              </a:rPr>
              <a:t>主角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039100" y="30035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280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991600" y="30035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+400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198100" y="3003550"/>
            <a:ext cx="127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0" lang="zh-CN" altLang="en-US">
                <a:solidFill>
                  <a:srgbClr val="E4EDEF">
                    <a:alpha val="85000"/>
                  </a:srgbClr>
                </a:solidFill>
                <a:latin typeface="Consolas"/>
                <a:ea typeface="微软雅黑"/>
                <a:cs typeface="微软雅黑"/>
              </a:rPr>
              <a:t>Hero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340600" y="3276600"/>
            <a:ext cx="4089400" cy="6350"/>
          </a:xfrm>
          <a:prstGeom prst="rect">
            <a:avLst/>
          </a:prstGeom>
          <a:solidFill>
            <a:srgbClr val="2B4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340600" y="3479800"/>
            <a:ext cx="4089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83DFC0"/>
                </a:solidFill>
                <a:latin typeface="Consolas"/>
                <a:ea typeface="微软雅黑"/>
                <a:cs typeface="微软雅黑"/>
              </a:rPr>
              <a:t>花径与点距之比</a:t>
            </a:r>
          </a:p>
        </p:txBody>
      </p:sp>
      <p:sp>
        <p:nvSpPr>
          <p:cNvPr id="138" name="Oval 137"/>
          <p:cNvSpPr/>
          <p:nvPr/>
        </p:nvSpPr>
        <p:spPr>
          <a:xfrm>
            <a:off x="7704667" y="3873500"/>
            <a:ext cx="381000" cy="381000"/>
          </a:xfrm>
          <a:prstGeom prst="ellipse">
            <a:avLst/>
          </a:prstGeom>
          <a:noFill/>
          <a:ln w="10160">
            <a:solidFill>
              <a:srgbClr val="B6C7C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7958667" y="3873500"/>
            <a:ext cx="381000" cy="381000"/>
          </a:xfrm>
          <a:prstGeom prst="ellipse">
            <a:avLst/>
          </a:prstGeom>
          <a:noFill/>
          <a:ln w="10160">
            <a:solidFill>
              <a:srgbClr val="B6C7C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340600" y="4445000"/>
            <a:ext cx="136313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80"/>
              </a:lnSpc>
            </a:pPr>
            <a:r>
              <a:rPr sz="1400" b="1" lang="zh-CN" altLang="en-US">
                <a:solidFill>
                  <a:srgbClr val="83DFC0"/>
                </a:solidFill>
                <a:latin typeface="Consolas"/>
                <a:ea typeface="微软雅黑"/>
                <a:cs typeface="微软雅黑"/>
              </a:rPr>
              <a:t>1.5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340600" y="4699000"/>
            <a:ext cx="1363133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00"/>
              </a:lnSpc>
            </a:pPr>
            <a:r>
              <a:rPr sz="1000" b="0" lang="zh-CN" altLang="en-US">
                <a:solidFill>
                  <a:srgbClr val="B4C5CB"/>
                </a:solidFill>
                <a:latin typeface="Consolas"/>
                <a:ea typeface="微软雅黑"/>
                <a:cs typeface="微软雅黑"/>
              </a:rPr>
              <a:t>可分辨单花</a:t>
            </a:r>
          </a:p>
        </p:txBody>
      </p:sp>
      <p:sp>
        <p:nvSpPr>
          <p:cNvPr id="142" name="Oval 141"/>
          <p:cNvSpPr/>
          <p:nvPr/>
        </p:nvSpPr>
        <p:spPr>
          <a:xfrm>
            <a:off x="9032066" y="3817806"/>
            <a:ext cx="492387" cy="492387"/>
          </a:xfrm>
          <a:prstGeom prst="ellipse">
            <a:avLst/>
          </a:prstGeom>
          <a:noFill/>
          <a:ln w="10160">
            <a:solidFill>
              <a:srgbClr val="B6C7C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246147" y="3817806"/>
            <a:ext cx="492387" cy="492387"/>
          </a:xfrm>
          <a:prstGeom prst="ellipse">
            <a:avLst/>
          </a:prstGeom>
          <a:noFill/>
          <a:ln w="10160">
            <a:solidFill>
              <a:srgbClr val="B6C7C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703733" y="4445000"/>
            <a:ext cx="136313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80"/>
              </a:lnSpc>
            </a:pPr>
            <a:r>
              <a:rPr sz="1400" b="1" lang="zh-CN" altLang="en-US">
                <a:solidFill>
                  <a:srgbClr val="E4EDEF"/>
                </a:solidFill>
                <a:latin typeface="Consolas"/>
                <a:ea typeface="微软雅黑"/>
                <a:cs typeface="微软雅黑"/>
              </a:rPr>
              <a:t>2.3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703733" y="4699000"/>
            <a:ext cx="1363133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00"/>
              </a:lnSpc>
            </a:pPr>
            <a:r>
              <a:rPr sz="1000" b="0" lang="zh-CN" altLang="en-US">
                <a:solidFill>
                  <a:srgbClr val="B4C5CB"/>
                </a:solidFill>
                <a:latin typeface="Consolas"/>
                <a:ea typeface="微软雅黑"/>
                <a:cs typeface="微软雅黑"/>
              </a:rPr>
              <a:t>形成花墙</a:t>
            </a:r>
          </a:p>
        </p:txBody>
      </p:sp>
      <p:sp>
        <p:nvSpPr>
          <p:cNvPr id="146" name="Oval 145"/>
          <p:cNvSpPr/>
          <p:nvPr/>
        </p:nvSpPr>
        <p:spPr>
          <a:xfrm>
            <a:off x="10363441" y="3775256"/>
            <a:ext cx="577488" cy="577488"/>
          </a:xfrm>
          <a:prstGeom prst="ellipse">
            <a:avLst/>
          </a:prstGeom>
          <a:noFill/>
          <a:ln w="10160">
            <a:solidFill>
              <a:srgbClr val="B6C7C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555937" y="3775256"/>
            <a:ext cx="577488" cy="577488"/>
          </a:xfrm>
          <a:prstGeom prst="ellipse">
            <a:avLst/>
          </a:prstGeom>
          <a:noFill/>
          <a:ln w="10160">
            <a:solidFill>
              <a:srgbClr val="B6C7CB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066867" y="4445000"/>
            <a:ext cx="1363133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680"/>
              </a:lnSpc>
            </a:pPr>
            <a:r>
              <a:rPr sz="1400" b="1" lang="zh-CN" altLang="en-US">
                <a:solidFill>
                  <a:srgbClr val="E4EDEF"/>
                </a:solidFill>
                <a:latin typeface="Consolas"/>
                <a:ea typeface="微软雅黑"/>
                <a:cs typeface="微软雅黑"/>
              </a:rPr>
              <a:t>3.0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066867" y="4699000"/>
            <a:ext cx="1363133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00"/>
              </a:lnSpc>
            </a:pPr>
            <a:r>
              <a:rPr sz="1000" b="0" lang="zh-CN" altLang="en-US">
                <a:solidFill>
                  <a:srgbClr val="B4C5CB"/>
                </a:solidFill>
                <a:latin typeface="Consolas"/>
                <a:ea typeface="微软雅黑"/>
                <a:cs typeface="微软雅黑"/>
              </a:rPr>
              <a:t>容易糊成一片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09600" y="5613400"/>
            <a:ext cx="1991360" cy="381000"/>
          </a:xfrm>
          <a:prstGeom prst="rect">
            <a:avLst/>
          </a:prstGeom>
          <a:solidFill>
            <a:srgbClr val="1B2A2F"/>
          </a:solidFill>
          <a:ln w="6350">
            <a:solidFill>
              <a:srgbClr val="2B41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09600" y="56134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0" lang="zh-CN" altLang="en-US">
                <a:solidFill>
                  <a:srgbClr val="E4EDEF"/>
                </a:solidFill>
                <a:latin typeface="Consolas"/>
                <a:ea typeface="微软雅黑"/>
                <a:cs typeface="微软雅黑"/>
              </a:rPr>
              <a:t>舞台与点位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2639060" y="5803900"/>
            <a:ext cx="177800" cy="0"/>
          </a:xfrm>
          <a:prstGeom prst="line">
            <a:avLst/>
          </a:prstGeom>
          <a:ln w="12700">
            <a:solidFill>
              <a:srgbClr val="829297"/>
            </a:solidFill>
            <a:tailEnd type="triangle" w="med" len="med"/>
          </a:ln>
        </p:spPr>
      </p:cxnSp>
      <p:sp>
        <p:nvSpPr>
          <p:cNvPr id="153" name="Rectangle 152"/>
          <p:cNvSpPr/>
          <p:nvPr/>
        </p:nvSpPr>
        <p:spPr>
          <a:xfrm>
            <a:off x="2854960" y="5613400"/>
            <a:ext cx="1991360" cy="381000"/>
          </a:xfrm>
          <a:prstGeom prst="rect">
            <a:avLst/>
          </a:prstGeom>
          <a:solidFill>
            <a:srgbClr val="1B2A2F"/>
          </a:solidFill>
          <a:ln w="6350">
            <a:solidFill>
              <a:srgbClr val="2B41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854960" y="56134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0" lang="zh-CN" altLang="en-US">
                <a:solidFill>
                  <a:srgbClr val="E4EDEF"/>
                </a:solidFill>
                <a:latin typeface="Consolas"/>
                <a:ea typeface="微软雅黑"/>
                <a:cs typeface="微软雅黑"/>
              </a:rPr>
              <a:t>分档与高度</a:t>
            </a:r>
          </a:p>
        </p:txBody>
      </p:sp>
      <p:cxnSp>
        <p:nvCxnSpPr>
          <p:cNvPr id="155" name="Connector 154"/>
          <p:cNvCxnSpPr/>
          <p:nvPr/>
        </p:nvCxnSpPr>
        <p:spPr>
          <a:xfrm>
            <a:off x="4884420" y="5803900"/>
            <a:ext cx="177800" cy="0"/>
          </a:xfrm>
          <a:prstGeom prst="line">
            <a:avLst/>
          </a:prstGeom>
          <a:ln w="12700">
            <a:solidFill>
              <a:srgbClr val="829297"/>
            </a:solidFill>
            <a:tailEnd type="triangle" w="med" len="med"/>
          </a:ln>
        </p:spPr>
      </p:cxnSp>
      <p:sp>
        <p:nvSpPr>
          <p:cNvPr id="156" name="Rectangle 155"/>
          <p:cNvSpPr/>
          <p:nvPr/>
        </p:nvSpPr>
        <p:spPr>
          <a:xfrm>
            <a:off x="5100320" y="5613400"/>
            <a:ext cx="1991360" cy="381000"/>
          </a:xfrm>
          <a:prstGeom prst="rect">
            <a:avLst/>
          </a:prstGeom>
          <a:solidFill>
            <a:srgbClr val="1B2A2F"/>
          </a:solidFill>
          <a:ln w="6350">
            <a:solidFill>
              <a:srgbClr val="2B41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100320" y="56134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0" lang="zh-CN" altLang="en-US">
                <a:solidFill>
                  <a:srgbClr val="E4EDEF"/>
                </a:solidFill>
                <a:latin typeface="Consolas"/>
                <a:ea typeface="微软雅黑"/>
                <a:cs typeface="微软雅黑"/>
              </a:rPr>
              <a:t>极限帧检查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7129780" y="5803900"/>
            <a:ext cx="177800" cy="0"/>
          </a:xfrm>
          <a:prstGeom prst="line">
            <a:avLst/>
          </a:prstGeom>
          <a:ln w="12700">
            <a:solidFill>
              <a:srgbClr val="829297"/>
            </a:solidFill>
            <a:tailEnd type="triangle" w="med" len="med"/>
          </a:ln>
        </p:spPr>
      </p:cxnSp>
      <p:sp>
        <p:nvSpPr>
          <p:cNvPr id="159" name="Rectangle 158"/>
          <p:cNvSpPr/>
          <p:nvPr/>
        </p:nvSpPr>
        <p:spPr>
          <a:xfrm>
            <a:off x="7345680" y="5613400"/>
            <a:ext cx="1991360" cy="381000"/>
          </a:xfrm>
          <a:prstGeom prst="rect">
            <a:avLst/>
          </a:prstGeom>
          <a:solidFill>
            <a:srgbClr val="1B2A2F"/>
          </a:solidFill>
          <a:ln w="12700">
            <a:solidFill>
              <a:srgbClr val="00D4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345680" y="56134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1" lang="zh-CN" altLang="en-US">
                <a:solidFill>
                  <a:srgbClr val="83DFC0"/>
                </a:solidFill>
                <a:latin typeface="Consolas"/>
                <a:ea typeface="微软雅黑"/>
                <a:cs typeface="微软雅黑"/>
              </a:rPr>
              <a:t>编排宪章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9375140" y="5803900"/>
            <a:ext cx="177800" cy="0"/>
          </a:xfrm>
          <a:prstGeom prst="line">
            <a:avLst/>
          </a:prstGeom>
          <a:ln w="12700">
            <a:solidFill>
              <a:srgbClr val="829297"/>
            </a:solidFill>
            <a:tailEnd type="triangle" w="med" len="med"/>
          </a:ln>
        </p:spPr>
      </p:cxnSp>
      <p:sp>
        <p:nvSpPr>
          <p:cNvPr id="162" name="Rectangle 161"/>
          <p:cNvSpPr/>
          <p:nvPr/>
        </p:nvSpPr>
        <p:spPr>
          <a:xfrm>
            <a:off x="9591040" y="5613400"/>
            <a:ext cx="1991360" cy="381000"/>
          </a:xfrm>
          <a:prstGeom prst="rect">
            <a:avLst/>
          </a:prstGeom>
          <a:solidFill>
            <a:srgbClr val="1B2A2F"/>
          </a:solidFill>
          <a:ln w="6350">
            <a:solidFill>
              <a:srgbClr val="2B414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591040" y="5613400"/>
            <a:ext cx="199136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500"/>
              </a:lnSpc>
            </a:pPr>
            <a:r>
              <a:rPr sz="1250" b="0" lang="zh-CN" altLang="en-US">
                <a:solidFill>
                  <a:srgbClr val="E4EDEF"/>
                </a:solidFill>
                <a:latin typeface="Consolas"/>
                <a:ea typeface="微软雅黑"/>
                <a:cs typeface="微软雅黑"/>
              </a:rPr>
              <a:t>每版自动检查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编排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烟花编排工作台：模板、片段到导演表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335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358900"/>
            <a:ext cx="27686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基础模板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663700"/>
            <a:ext cx="27686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资源表中的效果，统一比例参照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23900" y="1765300"/>
            <a:ext cx="0" cy="546100"/>
          </a:xfrm>
          <a:prstGeom prst="line">
            <a:avLst/>
          </a:prstGeom>
          <a:ln w="12700">
            <a:solidFill>
              <a:srgbClr val="F5F5F5">
                <a:alpha val="30000"/>
              </a:srgbClr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609600" y="24003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25700"/>
            <a:ext cx="27686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花型模板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30500"/>
            <a:ext cx="27686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组合尺寸、高度与尾缀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3900" y="2832100"/>
            <a:ext cx="0" cy="546100"/>
          </a:xfrm>
          <a:prstGeom prst="line">
            <a:avLst/>
          </a:prstGeom>
          <a:ln w="12700">
            <a:solidFill>
              <a:srgbClr val="F5F5F5">
                <a:alpha val="30000"/>
              </a:srgbClr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09600" y="34671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92500"/>
            <a:ext cx="27686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编排片段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97300"/>
            <a:ext cx="27686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模板放上时间轴，按音乐分段调整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3900" y="3898900"/>
            <a:ext cx="0" cy="546100"/>
          </a:xfrm>
          <a:prstGeom prst="line">
            <a:avLst/>
          </a:prstGeom>
          <a:ln w="12700">
            <a:solidFill>
              <a:srgbClr val="F5F5F5">
                <a:alpha val="30000"/>
              </a:srgbClr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09600" y="45339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8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559300"/>
            <a:ext cx="27686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导演表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64100"/>
            <a:ext cx="27686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75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一键生成三张表，导入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689600"/>
            <a:ext cx="3302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可视化编排，程序化检查与输出</a:t>
            </a:r>
          </a:p>
        </p:txBody>
      </p:sp>
      <p:pic>
        <p:nvPicPr>
          <p:cNvPr id="22" name="Picture 21" descr="p09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700" y="1358900"/>
            <a:ext cx="7378700" cy="415290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203700" y="1812383"/>
            <a:ext cx="1047237" cy="1823538"/>
          </a:xfrm>
          <a:prstGeom prst="rect">
            <a:avLst/>
          </a:prstGeom>
          <a:noFill/>
          <a:ln w="9525">
            <a:solidFill>
              <a:srgbClr val="0FF796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4500" y="1863183"/>
            <a:ext cx="1101725" cy="228600"/>
          </a:xfrm>
          <a:prstGeom prst="rect">
            <a:avLst/>
          </a:prstGeom>
          <a:solidFill>
            <a:srgbClr val="0A0A0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4500" y="1863183"/>
            <a:ext cx="1101725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  <a:r>
              <a:rPr sz="10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0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000" b="0" lang="zh-CN" altLang="en-US">
                <a:solidFill>
                  <a:srgbClr val="F5F5F5">
                    <a:alpha val="9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000" b="0" lang="zh-CN" altLang="en-US">
                <a:solidFill>
                  <a:srgbClr val="F5F5F5">
                    <a:alpha val="90000"/>
                  </a:srgbClr>
                </a:solidFill>
                <a:latin typeface="Consolas"/>
                <a:ea typeface="微软雅黑"/>
                <a:cs typeface="微软雅黑"/>
              </a:rPr>
              <a:t>模板库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57022" y="4452574"/>
            <a:ext cx="6725378" cy="759007"/>
          </a:xfrm>
          <a:prstGeom prst="rect">
            <a:avLst/>
          </a:prstGeom>
          <a:noFill/>
          <a:ln w="9525">
            <a:solidFill>
              <a:srgbClr val="0FF796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7822" y="4503374"/>
            <a:ext cx="933450" cy="228600"/>
          </a:xfrm>
          <a:prstGeom prst="rect">
            <a:avLst/>
          </a:prstGeom>
          <a:solidFill>
            <a:srgbClr val="0A0A0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07822" y="4503374"/>
            <a:ext cx="9334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000" b="0" lang="zh-CN" altLang="en-US">
                <a:solidFill>
                  <a:srgbClr val="F5F5F5">
                    <a:alpha val="9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000" b="0" lang="zh-CN" altLang="en-US">
                <a:solidFill>
                  <a:srgbClr val="F5F5F5">
                    <a:alpha val="90000"/>
                  </a:srgbClr>
                </a:solidFill>
                <a:latin typeface="Consolas"/>
                <a:ea typeface="微软雅黑"/>
                <a:cs typeface="微软雅黑"/>
              </a:rPr>
              <a:t>编排片段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121231" y="1401174"/>
            <a:ext cx="461169" cy="153723"/>
          </a:xfrm>
          <a:prstGeom prst="rect">
            <a:avLst/>
          </a:prstGeom>
          <a:noFill/>
          <a:ln w="9525">
            <a:solidFill>
              <a:srgbClr val="0FF796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775950" y="1605697"/>
            <a:ext cx="806450" cy="228600"/>
          </a:xfrm>
          <a:prstGeom prst="rect">
            <a:avLst/>
          </a:prstGeom>
          <a:solidFill>
            <a:srgbClr val="0A0A0A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75950" y="1605697"/>
            <a:ext cx="80645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100"/>
              </a:lnSpc>
            </a:pPr>
            <a:r>
              <a:rPr sz="1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000" b="0" lang="zh-CN" altLang="en-US">
                <a:solidFill>
                  <a:srgbClr val="F5F5F5">
                    <a:alpha val="9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000" b="0" lang="zh-CN" altLang="en-US">
                <a:solidFill>
                  <a:srgbClr val="F5F5F5">
                    <a:alpha val="90000"/>
                  </a:srgbClr>
                </a:solidFill>
                <a:latin typeface="Consolas"/>
                <a:ea typeface="微软雅黑"/>
                <a:cs typeface="微软雅黑"/>
              </a:rPr>
              <a:t>导演表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解决思路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汇总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解决思路：三个问题，三个工具，一条交付链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p06_bak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1365250"/>
            <a:ext cx="2273300" cy="12827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921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urce_tag"/>
          <p:cNvSpPr txBox="1"/>
          <p:nvPr/>
        </p:nvSpPr>
        <p:spPr>
          <a:xfrm>
            <a:off x="6921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问题一</a:t>
            </a:r>
            <a:r>
              <a:rPr sz="11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制作规模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烟花烘焙器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模板生成效果，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按规范导出两套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9591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15" name="TextBox 14"/>
          <p:cNvSpPr txBox="1"/>
          <p:nvPr/>
        </p:nvSpPr>
        <p:spPr>
          <a:xfrm>
            <a:off x="28956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素材包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052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052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p06_import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550" y="1365250"/>
            <a:ext cx="2273300" cy="12827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5877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ource_tag"/>
          <p:cNvSpPr txBox="1"/>
          <p:nvPr/>
        </p:nvSpPr>
        <p:spPr>
          <a:xfrm>
            <a:off x="35877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84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问题二</a:t>
            </a:r>
            <a:r>
              <a:rPr sz="11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资源交付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84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导入器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84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检查、创建、设置，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读回核对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8547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25" name="TextBox 24"/>
          <p:cNvSpPr txBox="1"/>
          <p:nvPr/>
        </p:nvSpPr>
        <p:spPr>
          <a:xfrm>
            <a:off x="57912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资源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358900"/>
            <a:ext cx="38100" cy="30226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8" name="Picture 27" descr="p06_workbenc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7150" y="1365250"/>
            <a:ext cx="2273300" cy="128270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6483350" y="2317750"/>
            <a:ext cx="8128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ource_tag"/>
          <p:cNvSpPr txBox="1"/>
          <p:nvPr/>
        </p:nvSpPr>
        <p:spPr>
          <a:xfrm>
            <a:off x="6483350" y="2317750"/>
            <a:ext cx="8128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工具界面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40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问题三</a:t>
            </a:r>
            <a:r>
              <a:rPr sz="11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100" b="1" lang="zh-CN" altLang="en-US" spc="1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编排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40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烟花编排工作台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40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推演规则，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生成导演表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750300" y="2006600"/>
            <a:ext cx="482600" cy="0"/>
          </a:xfrm>
          <a:prstGeom prst="line">
            <a:avLst/>
          </a:prstGeom>
          <a:ln w="12700">
            <a:solidFill>
              <a:srgbClr val="0FF796">
                <a:alpha val="80000"/>
              </a:srgbClr>
            </a:solidFill>
            <a:prstDash val="dash"/>
            <a:tailEnd type="triangle" w="med" len="med"/>
          </a:ln>
        </p:spPr>
      </p:cxnSp>
      <p:sp>
        <p:nvSpPr>
          <p:cNvPr id="35" name="TextBox 34"/>
          <p:cNvSpPr txBox="1"/>
          <p:nvPr/>
        </p:nvSpPr>
        <p:spPr>
          <a:xfrm>
            <a:off x="8686800" y="20828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导演表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96400" y="1358900"/>
            <a:ext cx="2286000" cy="3022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7" name="Picture 36" descr="p06_u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2750" y="1365250"/>
            <a:ext cx="2273300" cy="1282700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9378950" y="231775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source_tag"/>
          <p:cNvSpPr txBox="1"/>
          <p:nvPr/>
        </p:nvSpPr>
        <p:spPr>
          <a:xfrm>
            <a:off x="9378950" y="231775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99600" y="2819400"/>
            <a:ext cx="1968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播放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99600" y="3086100"/>
            <a:ext cx="2032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导演蓝图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99600" y="3479800"/>
            <a:ext cx="20066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按三张表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播放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" y="4635500"/>
            <a:ext cx="6400800" cy="1435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600" y="4635500"/>
            <a:ext cx="38100" cy="1435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3600" y="48006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3600" y="5080000"/>
            <a:ext cx="5842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目标、审美与引擎约束由我确定；工具由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开发，关键结果在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验收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一人对接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AI；仓库约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2200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次提交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0" y="4635500"/>
            <a:ext cx="4267200" cy="14351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69200" y="48006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跨组协作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9200" y="5080000"/>
            <a:ext cx="38100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导演蓝图：与程序共同设计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贴图规范：与性能组共同确定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制作规模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资源成果：球花、扇形、尾缀与窜天猴全部入表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p11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2032000" cy="203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3429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金蕊柠</a:t>
            </a:r>
          </a:p>
        </p:txBody>
      </p:sp>
      <p:pic>
        <p:nvPicPr>
          <p:cNvPr id="8" name="Picture 7" descr="p11_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1358900"/>
            <a:ext cx="2032000" cy="203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94000" y="3429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金锦菊</a:t>
            </a:r>
          </a:p>
        </p:txBody>
      </p:sp>
      <p:pic>
        <p:nvPicPr>
          <p:cNvPr id="10" name="Picture 9" descr="p11_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8400" y="1358900"/>
            <a:ext cx="2032000" cy="203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78400" y="34290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小青柠</a:t>
            </a:r>
          </a:p>
        </p:txBody>
      </p:sp>
      <p:pic>
        <p:nvPicPr>
          <p:cNvPr id="12" name="Picture 11" descr="p11_1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721100"/>
            <a:ext cx="2032000" cy="203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7912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小金花</a:t>
            </a:r>
          </a:p>
        </p:txBody>
      </p:sp>
      <p:pic>
        <p:nvPicPr>
          <p:cNvPr id="14" name="Picture 13" descr="p11_fa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4000" y="3721100"/>
            <a:ext cx="2032000" cy="2032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94000" y="57912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扇形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78400" y="3721100"/>
            <a:ext cx="2032000" cy="2032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gif_rise_ue1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8400" y="3721100"/>
            <a:ext cx="2032000" cy="20320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54600" y="542290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ource_tag"/>
          <p:cNvSpPr txBox="1"/>
          <p:nvPr/>
        </p:nvSpPr>
        <p:spPr>
          <a:xfrm>
            <a:off x="5054600" y="542290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8400" y="57912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升空尾缀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3589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PC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1651000"/>
            <a:ext cx="4267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9"/>
              </a:lnSpc>
            </a:pPr>
            <a:r>
              <a:rPr sz="2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26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种开花（球花与扇形）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019300"/>
            <a:ext cx="4267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9"/>
              </a:lnSpc>
            </a:pPr>
            <a:r>
              <a:rPr sz="2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6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档升空尾缀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2387600"/>
            <a:ext cx="4267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9"/>
              </a:lnSpc>
            </a:pPr>
            <a:r>
              <a:rPr sz="2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套窜天猴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29210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手游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213100"/>
            <a:ext cx="4267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9"/>
              </a:lnSpc>
            </a:pPr>
            <a:r>
              <a:rPr sz="2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12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种开花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581400"/>
            <a:ext cx="4267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9"/>
              </a:lnSpc>
            </a:pPr>
            <a:r>
              <a:rPr sz="2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6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档升空尾缀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949700"/>
            <a:ext cx="4267200" cy="355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29"/>
              </a:lnSpc>
            </a:pPr>
            <a:r>
              <a:rPr sz="2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套窜天猴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4483100"/>
            <a:ext cx="42672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4635500"/>
            <a:ext cx="4267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引用贴图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914900"/>
            <a:ext cx="42672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专用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133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手游专用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33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共用</a:t>
            </a:r>
            <a:r>
              <a:rPr sz="14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219700"/>
            <a:ext cx="42672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去重共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212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张；19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种开花保留配方，</a:t>
            </a:r>
          </a:p>
          <a:p>
            <a:pPr algn="l">
              <a:lnSpc>
                <a:spcPts val="1650"/>
              </a:lnSpc>
            </a:pPr>
            <a:r>
              <a:rPr sz="11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调参后可重新导出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编排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编排成果：同一编排分档输出，最满时刻重叠可查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同一时刻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3:05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各档开到最大</a:t>
            </a:r>
          </a:p>
        </p:txBody>
      </p:sp>
      <p:sp>
        <p:nvSpPr>
          <p:cNvPr id="7" name="Oval 6"/>
          <p:cNvSpPr/>
          <p:nvPr/>
        </p:nvSpPr>
        <p:spPr>
          <a:xfrm>
            <a:off x="7061200" y="1409700"/>
            <a:ext cx="127000" cy="127000"/>
          </a:xfrm>
          <a:prstGeom prst="ellipse">
            <a:avLst/>
          </a:prstGeom>
          <a:noFill/>
          <a:ln w="8255">
            <a:solidFill>
              <a:srgbClr val="F5F5F5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0" y="13589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小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⌀90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9" name="Oval 8"/>
          <p:cNvSpPr/>
          <p:nvPr/>
        </p:nvSpPr>
        <p:spPr>
          <a:xfrm>
            <a:off x="8191500" y="1409700"/>
            <a:ext cx="127000" cy="127000"/>
          </a:xfrm>
          <a:prstGeom prst="ellipse">
            <a:avLst/>
          </a:prstGeom>
          <a:noFill/>
          <a:ln w="8890">
            <a:solidFill>
              <a:srgbClr val="F5F5F5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9300" y="13589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中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⌀150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1" name="Oval 10"/>
          <p:cNvSpPr/>
          <p:nvPr/>
        </p:nvSpPr>
        <p:spPr>
          <a:xfrm>
            <a:off x="9321800" y="1409700"/>
            <a:ext cx="127000" cy="127000"/>
          </a:xfrm>
          <a:prstGeom prst="ellipse">
            <a:avLst/>
          </a:prstGeom>
          <a:noFill/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99600" y="13589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大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⌀230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3" name="Oval 12"/>
          <p:cNvSpPr/>
          <p:nvPr/>
        </p:nvSpPr>
        <p:spPr>
          <a:xfrm>
            <a:off x="10452100" y="1409700"/>
            <a:ext cx="127000" cy="127000"/>
          </a:xfrm>
          <a:prstGeom prst="ellipse">
            <a:avLst/>
          </a:prstGeom>
          <a:noFill/>
          <a:ln w="1651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29900" y="1358900"/>
            <a:ext cx="952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主角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⌀340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1638300"/>
            <a:ext cx="5410200" cy="3175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90600" y="3561255"/>
            <a:ext cx="4902200" cy="0"/>
          </a:xfrm>
          <a:prstGeom prst="line">
            <a:avLst/>
          </a:prstGeom>
          <a:ln w="6350">
            <a:solidFill>
              <a:srgbClr val="F5F5F5">
                <a:alpha val="7000"/>
              </a:srgbClr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98500" y="3485055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300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90600" y="3030483"/>
            <a:ext cx="4902200" cy="0"/>
          </a:xfrm>
          <a:prstGeom prst="line">
            <a:avLst/>
          </a:prstGeom>
          <a:ln w="6350">
            <a:solidFill>
              <a:srgbClr val="F5F5F5">
                <a:alpha val="7000"/>
              </a:srgbClr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98500" y="2954283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450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0600" y="2499710"/>
            <a:ext cx="4902200" cy="0"/>
          </a:xfrm>
          <a:prstGeom prst="line">
            <a:avLst/>
          </a:prstGeom>
          <a:ln w="6350">
            <a:solidFill>
              <a:srgbClr val="F5F5F5">
                <a:alpha val="7000"/>
              </a:srgbClr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98500" y="242351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600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26307" y="4092028"/>
            <a:ext cx="2830786" cy="530772"/>
          </a:xfrm>
          <a:prstGeom prst="rect">
            <a:avLst/>
          </a:prstGeom>
          <a:solidFill>
            <a:srgbClr val="F5F5F5">
              <a:alpha val="3500"/>
            </a:srgbClr>
          </a:solidFill>
          <a:ln w="6350">
            <a:solidFill>
              <a:srgbClr val="F5F5F5">
                <a:alpha val="2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557079" y="4092028"/>
            <a:ext cx="0" cy="530772"/>
          </a:xfrm>
          <a:prstGeom prst="line">
            <a:avLst/>
          </a:prstGeom>
          <a:ln w="6350">
            <a:solidFill>
              <a:srgbClr val="F5F5F5">
                <a:alpha val="12000"/>
              </a:srgbClr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3087852" y="4092028"/>
            <a:ext cx="0" cy="530772"/>
          </a:xfrm>
          <a:prstGeom prst="line">
            <a:avLst/>
          </a:prstGeom>
          <a:ln w="6350">
            <a:solidFill>
              <a:srgbClr val="F5F5F5">
                <a:alpha val="12000"/>
              </a:srgbClr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3795548" y="4092028"/>
            <a:ext cx="0" cy="530772"/>
          </a:xfrm>
          <a:prstGeom prst="line">
            <a:avLst/>
          </a:prstGeom>
          <a:ln w="6350">
            <a:solidFill>
              <a:srgbClr val="F5F5F5">
                <a:alpha val="12000"/>
              </a:srgbClr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4326321" y="4092028"/>
            <a:ext cx="0" cy="530772"/>
          </a:xfrm>
          <a:prstGeom prst="line">
            <a:avLst/>
          </a:prstGeom>
          <a:ln w="6350">
            <a:solidFill>
              <a:srgbClr val="F5F5F5">
                <a:alpha val="12000"/>
              </a:srgbClr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3087852" y="4445876"/>
            <a:ext cx="707697" cy="176924"/>
          </a:xfrm>
          <a:prstGeom prst="rect">
            <a:avLst/>
          </a:prstGeom>
          <a:solidFill>
            <a:srgbClr val="F5F5F5">
              <a:alpha val="5000"/>
            </a:srgbClr>
          </a:solidFill>
          <a:ln w="6350">
            <a:solidFill>
              <a:srgbClr val="F5F5F5">
                <a:alpha val="1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26307" y="3926928"/>
            <a:ext cx="12700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坝顶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150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29" name="Oval 28"/>
          <p:cNvSpPr/>
          <p:nvPr/>
        </p:nvSpPr>
        <p:spPr>
          <a:xfrm>
            <a:off x="2840158" y="2082523"/>
            <a:ext cx="1203084" cy="1203084"/>
          </a:xfrm>
          <a:prstGeom prst="ellipse">
            <a:avLst/>
          </a:prstGeom>
          <a:solidFill>
            <a:srgbClr val="0FF796">
              <a:alpha val="6000"/>
            </a:srgbClr>
          </a:solidFill>
          <a:ln w="1651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13970" y="2082523"/>
            <a:ext cx="1203084" cy="1203084"/>
          </a:xfrm>
          <a:prstGeom prst="ellipse">
            <a:avLst/>
          </a:prstGeom>
          <a:solidFill>
            <a:srgbClr val="0FF796">
              <a:alpha val="6000"/>
            </a:srgbClr>
          </a:solidFill>
          <a:ln w="1651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66346" y="2082523"/>
            <a:ext cx="1203084" cy="1203084"/>
          </a:xfrm>
          <a:prstGeom prst="ellipse">
            <a:avLst/>
          </a:prstGeom>
          <a:solidFill>
            <a:srgbClr val="0FF796">
              <a:alpha val="6000"/>
            </a:srgbClr>
          </a:solidFill>
          <a:ln w="1651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730405" y="2516695"/>
            <a:ext cx="813851" cy="813851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741141" y="2549249"/>
            <a:ext cx="748743" cy="748743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371698" y="2549249"/>
            <a:ext cx="748743" cy="748743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067329" y="2549249"/>
            <a:ext cx="748743" cy="748743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93516" y="2549249"/>
            <a:ext cx="748743" cy="748743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741141" y="2549249"/>
            <a:ext cx="748743" cy="748743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393516" y="2549249"/>
            <a:ext cx="748743" cy="748743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371698" y="2549249"/>
            <a:ext cx="748743" cy="748743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762959" y="2549249"/>
            <a:ext cx="748743" cy="748743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067329" y="2549249"/>
            <a:ext cx="748743" cy="748743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801235" y="3061975"/>
            <a:ext cx="573234" cy="573234"/>
          </a:xfrm>
          <a:prstGeom prst="ellipse">
            <a:avLst/>
          </a:prstGeom>
          <a:solidFill>
            <a:srgbClr val="F5F5F5">
              <a:alpha val="6000"/>
            </a:srgbClr>
          </a:solidFill>
          <a:ln w="8890">
            <a:solidFill>
              <a:srgbClr val="F5F5F5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196069" y="3083206"/>
            <a:ext cx="530772" cy="530772"/>
          </a:xfrm>
          <a:prstGeom prst="ellipse">
            <a:avLst/>
          </a:prstGeom>
          <a:solidFill>
            <a:srgbClr val="F5F5F5">
              <a:alpha val="6000"/>
            </a:srgbClr>
          </a:solidFill>
          <a:ln w="8890">
            <a:solidFill>
              <a:srgbClr val="F5F5F5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156558" y="3083206"/>
            <a:ext cx="530772" cy="530772"/>
          </a:xfrm>
          <a:prstGeom prst="ellipse">
            <a:avLst/>
          </a:prstGeom>
          <a:solidFill>
            <a:srgbClr val="F5F5F5">
              <a:alpha val="6000"/>
            </a:srgbClr>
          </a:solidFill>
          <a:ln w="8890">
            <a:solidFill>
              <a:srgbClr val="F5F5F5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551393" y="3104437"/>
            <a:ext cx="488311" cy="488311"/>
          </a:xfrm>
          <a:prstGeom prst="ellipse">
            <a:avLst/>
          </a:prstGeom>
          <a:solidFill>
            <a:srgbClr val="F5F5F5">
              <a:alpha val="6000"/>
            </a:srgbClr>
          </a:solidFill>
          <a:ln w="8890">
            <a:solidFill>
              <a:srgbClr val="F5F5F5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177789" y="3104437"/>
            <a:ext cx="488311" cy="488311"/>
          </a:xfrm>
          <a:prstGeom prst="ellipse">
            <a:avLst/>
          </a:prstGeom>
          <a:solidFill>
            <a:srgbClr val="F5F5F5">
              <a:alpha val="6000"/>
            </a:srgbClr>
          </a:solidFill>
          <a:ln w="8890">
            <a:solidFill>
              <a:srgbClr val="F5F5F5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217300" y="3104437"/>
            <a:ext cx="488311" cy="488311"/>
          </a:xfrm>
          <a:prstGeom prst="ellipse">
            <a:avLst/>
          </a:prstGeom>
          <a:solidFill>
            <a:srgbClr val="F5F5F5">
              <a:alpha val="6000"/>
            </a:srgbClr>
          </a:solidFill>
          <a:ln w="8890">
            <a:solidFill>
              <a:srgbClr val="F5F5F5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843696" y="3104437"/>
            <a:ext cx="488311" cy="488311"/>
          </a:xfrm>
          <a:prstGeom prst="ellipse">
            <a:avLst/>
          </a:prstGeom>
          <a:solidFill>
            <a:srgbClr val="F5F5F5">
              <a:alpha val="6000"/>
            </a:srgbClr>
          </a:solidFill>
          <a:ln w="8890">
            <a:solidFill>
              <a:srgbClr val="F5F5F5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551393" y="3104437"/>
            <a:ext cx="488311" cy="488311"/>
          </a:xfrm>
          <a:prstGeom prst="ellipse">
            <a:avLst/>
          </a:prstGeom>
          <a:solidFill>
            <a:srgbClr val="F5F5F5">
              <a:alpha val="6000"/>
            </a:srgbClr>
          </a:solidFill>
          <a:ln w="8890">
            <a:solidFill>
              <a:srgbClr val="F5F5F5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096758" y="3388931"/>
            <a:ext cx="343941" cy="343941"/>
          </a:xfrm>
          <a:prstGeom prst="ellipse">
            <a:avLst/>
          </a:prstGeom>
          <a:solidFill>
            <a:srgbClr val="F5F5F5">
              <a:alpha val="6000"/>
            </a:srgbClr>
          </a:solidFill>
          <a:ln w="8255">
            <a:solidFill>
              <a:srgbClr val="F5F5F5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442701" y="3388931"/>
            <a:ext cx="343941" cy="343941"/>
          </a:xfrm>
          <a:prstGeom prst="ellipse">
            <a:avLst/>
          </a:prstGeom>
          <a:solidFill>
            <a:srgbClr val="F5F5F5">
              <a:alpha val="6000"/>
            </a:srgbClr>
          </a:solidFill>
          <a:ln w="8255">
            <a:solidFill>
              <a:srgbClr val="F5F5F5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136269" y="3388931"/>
            <a:ext cx="343941" cy="343941"/>
          </a:xfrm>
          <a:prstGeom prst="ellipse">
            <a:avLst/>
          </a:prstGeom>
          <a:solidFill>
            <a:srgbClr val="F5F5F5">
              <a:alpha val="6000"/>
            </a:srgbClr>
          </a:solidFill>
          <a:ln w="8255">
            <a:solidFill>
              <a:srgbClr val="F5F5F5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744973" y="3388931"/>
            <a:ext cx="343941" cy="343941"/>
          </a:xfrm>
          <a:prstGeom prst="ellipse">
            <a:avLst/>
          </a:prstGeom>
          <a:solidFill>
            <a:srgbClr val="F5F5F5">
              <a:alpha val="6000"/>
            </a:srgbClr>
          </a:solidFill>
          <a:ln w="8255">
            <a:solidFill>
              <a:srgbClr val="F5F5F5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794487" y="3388931"/>
            <a:ext cx="343941" cy="343941"/>
          </a:xfrm>
          <a:prstGeom prst="ellipse">
            <a:avLst/>
          </a:prstGeom>
          <a:solidFill>
            <a:srgbClr val="F5F5F5">
              <a:alpha val="6000"/>
            </a:srgbClr>
          </a:solidFill>
          <a:ln w="8255">
            <a:solidFill>
              <a:srgbClr val="F5F5F5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459392" y="3401670"/>
            <a:ext cx="318463" cy="318463"/>
          </a:xfrm>
          <a:prstGeom prst="ellipse">
            <a:avLst/>
          </a:prstGeom>
          <a:solidFill>
            <a:srgbClr val="F5F5F5">
              <a:alpha val="6000"/>
            </a:srgbClr>
          </a:solidFill>
          <a:ln w="8255">
            <a:solidFill>
              <a:srgbClr val="F5F5F5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415929" y="3401670"/>
            <a:ext cx="318463" cy="318463"/>
          </a:xfrm>
          <a:prstGeom prst="ellipse">
            <a:avLst/>
          </a:prstGeom>
          <a:solidFill>
            <a:srgbClr val="F5F5F5">
              <a:alpha val="6000"/>
            </a:srgbClr>
          </a:solidFill>
          <a:ln w="8255">
            <a:solidFill>
              <a:srgbClr val="F5F5F5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415929" y="3401670"/>
            <a:ext cx="318463" cy="318463"/>
          </a:xfrm>
          <a:prstGeom prst="ellipse">
            <a:avLst/>
          </a:prstGeom>
          <a:solidFill>
            <a:srgbClr val="F5F5F5">
              <a:alpha val="6000"/>
            </a:srgbClr>
          </a:solidFill>
          <a:ln w="8255">
            <a:solidFill>
              <a:srgbClr val="F5F5F5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3105544" y="3401670"/>
            <a:ext cx="318463" cy="318463"/>
          </a:xfrm>
          <a:prstGeom prst="ellipse">
            <a:avLst/>
          </a:prstGeom>
          <a:solidFill>
            <a:srgbClr val="F5F5F5">
              <a:alpha val="6000"/>
            </a:srgbClr>
          </a:solidFill>
          <a:ln w="8255">
            <a:solidFill>
              <a:srgbClr val="F5F5F5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3472131" y="3414408"/>
            <a:ext cx="292986" cy="292986"/>
          </a:xfrm>
          <a:prstGeom prst="ellipse">
            <a:avLst/>
          </a:prstGeom>
          <a:solidFill>
            <a:srgbClr val="F5F5F5">
              <a:alpha val="6000"/>
            </a:srgbClr>
          </a:solidFill>
          <a:ln w="8255">
            <a:solidFill>
              <a:srgbClr val="F5F5F5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Isosceles Triangle 59"/>
          <p:cNvSpPr/>
          <p:nvPr/>
        </p:nvSpPr>
        <p:spPr>
          <a:xfrm>
            <a:off x="2083019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Isosceles Triangle 60"/>
          <p:cNvSpPr/>
          <p:nvPr/>
        </p:nvSpPr>
        <p:spPr>
          <a:xfrm>
            <a:off x="2390867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Isosceles Triangle 61"/>
          <p:cNvSpPr/>
          <p:nvPr/>
        </p:nvSpPr>
        <p:spPr>
          <a:xfrm>
            <a:off x="2712869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Isosceles Triangle 62"/>
          <p:cNvSpPr/>
          <p:nvPr/>
        </p:nvSpPr>
        <p:spPr>
          <a:xfrm>
            <a:off x="3056102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Isosceles Triangle 63"/>
          <p:cNvSpPr/>
          <p:nvPr/>
        </p:nvSpPr>
        <p:spPr>
          <a:xfrm>
            <a:off x="3409950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Isosceles Triangle 64"/>
          <p:cNvSpPr/>
          <p:nvPr/>
        </p:nvSpPr>
        <p:spPr>
          <a:xfrm>
            <a:off x="3763798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Isosceles Triangle 65"/>
          <p:cNvSpPr/>
          <p:nvPr/>
        </p:nvSpPr>
        <p:spPr>
          <a:xfrm>
            <a:off x="4107031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Isosceles Triangle 66"/>
          <p:cNvSpPr/>
          <p:nvPr/>
        </p:nvSpPr>
        <p:spPr>
          <a:xfrm>
            <a:off x="4429033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Isosceles Triangle 67"/>
          <p:cNvSpPr/>
          <p:nvPr/>
        </p:nvSpPr>
        <p:spPr>
          <a:xfrm>
            <a:off x="4736881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251412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555722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898955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245726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599574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946345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289578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593888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Diamond 76"/>
          <p:cNvSpPr/>
          <p:nvPr/>
        </p:nvSpPr>
        <p:spPr>
          <a:xfrm>
            <a:off x="3178495" y="4407776"/>
            <a:ext cx="38100" cy="38100"/>
          </a:xfrm>
          <a:prstGeom prst="diamond">
            <a:avLst/>
          </a:prstGeom>
          <a:solidFill>
            <a:srgbClr val="F5F5F5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Diamond 77"/>
          <p:cNvSpPr/>
          <p:nvPr/>
        </p:nvSpPr>
        <p:spPr>
          <a:xfrm>
            <a:off x="3259880" y="4407776"/>
            <a:ext cx="38100" cy="38100"/>
          </a:xfrm>
          <a:prstGeom prst="diamond">
            <a:avLst/>
          </a:prstGeom>
          <a:solidFill>
            <a:srgbClr val="F5F5F5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Diamond 78"/>
          <p:cNvSpPr/>
          <p:nvPr/>
        </p:nvSpPr>
        <p:spPr>
          <a:xfrm>
            <a:off x="3341265" y="4407776"/>
            <a:ext cx="38100" cy="38100"/>
          </a:xfrm>
          <a:prstGeom prst="diamond">
            <a:avLst/>
          </a:prstGeom>
          <a:solidFill>
            <a:srgbClr val="F5F5F5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Diamond 79"/>
          <p:cNvSpPr/>
          <p:nvPr/>
        </p:nvSpPr>
        <p:spPr>
          <a:xfrm>
            <a:off x="3422650" y="4407776"/>
            <a:ext cx="38100" cy="38100"/>
          </a:xfrm>
          <a:prstGeom prst="diamond">
            <a:avLst/>
          </a:prstGeom>
          <a:solidFill>
            <a:srgbClr val="F5F5F5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Diamond 80"/>
          <p:cNvSpPr/>
          <p:nvPr/>
        </p:nvSpPr>
        <p:spPr>
          <a:xfrm>
            <a:off x="3504035" y="4407776"/>
            <a:ext cx="38100" cy="38100"/>
          </a:xfrm>
          <a:prstGeom prst="diamond">
            <a:avLst/>
          </a:prstGeom>
          <a:solidFill>
            <a:srgbClr val="F5F5F5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Diamond 81"/>
          <p:cNvSpPr/>
          <p:nvPr/>
        </p:nvSpPr>
        <p:spPr>
          <a:xfrm>
            <a:off x="3585420" y="4407776"/>
            <a:ext cx="38100" cy="38100"/>
          </a:xfrm>
          <a:prstGeom prst="diamond">
            <a:avLst/>
          </a:prstGeom>
          <a:solidFill>
            <a:srgbClr val="F5F5F5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Diamond 82"/>
          <p:cNvSpPr/>
          <p:nvPr/>
        </p:nvSpPr>
        <p:spPr>
          <a:xfrm>
            <a:off x="3666805" y="4407776"/>
            <a:ext cx="38100" cy="38100"/>
          </a:xfrm>
          <a:prstGeom prst="diamond">
            <a:avLst/>
          </a:prstGeom>
          <a:solidFill>
            <a:srgbClr val="F5F5F5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2000" y="1739900"/>
            <a:ext cx="5105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高配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球花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31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朵同时展开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72200" y="1638300"/>
            <a:ext cx="5410200" cy="3175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6553200" y="3561255"/>
            <a:ext cx="4902200" cy="0"/>
          </a:xfrm>
          <a:prstGeom prst="line">
            <a:avLst/>
          </a:prstGeom>
          <a:ln w="6350">
            <a:solidFill>
              <a:srgbClr val="F5F5F5">
                <a:alpha val="7000"/>
              </a:srgbClr>
            </a:solidFill>
          </a:ln>
        </p:spPr>
      </p:cxnSp>
      <p:sp>
        <p:nvSpPr>
          <p:cNvPr id="87" name="TextBox 86"/>
          <p:cNvSpPr txBox="1"/>
          <p:nvPr/>
        </p:nvSpPr>
        <p:spPr>
          <a:xfrm>
            <a:off x="6261100" y="3485055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300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6553200" y="3030483"/>
            <a:ext cx="4902200" cy="0"/>
          </a:xfrm>
          <a:prstGeom prst="line">
            <a:avLst/>
          </a:prstGeom>
          <a:ln w="6350">
            <a:solidFill>
              <a:srgbClr val="F5F5F5">
                <a:alpha val="7000"/>
              </a:srgbClr>
            </a:solidFill>
          </a:ln>
        </p:spPr>
      </p:cxnSp>
      <p:sp>
        <p:nvSpPr>
          <p:cNvPr id="89" name="TextBox 88"/>
          <p:cNvSpPr txBox="1"/>
          <p:nvPr/>
        </p:nvSpPr>
        <p:spPr>
          <a:xfrm>
            <a:off x="6261100" y="2954283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450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6553200" y="2499710"/>
            <a:ext cx="4902200" cy="0"/>
          </a:xfrm>
          <a:prstGeom prst="line">
            <a:avLst/>
          </a:prstGeom>
          <a:ln w="6350">
            <a:solidFill>
              <a:srgbClr val="F5F5F5">
                <a:alpha val="7000"/>
              </a:srgbClr>
            </a:solidFill>
          </a:ln>
        </p:spPr>
      </p:cxnSp>
      <p:sp>
        <p:nvSpPr>
          <p:cNvPr id="91" name="TextBox 90"/>
          <p:cNvSpPr txBox="1"/>
          <p:nvPr/>
        </p:nvSpPr>
        <p:spPr>
          <a:xfrm>
            <a:off x="6261100" y="242351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600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88907" y="4092028"/>
            <a:ext cx="2830786" cy="530772"/>
          </a:xfrm>
          <a:prstGeom prst="rect">
            <a:avLst/>
          </a:prstGeom>
          <a:solidFill>
            <a:srgbClr val="F5F5F5">
              <a:alpha val="3500"/>
            </a:srgbClr>
          </a:solidFill>
          <a:ln w="6350">
            <a:solidFill>
              <a:srgbClr val="F5F5F5">
                <a:alpha val="22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8119679" y="4092028"/>
            <a:ext cx="0" cy="530772"/>
          </a:xfrm>
          <a:prstGeom prst="line">
            <a:avLst/>
          </a:prstGeom>
          <a:ln w="6350">
            <a:solidFill>
              <a:srgbClr val="F5F5F5">
                <a:alpha val="12000"/>
              </a:srgbClr>
            </a:solidFill>
          </a:ln>
        </p:spPr>
      </p:cxnSp>
      <p:cxnSp>
        <p:nvCxnSpPr>
          <p:cNvPr id="94" name="Connector 93"/>
          <p:cNvCxnSpPr/>
          <p:nvPr/>
        </p:nvCxnSpPr>
        <p:spPr>
          <a:xfrm>
            <a:off x="8650452" y="4092028"/>
            <a:ext cx="0" cy="530772"/>
          </a:xfrm>
          <a:prstGeom prst="line">
            <a:avLst/>
          </a:prstGeom>
          <a:ln w="6350">
            <a:solidFill>
              <a:srgbClr val="F5F5F5">
                <a:alpha val="12000"/>
              </a:srgbClr>
            </a:solidFill>
          </a:ln>
        </p:spPr>
      </p:cxnSp>
      <p:cxnSp>
        <p:nvCxnSpPr>
          <p:cNvPr id="95" name="Connector 94"/>
          <p:cNvCxnSpPr/>
          <p:nvPr/>
        </p:nvCxnSpPr>
        <p:spPr>
          <a:xfrm>
            <a:off x="9358148" y="4092028"/>
            <a:ext cx="0" cy="530772"/>
          </a:xfrm>
          <a:prstGeom prst="line">
            <a:avLst/>
          </a:prstGeom>
          <a:ln w="6350">
            <a:solidFill>
              <a:srgbClr val="F5F5F5">
                <a:alpha val="12000"/>
              </a:srgbClr>
            </a:solidFill>
          </a:ln>
        </p:spPr>
      </p:cxnSp>
      <p:cxnSp>
        <p:nvCxnSpPr>
          <p:cNvPr id="96" name="Connector 95"/>
          <p:cNvCxnSpPr/>
          <p:nvPr/>
        </p:nvCxnSpPr>
        <p:spPr>
          <a:xfrm>
            <a:off x="9888921" y="4092028"/>
            <a:ext cx="0" cy="530772"/>
          </a:xfrm>
          <a:prstGeom prst="line">
            <a:avLst/>
          </a:prstGeom>
          <a:ln w="6350">
            <a:solidFill>
              <a:srgbClr val="F5F5F5">
                <a:alpha val="12000"/>
              </a:srgbClr>
            </a:solidFill>
          </a:ln>
        </p:spPr>
      </p:cxnSp>
      <p:sp>
        <p:nvSpPr>
          <p:cNvPr id="97" name="Rectangle 96"/>
          <p:cNvSpPr/>
          <p:nvPr/>
        </p:nvSpPr>
        <p:spPr>
          <a:xfrm>
            <a:off x="8650452" y="4445876"/>
            <a:ext cx="707697" cy="176924"/>
          </a:xfrm>
          <a:prstGeom prst="rect">
            <a:avLst/>
          </a:prstGeom>
          <a:solidFill>
            <a:srgbClr val="F5F5F5">
              <a:alpha val="5000"/>
            </a:srgbClr>
          </a:solidFill>
          <a:ln w="6350">
            <a:solidFill>
              <a:srgbClr val="F5F5F5">
                <a:alpha val="1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588907" y="3926928"/>
            <a:ext cx="12700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700"/>
              </a:lnSpc>
            </a:pP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坝顶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150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7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m</a:t>
            </a:r>
          </a:p>
        </p:txBody>
      </p:sp>
      <p:sp>
        <p:nvSpPr>
          <p:cNvPr id="99" name="Oval 98"/>
          <p:cNvSpPr/>
          <p:nvPr/>
        </p:nvSpPr>
        <p:spPr>
          <a:xfrm>
            <a:off x="8402758" y="2082523"/>
            <a:ext cx="1203084" cy="1203084"/>
          </a:xfrm>
          <a:prstGeom prst="ellipse">
            <a:avLst/>
          </a:prstGeom>
          <a:solidFill>
            <a:srgbClr val="0FF796">
              <a:alpha val="6000"/>
            </a:srgbClr>
          </a:solidFill>
          <a:ln w="1651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076570" y="2082523"/>
            <a:ext cx="1203084" cy="1203084"/>
          </a:xfrm>
          <a:prstGeom prst="ellipse">
            <a:avLst/>
          </a:prstGeom>
          <a:solidFill>
            <a:srgbClr val="0FF796">
              <a:alpha val="6000"/>
            </a:srgbClr>
          </a:solidFill>
          <a:ln w="1651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9728946" y="2082523"/>
            <a:ext cx="1203084" cy="1203084"/>
          </a:xfrm>
          <a:prstGeom prst="ellipse">
            <a:avLst/>
          </a:prstGeom>
          <a:solidFill>
            <a:srgbClr val="0FF796">
              <a:alpha val="6000"/>
            </a:srgbClr>
          </a:solidFill>
          <a:ln w="1651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271187" y="2516695"/>
            <a:ext cx="813851" cy="813851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901744" y="2516695"/>
            <a:ext cx="813851" cy="813851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597374" y="2516695"/>
            <a:ext cx="813851" cy="813851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923562" y="2516695"/>
            <a:ext cx="813851" cy="813851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293005" y="2516695"/>
            <a:ext cx="813851" cy="813851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303741" y="2549249"/>
            <a:ext cx="748743" cy="748743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956116" y="2549249"/>
            <a:ext cx="748743" cy="748743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934298" y="2549249"/>
            <a:ext cx="748743" cy="748743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325559" y="2549249"/>
            <a:ext cx="748743" cy="748743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629929" y="2549249"/>
            <a:ext cx="748743" cy="748743"/>
          </a:xfrm>
          <a:prstGeom prst="ellipse">
            <a:avLst/>
          </a:prstGeom>
          <a:solidFill>
            <a:srgbClr val="0FF796">
              <a:alpha val="6000"/>
            </a:srgbClr>
          </a:solidFill>
          <a:ln w="10160">
            <a:solidFill>
              <a:srgbClr val="0FF796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Isosceles Triangle 111"/>
          <p:cNvSpPr/>
          <p:nvPr/>
        </p:nvSpPr>
        <p:spPr>
          <a:xfrm>
            <a:off x="7645619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Isosceles Triangle 112"/>
          <p:cNvSpPr/>
          <p:nvPr/>
        </p:nvSpPr>
        <p:spPr>
          <a:xfrm>
            <a:off x="7953467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Isosceles Triangle 113"/>
          <p:cNvSpPr/>
          <p:nvPr/>
        </p:nvSpPr>
        <p:spPr>
          <a:xfrm>
            <a:off x="8275469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Isosceles Triangle 114"/>
          <p:cNvSpPr/>
          <p:nvPr/>
        </p:nvSpPr>
        <p:spPr>
          <a:xfrm>
            <a:off x="8618702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Isosceles Triangle 115"/>
          <p:cNvSpPr/>
          <p:nvPr/>
        </p:nvSpPr>
        <p:spPr>
          <a:xfrm>
            <a:off x="8972550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Isosceles Triangle 116"/>
          <p:cNvSpPr/>
          <p:nvPr/>
        </p:nvSpPr>
        <p:spPr>
          <a:xfrm>
            <a:off x="9326398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Isosceles Triangle 117"/>
          <p:cNvSpPr/>
          <p:nvPr/>
        </p:nvSpPr>
        <p:spPr>
          <a:xfrm>
            <a:off x="9669631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Isosceles Triangle 118"/>
          <p:cNvSpPr/>
          <p:nvPr/>
        </p:nvSpPr>
        <p:spPr>
          <a:xfrm>
            <a:off x="9991633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Isosceles Triangle 119"/>
          <p:cNvSpPr/>
          <p:nvPr/>
        </p:nvSpPr>
        <p:spPr>
          <a:xfrm>
            <a:off x="10299481" y="4034878"/>
            <a:ext cx="63500" cy="57150"/>
          </a:xfrm>
          <a:prstGeom prst="triangle">
            <a:avLst/>
          </a:prstGeom>
          <a:solidFill>
            <a:srgbClr val="F5F5F5">
              <a:alpha val="8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814012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118322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461555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808326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9162174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9508945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9852178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0156488" y="4053928"/>
            <a:ext cx="38100" cy="38100"/>
          </a:xfrm>
          <a:prstGeom prst="ellipse">
            <a:avLst/>
          </a:prstGeom>
          <a:noFill/>
          <a:ln w="6350">
            <a:solidFill>
              <a:srgbClr val="F5F5F5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Diamond 128"/>
          <p:cNvSpPr/>
          <p:nvPr/>
        </p:nvSpPr>
        <p:spPr>
          <a:xfrm>
            <a:off x="8741095" y="4407776"/>
            <a:ext cx="38100" cy="38100"/>
          </a:xfrm>
          <a:prstGeom prst="diamond">
            <a:avLst/>
          </a:prstGeom>
          <a:solidFill>
            <a:srgbClr val="F5F5F5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Diamond 129"/>
          <p:cNvSpPr/>
          <p:nvPr/>
        </p:nvSpPr>
        <p:spPr>
          <a:xfrm>
            <a:off x="8822480" y="4407776"/>
            <a:ext cx="38100" cy="38100"/>
          </a:xfrm>
          <a:prstGeom prst="diamond">
            <a:avLst/>
          </a:prstGeom>
          <a:solidFill>
            <a:srgbClr val="F5F5F5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Diamond 130"/>
          <p:cNvSpPr/>
          <p:nvPr/>
        </p:nvSpPr>
        <p:spPr>
          <a:xfrm>
            <a:off x="8903865" y="4407776"/>
            <a:ext cx="38100" cy="38100"/>
          </a:xfrm>
          <a:prstGeom prst="diamond">
            <a:avLst/>
          </a:prstGeom>
          <a:solidFill>
            <a:srgbClr val="F5F5F5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Diamond 131"/>
          <p:cNvSpPr/>
          <p:nvPr/>
        </p:nvSpPr>
        <p:spPr>
          <a:xfrm>
            <a:off x="8985250" y="4407776"/>
            <a:ext cx="38100" cy="38100"/>
          </a:xfrm>
          <a:prstGeom prst="diamond">
            <a:avLst/>
          </a:prstGeom>
          <a:solidFill>
            <a:srgbClr val="F5F5F5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Diamond 132"/>
          <p:cNvSpPr/>
          <p:nvPr/>
        </p:nvSpPr>
        <p:spPr>
          <a:xfrm>
            <a:off x="9066635" y="4407776"/>
            <a:ext cx="38100" cy="38100"/>
          </a:xfrm>
          <a:prstGeom prst="diamond">
            <a:avLst/>
          </a:prstGeom>
          <a:solidFill>
            <a:srgbClr val="F5F5F5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Diamond 133"/>
          <p:cNvSpPr/>
          <p:nvPr/>
        </p:nvSpPr>
        <p:spPr>
          <a:xfrm>
            <a:off x="9148020" y="4407776"/>
            <a:ext cx="38100" cy="38100"/>
          </a:xfrm>
          <a:prstGeom prst="diamond">
            <a:avLst/>
          </a:prstGeom>
          <a:solidFill>
            <a:srgbClr val="F5F5F5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Diamond 134"/>
          <p:cNvSpPr/>
          <p:nvPr/>
        </p:nvSpPr>
        <p:spPr>
          <a:xfrm>
            <a:off x="9229405" y="4407776"/>
            <a:ext cx="38100" cy="38100"/>
          </a:xfrm>
          <a:prstGeom prst="diamond">
            <a:avLst/>
          </a:prstGeom>
          <a:solidFill>
            <a:srgbClr val="F5F5F5">
              <a:alpha val="6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24600" y="1739900"/>
            <a:ext cx="5105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手游高配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球花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13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朵同时展开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09600" y="4978400"/>
            <a:ext cx="6350000" cy="10922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12800" y="51181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各档一场的</a:t>
            </a:r>
          </a:p>
          <a:p>
            <a:pPr algn="l">
              <a:lnSpc>
                <a:spcPts val="1620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播放次数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12800" y="5613400"/>
            <a:ext cx="152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同一编排自动分档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514600" y="5232400"/>
            <a:ext cx="457200" cy="457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362200" y="5054600"/>
            <a:ext cx="76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9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9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1150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514600" y="5727700"/>
            <a:ext cx="4572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80"/>
              </a:lnSpc>
            </a:pPr>
            <a:r>
              <a:rPr sz="8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高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11500" y="5349395"/>
            <a:ext cx="457200" cy="340205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959100" y="5171595"/>
            <a:ext cx="76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9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9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850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11500" y="5727700"/>
            <a:ext cx="4572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80"/>
              </a:lnSpc>
            </a:pPr>
            <a:r>
              <a:rPr sz="8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中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708400" y="5514706"/>
            <a:ext cx="457200" cy="174894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556000" y="5336906"/>
            <a:ext cx="76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9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9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440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708400" y="5727700"/>
            <a:ext cx="4572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80"/>
              </a:lnSpc>
            </a:pPr>
            <a:r>
              <a:rPr sz="8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低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514600" y="5892800"/>
            <a:ext cx="1651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9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PC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699000" y="5510713"/>
            <a:ext cx="457200" cy="178887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546600" y="5332913"/>
            <a:ext cx="76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9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9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450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699000" y="5727700"/>
            <a:ext cx="4572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80"/>
              </a:lnSpc>
            </a:pPr>
            <a:r>
              <a:rPr sz="8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高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5295900" y="5550244"/>
            <a:ext cx="457200" cy="139356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5143500" y="5372444"/>
            <a:ext cx="76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9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9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350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295900" y="5727700"/>
            <a:ext cx="4572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80"/>
              </a:lnSpc>
            </a:pPr>
            <a:r>
              <a:rPr sz="8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中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892800" y="5617326"/>
            <a:ext cx="457200" cy="72274"/>
          </a:xfrm>
          <a:prstGeom prst="rect">
            <a:avLst/>
          </a:prstGeom>
          <a:solidFill>
            <a:srgbClr val="F5F5F5">
              <a:alpha val="3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740400" y="5439526"/>
            <a:ext cx="762000" cy="165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9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约</a:t>
            </a:r>
            <a:r>
              <a:rPr sz="9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9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180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892800" y="5727700"/>
            <a:ext cx="457200" cy="139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80"/>
              </a:lnSpc>
            </a:pPr>
            <a:r>
              <a:rPr sz="8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低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99000" y="5892800"/>
            <a:ext cx="1651000" cy="152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990"/>
              </a:lnSpc>
            </a:pPr>
            <a:r>
              <a:rPr sz="9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手游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451100" y="5689600"/>
            <a:ext cx="4102100" cy="6350"/>
          </a:xfrm>
          <a:prstGeom prst="rect">
            <a:avLst/>
          </a:prstGeom>
          <a:solidFill>
            <a:srgbClr val="F5F5F5">
              <a:alpha val="2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112000" y="4978400"/>
            <a:ext cx="2159000" cy="10922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112000" y="4978400"/>
            <a:ext cx="38100" cy="1092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315200" y="5118100"/>
            <a:ext cx="18415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50"/>
              </a:lnSpc>
            </a:pPr>
            <a:r>
              <a:rPr sz="3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11</a:t>
            </a:r>
            <a:r>
              <a:rPr sz="12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个大版本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315200" y="5638800"/>
            <a:ext cx="1841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3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每版自动检查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9423400" y="4978400"/>
            <a:ext cx="2159000" cy="10922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626600" y="5130800"/>
            <a:ext cx="1841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待改进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9626600" y="5422900"/>
            <a:ext cx="18415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5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节拍对齐指标</a:t>
            </a:r>
          </a:p>
          <a:p>
            <a:pPr algn="l">
              <a:lnSpc>
                <a:spcPts val="1650"/>
              </a:lnSpc>
            </a:pPr>
            <a:r>
              <a:rPr sz="11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尚未达到宪章目标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资源交付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接入成果：批量修正读回一致，叠加开销可查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贴图规范确定后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663700"/>
            <a:ext cx="4064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000"/>
              </a:lnSpc>
            </a:pPr>
            <a:r>
              <a:rPr sz="6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149</a:t>
            </a:r>
            <a:r>
              <a:rPr sz="3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/149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5400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张贴图批量重设，读回一致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3048000"/>
            <a:ext cx="40640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225800"/>
            <a:ext cx="4064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1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更早一轮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530600"/>
            <a:ext cx="4064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sz="3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115</a:t>
            </a:r>
            <a:r>
              <a:rPr sz="15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5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个包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4114800"/>
            <a:ext cx="40640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粒子系统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48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个、材质实例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67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个，</a:t>
            </a:r>
          </a:p>
          <a:p>
            <a:pPr algn="l">
              <a:lnSpc>
                <a:spcPts val="208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读回无错误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34000"/>
            <a:ext cx="4064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规则已内置于导入器，</a:t>
            </a:r>
          </a:p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新资源导入时自动执行</a:t>
            </a:r>
          </a:p>
        </p:txBody>
      </p:sp>
      <p:pic>
        <p:nvPicPr>
          <p:cNvPr id="14" name="Picture 13" descr="p12_overdra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358900"/>
            <a:ext cx="6400800" cy="3048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257800" y="4076700"/>
            <a:ext cx="191770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ource_tag"/>
          <p:cNvSpPr txBox="1"/>
          <p:nvPr/>
        </p:nvSpPr>
        <p:spPr>
          <a:xfrm>
            <a:off x="5257800" y="4076700"/>
            <a:ext cx="19177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Overdraw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视图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1600" y="4457700"/>
            <a:ext cx="64008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颜色越暖，叠加层数越多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81600" y="4826000"/>
            <a:ext cx="6400800" cy="12446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5600" y="49657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开发机实测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高配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5600" y="5245100"/>
            <a:ext cx="58928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60"/>
              </a:lnSpc>
            </a:pPr>
            <a:r>
              <a:rPr sz="2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0.08</a:t>
            </a:r>
            <a:r>
              <a:rPr sz="26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26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0.50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ms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烟花半透明耗时（7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个时刻）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技术案例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仙女棒：13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类火星合成一张序列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32893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358900"/>
            <a:ext cx="38100" cy="4711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9000" y="1549400"/>
            <a:ext cx="2857500" cy="82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00"/>
              </a:lnSpc>
            </a:pPr>
            <a:r>
              <a:rPr sz="5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13→1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2362200"/>
            <a:ext cx="27305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每平台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张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帧主序列</a:t>
            </a:r>
          </a:p>
          <a:p>
            <a:pPr algn="l">
              <a:lnSpc>
                <a:spcPts val="1950"/>
              </a:lnSpc>
            </a:pP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+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个发射器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000" y="2984500"/>
            <a:ext cx="2743200" cy="15430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gif_sparkler_u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984500"/>
            <a:ext cx="2743200" cy="15430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65200" y="419735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ource_tag"/>
          <p:cNvSpPr txBox="1"/>
          <p:nvPr/>
        </p:nvSpPr>
        <p:spPr>
          <a:xfrm>
            <a:off x="965200" y="419735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000" y="46990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2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以往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4927600"/>
            <a:ext cx="2730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窜天猴拖尾用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10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个发射器拼合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52705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5"/>
              </a:lnSpc>
            </a:pPr>
            <a:r>
              <a:rPr sz="125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本次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" y="5499100"/>
            <a:ext cx="27305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通用母子分叉，烘焙时合成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3700" y="1358900"/>
            <a:ext cx="7378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13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类火星（源自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Blender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工程）</a:t>
            </a:r>
          </a:p>
        </p:txBody>
      </p:sp>
      <p:pic>
        <p:nvPicPr>
          <p:cNvPr id="19" name="Picture 18" descr="p14_l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700" y="1625600"/>
            <a:ext cx="7378700" cy="1193800"/>
          </a:xfrm>
          <a:prstGeom prst="rect">
            <a:avLst/>
          </a:prstGeom>
        </p:spPr>
      </p:pic>
      <p:pic>
        <p:nvPicPr>
          <p:cNvPr id="20" name="Picture 19" descr="p14_l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3700" y="2870200"/>
            <a:ext cx="7378700" cy="11938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553700" y="2895600"/>
            <a:ext cx="1003300" cy="1143000"/>
          </a:xfrm>
          <a:prstGeom prst="rect">
            <a:avLst/>
          </a:prstGeom>
          <a:solidFill>
            <a:srgbClr val="0A0A0A"/>
          </a:solidFill>
          <a:ln w="12700">
            <a:solidFill>
              <a:srgbClr val="0FF796">
                <a:alpha val="8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gif_sparkler_replay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7200" y="2933700"/>
            <a:ext cx="876300" cy="876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53700" y="3835400"/>
            <a:ext cx="10033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00"/>
              </a:lnSpc>
            </a:pPr>
            <a:r>
              <a:rPr sz="1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13</a:t>
            </a:r>
            <a:r>
              <a:rPr sz="10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合</a:t>
            </a:r>
            <a:r>
              <a:rPr sz="10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</a:t>
            </a:r>
            <a:r>
              <a:rPr sz="10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0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回放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3700" y="4203700"/>
            <a:ext cx="73787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合成后的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64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帧主序列（按帧展开）</a:t>
            </a:r>
          </a:p>
        </p:txBody>
      </p:sp>
      <p:pic>
        <p:nvPicPr>
          <p:cNvPr id="25" name="Picture 24" descr="p14_shee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3700" y="4470400"/>
            <a:ext cx="7378700" cy="1600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技术案例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升空尾缀：按屏幕位移分配帧数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58900"/>
            <a:ext cx="3810000" cy="35750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gif_rise_ue4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3810000" cy="35750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460375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ource_tag"/>
          <p:cNvSpPr txBox="1"/>
          <p:nvPr/>
        </p:nvSpPr>
        <p:spPr>
          <a:xfrm>
            <a:off x="685800" y="460375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911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实录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四发升空尾缀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97400" y="1358900"/>
            <a:ext cx="1333500" cy="3575050"/>
          </a:xfrm>
          <a:prstGeom prst="rect">
            <a:avLst/>
          </a:prstGeom>
          <a:solidFill>
            <a:srgbClr val="0E0E1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gif_rise_s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400" y="1358900"/>
            <a:ext cx="1333500" cy="35750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97400" y="499110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烘焙器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实时模拟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3000" y="1358900"/>
            <a:ext cx="5359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帧数分配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000" y="1663700"/>
            <a:ext cx="53594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8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Δp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=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∫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v(t)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dt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×</a:t>
            </a:r>
            <a:r>
              <a:rPr sz="1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每米像素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3000" y="2070100"/>
            <a:ext cx="5359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按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800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m、1080p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观看条件换算每帧屏幕位移，</a:t>
            </a:r>
          </a:p>
          <a:p>
            <a:pPr algn="l">
              <a:lnSpc>
                <a:spcPts val="1937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移动快的阶段多给帧，慢的阶段少给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23000" y="2857500"/>
            <a:ext cx="5359400" cy="14605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3000" y="2857500"/>
            <a:ext cx="38100" cy="14605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600" y="3035300"/>
            <a:ext cx="49784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00"/>
              </a:lnSpc>
            </a:pPr>
            <a:r>
              <a:rPr sz="4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1.9</a:t>
            </a:r>
            <a:r>
              <a:rPr sz="42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4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42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4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600" y="3683000"/>
            <a:ext cx="4978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fps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L</a:t>
            </a:r>
            <a:r>
              <a:rPr sz="1300" b="0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300" b="0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档上升段最慢处帧率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1600" y="3975100"/>
            <a:ext cx="4978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代价：单格高度降低，近看略软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3000" y="4572000"/>
            <a:ext cx="53594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6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档尾缀按开花高度生成，</a:t>
            </a:r>
          </a:p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与手游使用同一套规则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问题排查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方头与黑块：定位原因，写入导出与导入规则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3589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方头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低配出现</a:t>
            </a:r>
          </a:p>
        </p:txBody>
      </p:sp>
      <p:pic>
        <p:nvPicPr>
          <p:cNvPr id="7" name="Picture 6" descr="p16_sq_n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51000"/>
            <a:ext cx="1676400" cy="2984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9600" y="1651000"/>
            <a:ext cx="482600" cy="241300"/>
          </a:xfrm>
          <a:prstGeom prst="rect">
            <a:avLst/>
          </a:prstGeom>
          <a:solidFill>
            <a:srgbClr val="0A0A0A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1651000"/>
            <a:ext cx="4826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修前</a:t>
            </a:r>
          </a:p>
        </p:txBody>
      </p:sp>
      <p:pic>
        <p:nvPicPr>
          <p:cNvPr id="10" name="Picture 9" descr="p16_sq_fix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1651000"/>
            <a:ext cx="1676400" cy="29845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362200" y="1651000"/>
            <a:ext cx="482600" cy="241300"/>
          </a:xfrm>
          <a:prstGeom prst="rect">
            <a:avLst/>
          </a:prstGeom>
          <a:solidFill>
            <a:srgbClr val="0A0A0A">
              <a:alpha val="8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62200" y="1651000"/>
            <a:ext cx="4826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修后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699000"/>
            <a:ext cx="3429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低档同机位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升空尾缀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0800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4600" y="50800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长条格压扁后采样到低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Mip，星头变方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4229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修法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4600" y="54229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主序列不使用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Mip；手游保留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Mip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6000" y="1358900"/>
            <a:ext cx="67564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黑块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2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2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最亮处出现黑点</a:t>
            </a:r>
          </a:p>
        </p:txBody>
      </p:sp>
      <p:pic>
        <p:nvPicPr>
          <p:cNvPr id="19" name="Picture 18" descr="p16_ram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000" y="1651000"/>
            <a:ext cx="6756400" cy="2857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26000" y="4699000"/>
            <a:ext cx="67564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50"/>
              </a:lnSpc>
            </a:pP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左：Ramp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0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末格为黑，出现黑点；右：末格不黑，没有黑点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6000" y="50800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原因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1000" y="5080000"/>
            <a:ext cx="6121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最亮处采样落到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Ramp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末格的黑色（末格涂黑用于去除光晕灰线）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0" y="5422900"/>
            <a:ext cx="63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90"/>
              </a:lnSpc>
            </a:pPr>
            <a:r>
              <a:rPr sz="13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修法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1000" y="5422900"/>
            <a:ext cx="6121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EmissiveDissolve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设为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0.98，确认有效后写入导出与导入规则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实践成果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流程演示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流程演示：从模板到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26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播放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6" name="Picture 5" descr="demo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58900"/>
            <a:ext cx="7620000" cy="4286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358900"/>
            <a:ext cx="7620000" cy="4286250"/>
          </a:xfrm>
          <a:prstGeom prst="rect">
            <a:avLst/>
          </a:prstGeom>
          <a:solidFill>
            <a:srgbClr val="0A0A0A">
              <a:alpha val="8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1358900"/>
            <a:ext cx="7620000" cy="4286250"/>
          </a:xfrm>
          <a:prstGeom prst="rect">
            <a:avLst/>
          </a:prstGeom>
          <a:noFill/>
          <a:ln w="19050">
            <a:solidFill>
              <a:srgbClr val="0FF796">
                <a:alpha val="6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600" y="3057525"/>
            <a:ext cx="71120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40"/>
              </a:lnSpc>
            </a:pP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录屏位：完整操作（约</a:t>
            </a:r>
            <a:r>
              <a:rPr sz="18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2</a:t>
            </a:r>
            <a:r>
              <a:rPr sz="18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3527425"/>
            <a:ext cx="6858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模板调参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回放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导出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导入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编排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→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播放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0" y="13589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0800" y="13589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选择模板、调参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0800" y="16256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烘焙器实时模拟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0" y="20447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0800" y="20447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引擎回放复核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0800" y="23114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按导出的贴图播放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4400" y="27305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0800" y="27305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双平台导出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0800" y="29972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PC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与手游素材包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4400" y="34163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40800" y="34163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检查并导入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0800" y="36830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确认后写入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4400" y="4102100"/>
            <a:ext cx="38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0800" y="41021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编排与播放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0800" y="4368800"/>
            <a:ext cx="2667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生成导演表，UE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55000"/>
                  </a:srgbClr>
                </a:solidFill>
                <a:latin typeface="Consolas"/>
                <a:ea typeface="微软雅黑"/>
                <a:cs typeface="微软雅黑"/>
              </a:rPr>
              <a:t>中播放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34400" y="4889500"/>
            <a:ext cx="3048000" cy="7620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34400" y="4889500"/>
            <a:ext cx="38100" cy="7620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3000" y="4889500"/>
            <a:ext cx="2730500" cy="76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210"/>
              </a:lnSpc>
            </a:pP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实际用时</a:t>
            </a:r>
            <a:r>
              <a:rPr sz="14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__</a:t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</a:t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__</a:t>
            </a:r>
            <a:r>
              <a:rPr sz="1700" b="1" lang="zh-CN" altLang="en-US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秒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/>
          <p:cNvSpPr txBox="1"/>
          <p:nvPr/>
        </p:nvSpPr>
        <p:spPr>
          <a:xfrm>
            <a:off x="609600" y="381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04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1" lang="zh-CN" altLang="en-US" spc="300">
                <a:solidFill>
                  <a:srgbClr val="0FF796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1" lang="zh-CN" altLang="en-US" spc="300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分享与方法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6477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250"/>
              </a:lnSpc>
            </a:pPr>
            <a:r>
              <a:rPr sz="2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工作方法：批量需求的三阶段协作</a:t>
            </a:r>
          </a:p>
        </p:txBody>
      </p:sp>
      <p:sp>
        <p:nvSpPr>
          <p:cNvPr id="4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1358900"/>
            <a:ext cx="558800" cy="558800"/>
          </a:xfrm>
          <a:prstGeom prst="ellipse">
            <a:avLst/>
          </a:prstGeom>
          <a:solidFill>
            <a:srgbClr val="0FF796">
              <a:alpha val="6000"/>
            </a:srgbClr>
          </a:solidFill>
          <a:ln w="1905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1358900"/>
            <a:ext cx="558800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993900"/>
            <a:ext cx="1143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明确需求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06600" y="13843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需求定义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目标、约束、验收标准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06600" y="17780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技术选型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AI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梳理技术，取最简方案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6600" y="21717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原理先行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先拆结构，再调参数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6600" y="2730500"/>
            <a:ext cx="5003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9600" y="2946400"/>
            <a:ext cx="558800" cy="558800"/>
          </a:xfrm>
          <a:prstGeom prst="ellipse">
            <a:avLst/>
          </a:prstGeom>
          <a:solidFill>
            <a:srgbClr val="0FF796">
              <a:alpha val="6000"/>
            </a:srgbClr>
          </a:solidFill>
          <a:ln w="1905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2946400"/>
            <a:ext cx="558800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581400"/>
            <a:ext cx="1143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建立规范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06600" y="29718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任务拆分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按效果、工具、编排分配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负责人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06600" y="33655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宪章规范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参数、交互、编排规则成文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06600" y="37592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执行前读取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先读规范与交接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06600" y="4318000"/>
            <a:ext cx="5003800" cy="6350"/>
          </a:xfrm>
          <a:prstGeom prst="rect">
            <a:avLst/>
          </a:prstGeom>
          <a:solidFill>
            <a:srgbClr val="F5F5F5">
              <a:alpha val="1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9600" y="4533900"/>
            <a:ext cx="558800" cy="558800"/>
          </a:xfrm>
          <a:prstGeom prst="ellipse">
            <a:avLst/>
          </a:prstGeom>
          <a:solidFill>
            <a:srgbClr val="0FF796">
              <a:alpha val="6000"/>
            </a:srgbClr>
          </a:solidFill>
          <a:ln w="19050">
            <a:solidFill>
              <a:srgbClr val="0FF79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4533900"/>
            <a:ext cx="558800" cy="558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760"/>
              </a:lnSpc>
            </a:pPr>
            <a:r>
              <a:rPr sz="1600" b="1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168900"/>
            <a:ext cx="1143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结果把关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6600" y="45593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自动检查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标准检查、回放检查、合入门禁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06600" y="49530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状态分离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执行、自检、验收分开记录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06600" y="5346700"/>
            <a:ext cx="50038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5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版本锁定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　通过后锁定，复用派生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358900"/>
            <a:ext cx="4267200" cy="4711700"/>
          </a:xfrm>
          <a:prstGeom prst="rect">
            <a:avLst/>
          </a:prstGeom>
          <a:solidFill>
            <a:srgbClr val="161616"/>
          </a:solidFill>
          <a:ln w="6350">
            <a:solidFill>
              <a:srgbClr val="F5F5F5">
                <a:alpha val="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0" y="1358900"/>
            <a:ext cx="38100" cy="47117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94600" y="1587500"/>
            <a:ext cx="381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适用场景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94600" y="22479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0" y="21590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重复性设置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24511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AI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开发工具，批量处理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94600" y="30099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0" y="29210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复杂效果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2131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拆结构后模拟、烘焙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94600" y="3771900"/>
            <a:ext cx="76200" cy="762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36830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9"/>
              </a:lnSpc>
            </a:pPr>
            <a:r>
              <a:rPr sz="14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大规模编排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3975100"/>
            <a:ext cx="3556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50"/>
              </a:lnSpc>
            </a:pPr>
            <a:r>
              <a:rPr sz="125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以表驱动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94600" y="4572000"/>
            <a:ext cx="3708400" cy="6350"/>
          </a:xfrm>
          <a:prstGeom prst="rect">
            <a:avLst/>
          </a:prstGeom>
          <a:solidFill>
            <a:srgbClr val="F5F5F5">
              <a:alpha val="1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94600" y="4724400"/>
            <a:ext cx="3708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20"/>
              </a:lnSpc>
            </a:pPr>
            <a:r>
              <a:rPr sz="13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工具包存放位置：xx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94600" y="5029200"/>
            <a:ext cx="3708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首批：烘焙器与案例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94600" y="5461000"/>
            <a:ext cx="37084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100"/>
              </a:lnSpc>
            </a:pPr>
            <a:r>
              <a:rPr sz="1400" b="0" lang="zh-CN" altLang="en-US">
                <a:solidFill>
                  <a:srgbClr val="0FF796"/>
                </a:solidFill>
                <a:latin typeface="Consolas"/>
                <a:ea typeface="微软雅黑"/>
                <a:cs typeface="微软雅黑"/>
              </a:rPr>
              <a:t>从一项重复性工作开始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  <p:pic>
        <p:nvPicPr>
          <p:cNvPr id="4" name="Picture 3" descr="than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394440" y="76200"/>
            <a:ext cx="721360" cy="254000"/>
          </a:xfrm>
          <a:prstGeom prst="rect">
            <a:avLst/>
          </a:prstGeom>
          <a:solidFill>
            <a:srgbClr val="0A0A0A">
              <a:alpha val="72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ource_tag"/>
          <p:cNvSpPr txBox="1"/>
          <p:nvPr/>
        </p:nvSpPr>
        <p:spPr>
          <a:xfrm>
            <a:off x="11394440" y="76200"/>
            <a:ext cx="72136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439"/>
              </a:lnSpc>
            </a:pP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UE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70000"/>
                  </a:srgbClr>
                </a:solidFill>
                <a:latin typeface="Consolas"/>
                <a:ea typeface="微软雅黑"/>
                <a:cs typeface="微软雅黑"/>
              </a:rPr>
              <a:t>实机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381500"/>
            <a:ext cx="109728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800"/>
              </a:lnSpc>
            </a:pPr>
            <a:r>
              <a:rPr sz="8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THANK</a:t>
            </a:r>
            <a:r>
              <a:rPr sz="8800" b="1" lang="zh-CN" altLang="en-US">
                <a:solidFill>
                  <a:srgbClr val="F5F5F5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8800" b="1" lang="zh-CN" altLang="en-US">
                <a:solidFill>
                  <a:srgbClr val="F5F5F5"/>
                </a:solidFill>
                <a:latin typeface="Consolas"/>
                <a:ea typeface="微软雅黑"/>
                <a:cs typeface="微软雅黑"/>
              </a:rPr>
              <a:t>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5715000"/>
            <a:ext cx="609600" cy="381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588000"/>
            <a:ext cx="5715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10"/>
              </a:lnSpc>
            </a:pPr>
            <a:r>
              <a:rPr sz="17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谢谢</a:t>
            </a:r>
            <a:r>
              <a:rPr sz="17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700" b="0" lang="zh-CN" altLang="en-US">
                <a:solidFill>
                  <a:srgbClr val="F5F5F5">
                    <a:alpha val="86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00" b="0" lang="zh-CN" altLang="en-US">
                <a:solidFill>
                  <a:srgbClr val="F5F5F5">
                    <a:alpha val="86000"/>
                  </a:srgbClr>
                </a:solidFill>
                <a:latin typeface="Consolas"/>
                <a:ea typeface="微软雅黑"/>
                <a:cs typeface="微软雅黑"/>
              </a:rPr>
              <a:t>欢迎交流</a:t>
            </a:r>
          </a:p>
        </p:txBody>
      </p:sp>
      <p:sp>
        <p:nvSpPr>
          <p:cNvPr id="10" name="footer_mark"/>
          <p:cNvSpPr/>
          <p:nvPr/>
        </p:nvSpPr>
        <p:spPr>
          <a:xfrm>
            <a:off x="609600" y="6515100"/>
            <a:ext cx="114300" cy="114300"/>
          </a:xfrm>
          <a:prstGeom prst="rect">
            <a:avLst/>
          </a:prstGeom>
          <a:solidFill>
            <a:srgbClr val="0FF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oter"/>
          <p:cNvSpPr txBox="1"/>
          <p:nvPr/>
        </p:nvSpPr>
        <p:spPr>
          <a:xfrm>
            <a:off x="825500" y="644525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三角洲行动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VFX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·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b="0" lang="zh-CN" altLang="en-US">
                <a:solidFill>
                  <a:srgbClr val="F5F5F5">
                    <a:alpha val="40000"/>
                  </a:srgbClr>
                </a:solidFill>
                <a:latin typeface="Consolas"/>
                <a:ea typeface="微软雅黑"/>
                <a:cs typeface="微软雅黑"/>
              </a:rPr>
              <a:t>烟花工具链与工作方法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烟花秀 AI 全流程</dc:title>
  <dc:subject>VFX 组内分享 · 2026-10-30</dc:subject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