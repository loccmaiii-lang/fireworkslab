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25 秒）</a:t>
            </a:r>
          </a:p>
          <a:p>
            <a:r>
              <a:t>提词：三块工作都做了工具 · 分四部分讲</a:t>
            </a:r>
          </a:p>
          <a:p/>
          <a:p>
            <a:r>
              <a:t>大家好，我是____。今天和大家分享跨年烟花秀的制作过程。这一个多月里，效果制作、资源交付和节目编排这三块工作，我都借助 AI 做了工具。我分四部分来讲：先说遇到的挑战，再说解决思路，然后看实践成果，最后分享一点工作方法。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制作规模（约 30 秒）</a:t>
            </a:r>
          </a:p>
          <a:p>
            <a:r>
              <a:t>提词：3 → 26 种 · 1 → 6 档 · 70 → 220 秒 · 两套</a:t>
            </a:r>
          </a:p>
          <a:p/>
          <a:p>
            <a:r>
              <a:t>先说挑战，第一个是规模。去年是 3 种烟花、1 条升空尾缀，节目大约 70 秒；今年开花有 26 种，扇形也算在里面，尾缀分了 6 档，节目大约 220 秒，而且 PC 和手游要各做一套。规模一大，重复的工作也跟着变多，最明显的就是资源交付。</a:t>
            </a:r>
          </a:p>
          <a:p/>
          <a:p>
            <a:r>
              <a:t>依据：去年 3 种、1 条尾缀、约 70 秒为讲者口述；今年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资源交付（约 50 秒）</a:t>
            </a:r>
          </a:p>
          <a:p>
            <a:r>
              <a:t>提词：导出一串规格 · 导入十几项设置 · 绿框三项最要命</a:t>
            </a:r>
          </a:p>
          <a:p/>
          <a:p>
            <a:r>
              <a:t>资源交付分导出和导入两段。导出时，每种烟花都要定取景、帧数、排格和打包，还要做 Ramp 和 Cutout，两个平台各出一份；导入时，每个资源还有十几项引擎设置。以前这些全靠手工一个个做，效果一改就要重来。漏掉一项就会出问题，比如标绿的三项：NeverStream 没关，贴图会常驻内存；PC 主序列带了 Mip，星头会变方；EmissiveDissolve 没设好，最亮的地方会出黑块。除了资源，第三个挑战在编排。</a:t>
            </a:r>
          </a:p>
          <a:p/>
          <a:p>
            <a:r>
              <a:t>依据：12 项设置：烟花贴图规范（与性能组约定）与烟花特效资产规范；三项后果见第 16 页与 LOWQ_FIX_20261018。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编排（约 40 秒）</a:t>
            </a:r>
          </a:p>
          <a:p>
            <a:r>
              <a:t>提词：去年 12 条子序列、2726 条轨道 · 今年 220 秒、24 点位、两平台各 3 档</a:t>
            </a:r>
          </a:p>
          <a:p/>
          <a:p>
            <a:r>
              <a:t>去年的编排是在定序器里手工拼的，一共 12 条子序列、两千七百多条轨道。改一处节奏要逐条对齐，整体构图也很难直接看到，每个画质档还要分别维护。今年节目更长，有 24 个发射点位，PC 和手游各分三档画质，节奏还要跟着音乐反复改，再靠手工排轨就改不过来了。规模、资源交付、编排，这就是三个挑战。下面一个一个说解决思路。</a:t>
            </a:r>
          </a:p>
          <a:p/>
          <a:p>
            <a:r>
              <a:t>依据：12 子序列、2726 轨道：UE 只读统计（10-29，第二版核验 A3）。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烟花烘焙器（约 40 秒）</a:t>
            </a:r>
          </a:p>
          <a:p>
            <a:r>
              <a:t>提词：之前 Blender 出图慢、预览对不上 · 选模板 → 调参 → 存效果 → 派生</a:t>
            </a:r>
          </a:p>
          <a:p/>
          <a:p>
            <a:r>
              <a:t>先说规模。我让 AI 开发了烟花烘焙器。之前也试过用 AI 脚本驱动 Blender 出图，能出，但每一轮都要等渲染，预览和最终输出也对不上。烘焙器只算游戏视角需要的序列，内置了花型模板和多层模板：选一个模板、调一调参数，就是一个新效果，存进效果库以后还能继续派生。效果做得快了，接下来要解决的是怎么把它规范地交出去。</a:t>
            </a:r>
          </a:p>
          <a:p/>
          <a:p>
            <a:r>
              <a:t>依据：模板数量：analysis/results/NF4/缩略图/缩略图.json（4.9.18：花型模板 27、多层模板 30）。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导出规范（约 40 秒）</a:t>
            </a:r>
          </a:p>
          <a:p>
            <a:r>
              <a:t>提词：三种取景 · 两成提到四成 · 其余自动 · 右边回放复核</a:t>
            </a:r>
          </a:p>
          <a:p/>
          <a:p>
            <a:r>
              <a:t>交付分两步，先看导出。第一步是取景：默认用固定框；随开花放大，能让刚开花时拿到更多像素；锚在爆点，适合单侧的花型。扇形测试里，内容占面片的比例从大约两成提到了四成。后面的排格、打包、Ramp、Cutout 和两个平台的导出都是自动完成的。右边是回放复核：按导出的 64 帧贴图一格一格回放，确认交出去的和我们看到的一致。导出之后就是导入。</a:t>
            </a:r>
          </a:p>
          <a:p/>
          <a:p>
            <a:r>
              <a:t>依据：tool/CHANGELOG.md 4.9.33、4.9.81（FC6O 取景估算 0.20 / 0.21 / 0.41）；动图为用户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导入规范（约 35 秒）</a:t>
            </a:r>
          </a:p>
          <a:p>
            <a:r>
              <a:t>提词：检查 → 创建 → 确认写入 → 读回 · 规范写进工具</a:t>
            </a:r>
          </a:p>
          <a:p/>
          <a:p>
            <a:r>
              <a:t>导入交给导入器。它读取素材包，先检查命名、尺寸和各项规范，再按平台创建贴图、材质实例和发射器，确认以后写入 UE，并读回核对。和性能组定下的贴图规范，还有包围盒、朝向、EmissiveDissolve 这些设置，都写进了工具，不用再靠人记。资源能顺利进引擎了，剩下的是编排。</a:t>
            </a:r>
          </a:p>
          <a:p/>
          <a:p>
            <a:r>
              <a:t>依据：项目规则 §2 烟花贴图规范（v2.31）；spec/workspace_resource_v1.md。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编排推演（约 50 秒）</a:t>
            </a:r>
          </a:p>
          <a:p>
            <a:r>
              <a:t>提词：800 米大坝 · 点距 100 米 · 1.5 倍 / 2 倍 / 3 倍 · 四档 · 极限帧</a:t>
            </a:r>
          </a:p>
          <a:p/>
          <a:p>
            <a:r>
              <a:t>编排我先做推演。舞台是一座宽约 800 米、高 150 米的大坝，按约 100 米的点距布置发射点，一共 24 个。花径大约是点距的 1.5 倍时，还能分清单朵；到 2 倍以上会连成花墙；3 倍左右就容易糊成一片。按这个关系，把花型分成 S、M、L 和主角四档，定好各自的开花高度，再检查极限帧，也就是同一时刻各档都开到最大时，会不会叠得太满。这些规则写进了编排宪章，每一版都自动检查。规则有了，还需要一个工具把它落地。</a:t>
            </a:r>
          </a:p>
          <a:p/>
          <a:p>
            <a:r>
              <a:t>依据：协作/跨年秀编排宪章.md；第二版重制第 7 页；舞台图按编排工作台设计令牌配色重画（设计值）。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烟花编排工作台（约 45 秒）</a:t>
            </a:r>
          </a:p>
          <a:p>
            <a:r>
              <a:t>提词：基础模板 → 花型模板 → 编排片段 → 导演表 · 改节奏只要重新出表</a:t>
            </a:r>
          </a:p>
          <a:p/>
          <a:p>
            <a:r>
              <a:t>这个工具就是烟花编排工作台。资源表里的效果是基础模板；配上尺寸、高度和尾缀，就成了花型模板；把花型模板放上时间轴，就是编排片段。右边是工作台的整页：左边是模板库，中间是舞台预览，下面是时间轴上的编排片段，右上角是交付。片段按音乐分段，可以一段一段调节奏和构图，最后一键生成导演表，导入 UE。改节奏只要重新出一次表。把三个问题和三个工具放在一起，就是下面这张图。</a:t>
            </a:r>
          </a:p>
          <a:p/>
          <a:p>
            <a:r>
              <a:t>依据：云端打开 tool/烟花编排工作台.html（B11 修订 3，2:45.5，PC 高配）：基础模板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解决思路汇总（约 35 秒）</a:t>
            </a:r>
          </a:p>
          <a:p>
            <a:r>
              <a:t>提词：三个问题 → 三个工具 → UE · 分工与跨组协作</a:t>
            </a:r>
          </a:p>
          <a:p/>
          <a:p>
            <a:r>
              <a:t>三个问题对应三个工具：烘焙器解决规模，导入器解决资源交付，编排工作台解决编排，工具之间用固定格式衔接，最后在 UE 里播放。分工上，目标、审美和引擎约束由我来定，工具由 AI 开发，关键结果在 UE 里验收；导演蓝图和程序一起设计，贴图规范和性能组一起定。接下来看这些工具实际做出了什么。</a:t>
            </a:r>
          </a:p>
          <a:p/>
          <a:p>
            <a:r>
              <a:t>依据：约 2200 次提交：第二版核验 verify_A1_A2 §1（含后台自动回传）。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资源成果（约 30 秒）</a:t>
            </a:r>
          </a:p>
          <a:p>
            <a:r>
              <a:t>提词：PC 26 种 · 6 档尾缀 · 窜天猴 1 套 · 手游 12 种 · 贴图 212 张</a:t>
            </a:r>
          </a:p>
          <a:p/>
          <a:p>
            <a:r>
              <a:t>先看资源。进入跨年 3.0 资源表的，有球花和扇形 26 种、升空尾缀 6 档、窜天猴一套；手游覆盖 12 种开花，尾缀和窜天猴也都有。引用的贴图去重以后一共 212 张。其中 19 种开花保留了配方和导出记录，以后调参可以直接重新导出。资源之后，看编排。</a:t>
            </a:r>
          </a:p>
          <a:p/>
          <a:p>
            <a:r>
              <a:t>依据：verify_A1_A2 §1、§6；第三版素材/资源分类.md；尾缀格为用户 10-30 UE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编排成果（约 45 秒）</a:t>
            </a:r>
          </a:p>
          <a:p>
            <a:r>
              <a:t>提词：11 个大版本 · 同一编排自动分档 · 3:05 同一时刻 PC 31 朵、手游 13 朵</a:t>
            </a:r>
          </a:p>
          <a:p/>
          <a:p>
            <a:r>
              <a:t>编排一共迭代了 11 个大版本，每一版都有自动检查记录。同一份编排按平台和画质自动分档：PC 一场从大约 1150 次到 440 次播放，手游从 450 次到 180 次，不用每档单独排。右边是在线编排方案里球花最满的时刻，3 分 05 秒：PC 高配同时开着 31 朵，手游 13 朵，圈和圈的重叠就是推演时要控制的地方。目前节拍对齐的指标还没达到宪章目标，还在继续调。</a:t>
            </a:r>
          </a:p>
          <a:p/>
          <a:p>
            <a:r>
              <a:t>依据：B11 修订 3 编排检查（PC 1145 / 852 / 438，手游 448 / 349 / 181）；右图为在线编排方案 B11r1 页（claude.ai artifact）逐 0.5 s 扫描，球花面积最大在 185.0 s（小 10 · 中 8 · 大 13），手游同刻大 13；按主题色单色重着色。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接入成果（约 45 秒）</a:t>
            </a:r>
          </a:p>
          <a:p>
            <a:r>
              <a:t>提词：149 / 149 读回一致 · 115 个包无错误 · Overdraw 看叠加</a:t>
            </a:r>
          </a:p>
          <a:p/>
          <a:p>
            <a:r>
              <a:t>再看资源接入。接入这边做过两轮批量修正：贴图规范定下来以后，149 张贴图一次批量重设，读回全部一致；更早一轮修了 115 个包，也没有报错。这些规则现在都在导入器里，新资源进来会自动执行。右边是 UE 里的 Overdraw 视图，颜色越暖叠得越多，哪里需要减层一眼就能看出来。在开发机上实测，PC 高配烟花半透明的耗时在 0.08 到 0.5 毫秒之间。下面讲两个技术案例。</a:t>
            </a:r>
          </a:p>
          <a:p/>
          <a:p>
            <a:r>
              <a:t>依据：TEX_SPEC_20261018/verify.json；资源规范统一_20261016/改后读回.json；实测见 OVERDRAW_B11r3_20261019/看法.md（RTX 5080 编辑器视口，非目标机）；截图为用户提供。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仙女棒（约 40 秒）</a:t>
            </a:r>
          </a:p>
          <a:p>
            <a:r>
              <a:t>提词：一级二级分叉 · 以往 10 个发射器 · 13 类合成 1 张 64 帧 · 左 UE 实录</a:t>
            </a:r>
          </a:p>
          <a:p/>
          <a:p>
            <a:r>
              <a:t>第一个是仙女棒。它的火星有一级、二级分叉，也有清楚和模糊的层次。以往类似的效果，比如窜天猴的拖尾，要用 10 个发射器拼。这次我把之前 Blender 工程里的 13 类火星交给 AI，改成通用的母子分叉，烘焙时合成一张 64 帧序列，每个平台只要一个发射器。左边是 UE 里的实录，右边绿框里是烘焙器的引擎回放。第二个案例是升空尾缀。</a:t>
            </a:r>
          </a:p>
          <a:p/>
          <a:p>
            <a:r>
              <a:t>依据：verify_A4；UE 实录与引擎回放为用户 10-30 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升空尾缀（约 45 秒）</a:t>
            </a:r>
          </a:p>
          <a:p>
            <a:r>
              <a:t>提词：上升段走得快 · 按屏幕位移分帧 · 1.9 → 30 fps · 代价近看略软</a:t>
            </a:r>
          </a:p>
          <a:p/>
          <a:p>
            <a:r>
              <a:t>尾缀的难点在帧数。上升的时候它在屏幕上走得很快，如果按时间平均分帧，这一段每帧跳得太远，看起来一顿一顿的。所以我按观看距离，算出每一帧在屏幕上的位移：走得快的阶段多给帧，慢的阶段少给。L 档上升段最慢处的帧率，从大约 1.9 提到了 30。代价是单格高度变小，近看稍微软一点。左边是 UE 实录，中间是烘焙器里的实时模拟。除了做新效果，排查问题也花了不少时间。</a:t>
            </a:r>
          </a:p>
          <a:p/>
          <a:p>
            <a:r>
              <a:t>依据：第二版重制第 13、19 页；tool/CHANGELOG.md 4.9.26、4.9.31；录屏为用户 10-30 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方头与黑块（约 45 秒）</a:t>
            </a:r>
          </a:p>
          <a:p>
            <a:r>
              <a:t>提词：方头：低配低 Mip → PC 主序列不用 Mip · 黑块：Ramp 末格 → 0.98</a:t>
            </a:r>
          </a:p>
          <a:p/>
          <a:p>
            <a:r>
              <a:t>排查里有两个典型问题。一个是方头，只在低配出现：长条格被压扁后采样到了低 Mip，星头就变方了；固定机位逐档对比后定位，PC 主序列改成不用 Mip。另一个是最亮处的黑块，看上去是一个个黑点：亮度采样落到了 Ramp 最后一格的黑色，把 EmissiveDissolve 设成 0.98 就解决了。这两条都写进了导出和导入规则，后面不会再犯。最后用一段录屏把整个流程串一遍。</a:t>
            </a:r>
          </a:p>
          <a:p/>
          <a:p>
            <a:r>
              <a:t>依据：analysis/results/LOWQ_FIX_20261018；analysis/probe/BC7护栏黑块_2026-10-15（机制复现为模拟）。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流程演示（约 145 秒）</a:t>
            </a:r>
          </a:p>
          <a:p>
            <a:r>
              <a:t>提词：模板调参 → 回放复核 → 双平台导出 → 导入 UE → 编排</a:t>
            </a:r>
          </a:p>
          <a:p/>
          <a:p>
            <a:r>
              <a:t>这段录屏从选模板、调参数开始，在引擎回放里复核，同时导出 PC 和手游，用导入器写进 UE，再到编排工作台排进节目。（播放录屏，约 2 分钟）录屏剪辑过，完整走一遍实际大约 ×× 分钟。最后分享一点工作方法。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工作方法（约 50 秒）</a:t>
            </a:r>
          </a:p>
          <a:p>
            <a:r>
              <a:t>提词：明确需求 · 建立规范 · 结果把关 · 从一项重复工作开始</a:t>
            </a:r>
          </a:p>
          <a:p/>
          <a:p>
            <a:r>
              <a:t>这一个多月下来，我的体会是：批量需求可以分三个阶段和 AI 协作。第一，明确需求：先定目标、约束和验收标准，让 AI 梳理需要的技术，选最简单可行的方案。第二，建立规范：按效果、工具、编排拆分任务，把参数、交互、编排规则写成宪章，每次开工前先读规范和交接。第三，结果把关：先自动检查，再到 UE 里验收，执行、自检和验收分开记录，通过的版本锁定复用。工具包我会放在 xx 处，建议大家从手边一项重复性工作开始试。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5 秒）</a:t>
            </a:r>
          </a:p>
          <a:p>
            <a:r>
              <a:t>提词：谢谢 · 欢迎交流</a:t>
            </a:r>
          </a:p>
          <a:p/>
          <a:p>
            <a:r>
              <a:t>以上就是我的分享，谢谢大家，欢迎交流。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gif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gif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gif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gif"/><Relationship Id="rId6" Type="http://schemas.openxmlformats.org/officeDocument/2006/relationships/image" Target="../media/image30.jp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gif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22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512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6609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787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787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5080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372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72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642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664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今年节目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开花种类（含扇形）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63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63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63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97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97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7150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今年；花型按花名计，去年数据为讲者统计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12700">
            <a:solidFill>
              <a:srgbClr val="0FF796">
                <a:alpha val="9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贴图常驻内存（01）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星头方块（03）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、</a:t>
            </a: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最亮处黑块（11）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取景示意：扇形开满时刻，绿点为爆点；数字为扇形测试中内容占面片的比例（中位数）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4800" y="1358900"/>
            <a:ext cx="3657600" cy="2266950"/>
          </a:xfrm>
          <a:prstGeom prst="rect">
            <a:avLst/>
          </a:prstGeom>
          <a:solidFill>
            <a:srgbClr val="0A0A0A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gif_review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511300"/>
            <a:ext cx="3657600" cy="19621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10693400" y="15875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工具录屏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回放复核：按导出的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帧贴图逐格回放，高亮当前格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4064000"/>
          </a:xfrm>
          <a:prstGeom prst="rect">
            <a:avLst/>
          </a:prstGeom>
          <a:solidFill>
            <a:srgbClr val="111D21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1200" y="1460500"/>
            <a:ext cx="6413500" cy="3860800"/>
          </a:xfrm>
          <a:prstGeom prst="rect">
            <a:avLst/>
          </a:prstGeom>
          <a:solidFill>
            <a:srgbClr val="101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66800" y="5105400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762000" y="50165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4393671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62000" y="4304771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66800" y="368194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2000" y="359304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300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6800" y="2970212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2881312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450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66800" y="2258483"/>
            <a:ext cx="5956300" cy="0"/>
          </a:xfrm>
          <a:prstGeom prst="line">
            <a:avLst/>
          </a:prstGeom>
          <a:ln w="6350">
            <a:solidFill>
              <a:srgbClr val="263D42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62000" y="2169583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600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30186" y="4393671"/>
            <a:ext cx="3795889" cy="711729"/>
          </a:xfrm>
          <a:prstGeom prst="rect">
            <a:avLst/>
          </a:prstGeom>
          <a:solidFill>
            <a:srgbClr val="1E3036"/>
          </a:solidFill>
          <a:ln w="9525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2341915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053644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002617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14346" y="4393671"/>
            <a:ext cx="0" cy="711729"/>
          </a:xfrm>
          <a:prstGeom prst="line">
            <a:avLst/>
          </a:prstGeom>
          <a:ln w="6350">
            <a:solidFill>
              <a:srgbClr val="829297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3053644" y="4868157"/>
            <a:ext cx="948972" cy="237243"/>
          </a:xfrm>
          <a:prstGeom prst="rect">
            <a:avLst/>
          </a:prstGeom>
          <a:noFill/>
          <a:ln w="762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6875" y="4406371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坝顶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0717" y="471575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前台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50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867429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341915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816401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290888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765374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4239860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4714346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5188832" y="3681942"/>
            <a:ext cx="0" cy="711729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04672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053644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002617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4951589" y="3397250"/>
            <a:ext cx="0" cy="996421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630186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2579158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4477103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426075" y="2827867"/>
            <a:ext cx="0" cy="1565804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3528131" y="2495726"/>
            <a:ext cx="0" cy="1897945"/>
          </a:xfrm>
          <a:prstGeom prst="line">
            <a:avLst/>
          </a:prstGeom>
          <a:ln w="6350">
            <a:solidFill>
              <a:srgbClr val="52636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1653910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2839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0288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077369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51855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26341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00827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75313" y="3468423"/>
            <a:ext cx="427038" cy="427038"/>
          </a:xfrm>
          <a:prstGeom prst="ellipse">
            <a:avLst/>
          </a:prstGeom>
          <a:solidFill>
            <a:srgbClr val="829297">
              <a:alpha val="5000"/>
            </a:srgbClr>
          </a:solidFill>
          <a:ln w="8890">
            <a:solidFill>
              <a:srgbClr val="82929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748808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97780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46752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5724" y="3041385"/>
            <a:ext cx="711729" cy="711729"/>
          </a:xfrm>
          <a:prstGeom prst="ellipse">
            <a:avLst/>
          </a:prstGeom>
          <a:solidFill>
            <a:srgbClr val="9EB6BC">
              <a:alpha val="5000"/>
            </a:srgbClr>
          </a:solidFill>
          <a:ln w="8890">
            <a:solidFill>
              <a:srgbClr val="9EB6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4527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033499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931444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880416" y="2282208"/>
            <a:ext cx="1091318" cy="1091318"/>
          </a:xfrm>
          <a:prstGeom prst="ellipse">
            <a:avLst/>
          </a:prstGeom>
          <a:solidFill>
            <a:srgbClr val="B6C7CB">
              <a:alpha val="5000"/>
            </a:srgbClr>
          </a:solidFill>
          <a:ln w="8890">
            <a:solidFill>
              <a:srgbClr val="B6C7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863850" y="1831446"/>
            <a:ext cx="1328561" cy="1328561"/>
          </a:xfrm>
          <a:prstGeom prst="ellipse">
            <a:avLst/>
          </a:prstGeom>
          <a:solidFill>
            <a:srgbClr val="83DFC0">
              <a:alpha val="12000"/>
            </a:srgbClr>
          </a:solidFill>
          <a:ln w="15240">
            <a:solidFill>
              <a:srgbClr val="83DFC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217471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1" name="Connector 60"/>
          <p:cNvCxnSpPr/>
          <p:nvPr/>
        </p:nvCxnSpPr>
        <p:spPr>
          <a:xfrm flipH="1" flipV="1">
            <a:off x="2249673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2341915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2341915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4" name="Connector 63"/>
          <p:cNvCxnSpPr/>
          <p:nvPr/>
        </p:nvCxnSpPr>
        <p:spPr>
          <a:xfrm flipV="1">
            <a:off x="2341915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5" name="Connector 64"/>
          <p:cNvCxnSpPr/>
          <p:nvPr/>
        </p:nvCxnSpPr>
        <p:spPr>
          <a:xfrm flipH="1" flipV="1">
            <a:off x="3123688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6" name="Connector 65"/>
          <p:cNvCxnSpPr/>
          <p:nvPr/>
        </p:nvCxnSpPr>
        <p:spPr>
          <a:xfrm flipH="1" flipV="1">
            <a:off x="3198645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7" name="Connector 66"/>
          <p:cNvCxnSpPr/>
          <p:nvPr/>
        </p:nvCxnSpPr>
        <p:spPr>
          <a:xfrm flipV="1">
            <a:off x="3290888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8" name="Connector 67"/>
          <p:cNvCxnSpPr/>
          <p:nvPr/>
        </p:nvCxnSpPr>
        <p:spPr>
          <a:xfrm flipV="1">
            <a:off x="3290888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69" name="Connector 68"/>
          <p:cNvCxnSpPr/>
          <p:nvPr/>
        </p:nvCxnSpPr>
        <p:spPr>
          <a:xfrm flipV="1">
            <a:off x="3290888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0" name="Connector 69"/>
          <p:cNvCxnSpPr/>
          <p:nvPr/>
        </p:nvCxnSpPr>
        <p:spPr>
          <a:xfrm flipH="1" flipV="1">
            <a:off x="3598174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1" name="Connector 70"/>
          <p:cNvCxnSpPr/>
          <p:nvPr/>
        </p:nvCxnSpPr>
        <p:spPr>
          <a:xfrm flipH="1" flipV="1">
            <a:off x="3673131" y="4195857"/>
            <a:ext cx="92243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3765374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3" name="Connector 72"/>
          <p:cNvCxnSpPr/>
          <p:nvPr/>
        </p:nvCxnSpPr>
        <p:spPr>
          <a:xfrm flipV="1">
            <a:off x="376537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4" name="Connector 73"/>
          <p:cNvCxnSpPr/>
          <p:nvPr/>
        </p:nvCxnSpPr>
        <p:spPr>
          <a:xfrm flipV="1">
            <a:off x="3765374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5" name="Connector 74"/>
          <p:cNvCxnSpPr/>
          <p:nvPr/>
        </p:nvCxnSpPr>
        <p:spPr>
          <a:xfrm flipH="1" flipV="1">
            <a:off x="4547146" y="4253374"/>
            <a:ext cx="167200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6" name="Connector 75"/>
          <p:cNvCxnSpPr/>
          <p:nvPr/>
        </p:nvCxnSpPr>
        <p:spPr>
          <a:xfrm flipH="1" flipV="1">
            <a:off x="4622104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7" name="Connector 76"/>
          <p:cNvCxnSpPr/>
          <p:nvPr/>
        </p:nvCxnSpPr>
        <p:spPr>
          <a:xfrm flipV="1">
            <a:off x="4714346" y="4175407"/>
            <a:ext cx="0" cy="21826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8" name="Connector 77"/>
          <p:cNvCxnSpPr/>
          <p:nvPr/>
        </p:nvCxnSpPr>
        <p:spPr>
          <a:xfrm flipV="1">
            <a:off x="4714346" y="4195857"/>
            <a:ext cx="92242" cy="197814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4714346" y="4253374"/>
            <a:ext cx="167199" cy="140297"/>
          </a:xfrm>
          <a:prstGeom prst="line">
            <a:avLst/>
          </a:prstGeom>
          <a:ln w="6350">
            <a:solidFill>
              <a:srgbClr val="A4D2E8"/>
            </a:solidFill>
          </a:ln>
        </p:spPr>
      </p:cxnSp>
      <p:sp>
        <p:nvSpPr>
          <p:cNvPr id="80" name="Isosceles Triangle 79"/>
          <p:cNvSpPr/>
          <p:nvPr/>
        </p:nvSpPr>
        <p:spPr>
          <a:xfrm>
            <a:off x="1598436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Isosceles Triangle 80"/>
          <p:cNvSpPr/>
          <p:nvPr/>
        </p:nvSpPr>
        <p:spPr>
          <a:xfrm>
            <a:off x="2072922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>
            <a:off x="2547408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>
            <a:off x="3021894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Isosceles Triangle 83"/>
          <p:cNvSpPr/>
          <p:nvPr/>
        </p:nvSpPr>
        <p:spPr>
          <a:xfrm>
            <a:off x="3496381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Isosceles Triangle 84"/>
          <p:cNvSpPr/>
          <p:nvPr/>
        </p:nvSpPr>
        <p:spPr>
          <a:xfrm>
            <a:off x="3970867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Isosceles Triangle 85"/>
          <p:cNvSpPr/>
          <p:nvPr/>
        </p:nvSpPr>
        <p:spPr>
          <a:xfrm>
            <a:off x="4445353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Isosceles Triangle 86"/>
          <p:cNvSpPr/>
          <p:nvPr/>
        </p:nvSpPr>
        <p:spPr>
          <a:xfrm>
            <a:off x="4919839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Isosceles Triangle 87"/>
          <p:cNvSpPr/>
          <p:nvPr/>
        </p:nvSpPr>
        <p:spPr>
          <a:xfrm>
            <a:off x="5394325" y="4330171"/>
            <a:ext cx="63500" cy="63500"/>
          </a:xfrm>
          <a:prstGeom prst="triangle">
            <a:avLst/>
          </a:prstGeom>
          <a:solidFill>
            <a:srgbClr val="B6C7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848379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22865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97351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271838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746324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220810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95296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169782" y="4355571"/>
            <a:ext cx="38100" cy="38100"/>
          </a:xfrm>
          <a:prstGeom prst="ellipse">
            <a:avLst/>
          </a:prstGeom>
          <a:solidFill>
            <a:srgbClr val="B6C7C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082043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224389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366735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09081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651426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793772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36118" y="4830057"/>
            <a:ext cx="38100" cy="38100"/>
          </a:xfrm>
          <a:prstGeom prst="ellipse">
            <a:avLst/>
          </a:prstGeom>
          <a:solidFill>
            <a:srgbClr val="A4D2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299200" y="3605742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700" b="0" lang="zh-CN" altLang="en-US">
                <a:solidFill>
                  <a:srgbClr val="829297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29297"/>
                </a:solidFill>
                <a:latin typeface="Consolas"/>
                <a:ea typeface="微软雅黑"/>
                <a:cs typeface="微软雅黑"/>
              </a:rPr>
              <a:t>+150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99200" y="3321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9EB6B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9EB6BC"/>
                </a:solidFill>
                <a:latin typeface="Consolas"/>
                <a:ea typeface="微软雅黑"/>
                <a:cs typeface="微软雅黑"/>
              </a:rPr>
              <a:t>+210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9200" y="2751667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700" b="0" lang="zh-CN" altLang="en-US">
                <a:solidFill>
                  <a:srgbClr val="B6C7CB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B6C7CB"/>
                </a:solidFill>
                <a:latin typeface="Consolas"/>
                <a:ea typeface="微软雅黑"/>
                <a:cs typeface="微软雅黑"/>
              </a:rPr>
              <a:t>+330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99200" y="2419526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700" b="0" lang="zh-CN" altLang="en-US">
                <a:solidFill>
                  <a:srgbClr val="83DFC0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+400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38200" y="5232400"/>
            <a:ext cx="474486" cy="0"/>
          </a:xfrm>
          <a:prstGeom prst="line">
            <a:avLst/>
          </a:prstGeom>
          <a:ln w="9525">
            <a:solidFill>
              <a:srgbClr val="8FA7AA"/>
            </a:solidFill>
          </a:ln>
        </p:spPr>
      </p:cxnSp>
      <p:sp>
        <p:nvSpPr>
          <p:cNvPr id="109" name="TextBox 108"/>
          <p:cNvSpPr txBox="1"/>
          <p:nvPr/>
        </p:nvSpPr>
        <p:spPr>
          <a:xfrm>
            <a:off x="1350786" y="5156200"/>
            <a:ext cx="508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711700" y="1524000"/>
            <a:ext cx="2349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700"/>
              </a:lnSpc>
            </a:pP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大坝宽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同一米尺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700" b="0" lang="zh-CN" altLang="en-US">
                <a:solidFill>
                  <a:srgbClr val="8FA7A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00" b="0" lang="zh-CN" altLang="en-US">
                <a:solidFill>
                  <a:srgbClr val="8FA7AA"/>
                </a:solidFill>
                <a:latin typeface="Consolas"/>
                <a:ea typeface="微软雅黑"/>
                <a:cs typeface="微软雅黑"/>
              </a:rPr>
              <a:t>设计参照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40600" y="14986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40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39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916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98100" y="17526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340600" y="19558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40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39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916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98100" y="20129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340600" y="22860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40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39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9916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98100" y="23431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340600" y="26162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40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39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916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98100" y="26733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340600" y="29464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7340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39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9916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98100" y="300355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E4EDEF">
                    <a:alpha val="85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340600" y="3276600"/>
            <a:ext cx="4089400" cy="6350"/>
          </a:xfrm>
          <a:prstGeom prst="rect">
            <a:avLst/>
          </a:prstGeom>
          <a:solidFill>
            <a:srgbClr val="2B41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40600" y="3479800"/>
            <a:ext cx="4089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sp>
        <p:nvSpPr>
          <p:cNvPr id="138" name="Oval 137"/>
          <p:cNvSpPr/>
          <p:nvPr/>
        </p:nvSpPr>
        <p:spPr>
          <a:xfrm>
            <a:off x="7704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958667" y="3873500"/>
            <a:ext cx="381000" cy="381000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340600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40600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142" name="Oval 141"/>
          <p:cNvSpPr/>
          <p:nvPr/>
        </p:nvSpPr>
        <p:spPr>
          <a:xfrm>
            <a:off x="9032066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246147" y="3817806"/>
            <a:ext cx="492387" cy="492387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03733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703733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146" name="Oval 145"/>
          <p:cNvSpPr/>
          <p:nvPr/>
        </p:nvSpPr>
        <p:spPr>
          <a:xfrm>
            <a:off x="10363441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555937" y="3775256"/>
            <a:ext cx="577488" cy="577488"/>
          </a:xfrm>
          <a:prstGeom prst="ellipse">
            <a:avLst/>
          </a:prstGeom>
          <a:noFill/>
          <a:ln w="10160">
            <a:solidFill>
              <a:srgbClr val="B6C7CB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066867" y="4445000"/>
            <a:ext cx="13631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</a:pPr>
            <a:r>
              <a:rPr sz="1400" b="1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66867" y="4699000"/>
            <a:ext cx="136313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00"/>
              </a:lnSpc>
            </a:pPr>
            <a:r>
              <a:rPr sz="1000" b="0" lang="zh-CN" altLang="en-US">
                <a:solidFill>
                  <a:srgbClr val="B4C5CB"/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960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63906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3" name="Rectangle 152"/>
          <p:cNvSpPr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5496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88442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6" name="Rectangle 155"/>
          <p:cNvSpPr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10032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712978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59" name="Rectangle 158"/>
          <p:cNvSpPr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solidFill>
            <a:srgbClr val="1B2A2F"/>
          </a:solidFill>
          <a:ln w="12700">
            <a:solidFill>
              <a:srgbClr val="00D4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34568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83DFC0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9375140" y="5803900"/>
            <a:ext cx="177800" cy="0"/>
          </a:xfrm>
          <a:prstGeom prst="line">
            <a:avLst/>
          </a:prstGeom>
          <a:ln w="12700">
            <a:solidFill>
              <a:srgbClr val="829297"/>
            </a:solidFill>
            <a:tailEnd type="triangle" w="med" len="med"/>
          </a:ln>
        </p:spPr>
      </p:cxnSp>
      <p:sp>
        <p:nvSpPr>
          <p:cNvPr id="162" name="Rectangle 161"/>
          <p:cNvSpPr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solidFill>
            <a:srgbClr val="1B2A2F"/>
          </a:solidFill>
          <a:ln w="6350">
            <a:solidFill>
              <a:srgbClr val="2B41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591040" y="56134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E4EDEF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p09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41529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203700" y="1812383"/>
            <a:ext cx="1047237" cy="1823538"/>
          </a:xfrm>
          <a:prstGeom prst="rect">
            <a:avLst/>
          </a:prstGeom>
          <a:noFill/>
          <a:ln w="15875">
            <a:solidFill>
              <a:srgbClr val="0FF796">
                <a:alpha val="9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3700" y="1837783"/>
            <a:ext cx="1117600" cy="19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3700" y="1837783"/>
            <a:ext cx="11176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00"/>
              </a:lnSpc>
            </a:pP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9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9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9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模板库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9760" y="1812383"/>
            <a:ext cx="5034426" cy="1852361"/>
          </a:xfrm>
          <a:prstGeom prst="rect">
            <a:avLst/>
          </a:prstGeom>
          <a:noFill/>
          <a:ln w="15875">
            <a:solidFill>
              <a:srgbClr val="0FF796">
                <a:alpha val="9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79760" y="1837783"/>
            <a:ext cx="546100" cy="19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9760" y="1837783"/>
            <a:ext cx="5461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00"/>
              </a:lnSpc>
            </a:pP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舞台预览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57022" y="4452574"/>
            <a:ext cx="6725378" cy="759007"/>
          </a:xfrm>
          <a:prstGeom prst="rect">
            <a:avLst/>
          </a:prstGeom>
          <a:noFill/>
          <a:ln w="15875">
            <a:solidFill>
              <a:srgbClr val="0FF796">
                <a:alpha val="9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7022" y="4477974"/>
            <a:ext cx="736600" cy="19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57022" y="4477974"/>
            <a:ext cx="7366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00"/>
              </a:lnSpc>
            </a:pP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9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121231" y="1401174"/>
            <a:ext cx="461169" cy="153723"/>
          </a:xfrm>
          <a:prstGeom prst="rect">
            <a:avLst/>
          </a:prstGeom>
          <a:noFill/>
          <a:ln w="15875">
            <a:solidFill>
              <a:srgbClr val="0FF796">
                <a:alpha val="9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36300" y="1592997"/>
            <a:ext cx="546100" cy="19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036300" y="1592997"/>
            <a:ext cx="5461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00"/>
              </a:lnSpc>
            </a:pP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900" b="1" lang="zh-CN" altLang="en-US">
                <a:solidFill>
                  <a:srgbClr val="0A0A0A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3700" y="55753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烟花编排工作台整页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B11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2:45.5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高配；绿框编号对应左侧步骤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次提交（含后台自动回传）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f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78400" y="3721100"/>
            <a:ext cx="2032000" cy="2032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gif_rise_ue1.gi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5054600" y="5422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108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资源示例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张；20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种开花有烘焙器导出材料，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种有配方与导出记录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6400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2095500"/>
            <a:ext cx="698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7100" y="1828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1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17700" y="2534232"/>
            <a:ext cx="698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90700" y="2267532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77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1300" y="3154148"/>
            <a:ext cx="698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4300" y="2887448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3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100" y="4064000"/>
            <a:ext cx="2425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1800" y="3139174"/>
            <a:ext cx="698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872474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418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5400" y="3287414"/>
            <a:ext cx="698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78400" y="3020714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54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9000" y="3538974"/>
            <a:ext cx="698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42000" y="3272274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9000" y="3860800"/>
            <a:ext cx="698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1800" y="4064000"/>
            <a:ext cx="2425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3600" y="3810000"/>
            <a:ext cx="5892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3810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3429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72100"/>
            <a:ext cx="3429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每版自动检查；</a:t>
            </a:r>
          </a:p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调整节奏只需重新出表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4533900"/>
            <a:ext cx="24384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6000" y="4699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6000" y="5016500"/>
            <a:ext cx="20955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尚未达到宪章目标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同一时刻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3:05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各档开到最大</a:t>
            </a:r>
          </a:p>
        </p:txBody>
      </p:sp>
      <p:pic>
        <p:nvPicPr>
          <p:cNvPr id="37" name="Picture 36" descr="p13_p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25600"/>
            <a:ext cx="4267200" cy="21336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391400" y="3429000"/>
            <a:ext cx="16129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7391400" y="3429000"/>
            <a:ext cx="16129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朵</a:t>
            </a:r>
          </a:p>
        </p:txBody>
      </p:sp>
      <p:pic>
        <p:nvPicPr>
          <p:cNvPr id="40" name="Picture 39" descr="p13_mob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835400"/>
            <a:ext cx="4267200" cy="21336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7391400" y="5638800"/>
            <a:ext cx="170434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ource_tag"/>
          <p:cNvSpPr txBox="1"/>
          <p:nvPr/>
        </p:nvSpPr>
        <p:spPr>
          <a:xfrm>
            <a:off x="7391400" y="5638800"/>
            <a:ext cx="170434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手游高配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球花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6007100"/>
            <a:ext cx="42672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在线编排方案（B11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1）整场球花最满的时刻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按主题色重新着色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接入成果：批量修正读回一致，叠加开销可查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63700"/>
            <a:ext cx="4064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540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048000"/>
            <a:ext cx="4064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2258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5306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48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3340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规则已内置于导入器，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新资源导入时自动执行</a:t>
            </a:r>
          </a:p>
        </p:txBody>
      </p:sp>
      <p:pic>
        <p:nvPicPr>
          <p:cNvPr id="14" name="Picture 13" descr="p12_overd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304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5257800" y="4076700"/>
            <a:ext cx="19177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Overdraw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视图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600" y="4457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四边形过度绘制视图：开花与扇形同屏，颜色越暖叠加越多，据此定位需要减层的位置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1600" y="4826000"/>
            <a:ext cx="6400800" cy="1244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5600" y="49657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开发机实测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高配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5600" y="5245100"/>
            <a:ext cx="5892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0.08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26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0.50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ms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烟花半透明耗时（7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个时刻）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5600" y="5753100"/>
            <a:ext cx="589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RTX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5080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编辑器视口，非目标机；只用于时刻之间相对比较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gif_sparkler_u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984500"/>
            <a:ext cx="2743200" cy="15430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ource_tag"/>
          <p:cNvSpPr txBox="1"/>
          <p:nvPr/>
        </p:nvSpPr>
        <p:spPr>
          <a:xfrm>
            <a:off x="965200" y="41973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gif_sparkler_replay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810000" cy="3575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f_rise_ue4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810000" cy="3575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ource_tag"/>
          <p:cNvSpPr txBox="1"/>
          <p:nvPr/>
        </p:nvSpPr>
        <p:spPr>
          <a:xfrm>
            <a:off x="685800" y="4603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911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实录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四发升空尾缀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7400" y="1358900"/>
            <a:ext cx="1333500" cy="3575050"/>
          </a:xfrm>
          <a:prstGeom prst="rect">
            <a:avLst/>
          </a:prstGeom>
          <a:solidFill>
            <a:srgbClr val="0E0E1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gif_rise_sim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400" y="1358900"/>
            <a:ext cx="1333500" cy="3575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7400" y="4991100"/>
            <a:ext cx="1333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16637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0701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移动快的阶段多给帧，慢的阶段少给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000" y="2857500"/>
            <a:ext cx="5359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3000" y="28575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600" y="3035300"/>
            <a:ext cx="4978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600" y="3683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档上升段最慢处帧率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1600" y="39751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代价：单格高度降低，近看略软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3000" y="45720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档尾缀按开花高度生成，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与手游使用同一套规则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机制复现（模拟，非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UE）：左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出现黑点；右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末格不黑则没有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394440" y="76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381500"/>
            <a:ext cx="109728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800"/>
              </a:lnSpc>
            </a:pP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8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57150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88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谢谢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欢迎交流</a:t>
            </a:r>
          </a:p>
        </p:txBody>
      </p:sp>
      <p:sp>
        <p:nvSpPr>
          <p:cNvPr id="10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