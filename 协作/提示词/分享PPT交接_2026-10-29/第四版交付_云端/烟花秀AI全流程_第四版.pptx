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秒）</a:t>
            </a:r>
          </a:p>
          <a:p/>
          <a:p>
            <a:r>
              <a:t>大家好，我是____。今天分享这一个多月制作跨年烟花秀的过程。效果制作、资源交付和节目编排三个环节，我都借助 AI 开发了工具。内容分为制作与挑战、解决思路、实践成果、分享与方法四部分。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制作规模：开花 26 种、尾缀 6 档、时长约 220 秒（约 25 秒）</a:t>
            </a:r>
          </a:p>
          <a:p/>
          <a:p>
            <a:r>
              <a:t>先看规模。去年只有 3 种烟花、1 条升空尾缀，节目约 70 秒；今年开花种类增加到 26 种，扇形也在其中，升空尾缀按开花高度分为 6 档，节目约 220 秒，约为去年的 3 倍。PC 与手游还要分别输出，各分画质档位。</a:t>
            </a:r>
          </a:p>
          <a:p/>
          <a:p>
            <a:r>
              <a:t>依据：去年 3 种、1 条尾缀、约 70 秒 = 讲者口述（10-30 01:42、11:07）；编排工作台资源快照（tool/workbench/public/data/resource-catalogue.json，10-09）中「新年烟花2.0」有 1 行拖尾、开花为小/中/大 × 红/黄/白 9 行另加大金。今年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资源交付：出图规格与引擎设置需逐项重复（约 35 秒）</a:t>
            </a:r>
          </a:p>
          <a:p/>
          <a:p>
            <a:r>
              <a:t>规模扩大后，最先暴露的是资源交付中的重复工作。导出时，每种烟花都要确定取景、帧数、格子、打包、Ramp 与 Cutout，并分别输出两个平台；导入时，每个资源又有十余项引擎设置。原来这些都靠人工逐个完成，效果一调整就要重做；漏设一项，就会出现贴图常驻内存、星头方块或最亮处黑块等问题。</a:t>
            </a:r>
          </a:p>
          <a:p/>
          <a:p>
            <a:r>
              <a:t>依据：12 项设置沿用第一版第 3 页（烟花贴图规范与性能组约定、烟花特效资产规范）；项目规则 §2。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编排：定序器手工排轨难以支撑今年规模（约 35 秒）</a:t>
            </a:r>
          </a:p>
          <a:p/>
          <a:p>
            <a:r>
              <a:t>第三个挑战是编排。去年在定序器中手工拼接，共 12 条子序列、两千七百多条轨道，调整一处节奏需要逐条对齐，也无法直观预览整体构图，各画质档还要分别维护；性能组也反馈内存占用偏高。今年节目约 220 秒、24 个发射点位，PC 与手游各分 3 档画质，节奏还要随音乐反复调整，手工排轨的修改成本过高。</a:t>
            </a:r>
          </a:p>
          <a:p/>
          <a:p>
            <a:r>
              <a:t>依据：12 子序列、2726 轨道：UE 只读统计（10-29，第二版核验 A3）；内存偏高 = 性能组口述反馈，无数字。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烟花烘焙器：从模板快速生成效果（约 30 秒）</a:t>
            </a:r>
          </a:p>
          <a:p/>
          <a:p>
            <a:r>
              <a:t>针对制作规模，我让 AI 开发了烟花烘焙器。此前用 AI 脚本驱动 Blender 出图，可以输出，但每轮都要等待渲染，预览也与输出不一致。烘焙器只输出游戏视角所需的序列，内置单层花型模板和多层模板：选择模板、调整参数，就能得到新效果，保存后进入效果库，继续派生和复用。</a:t>
            </a:r>
          </a:p>
          <a:p/>
          <a:p>
            <a:r>
              <a:t>依据：模板数量来自 analysis/results/NF4/缩略图/缩略图.json（4.9.18 统计：花型模板 27、多层模板 30、效果条目 36），之后版本有增减。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导出规范：取景、打包与双平台输出自动完成（约 40 秒）</a:t>
            </a:r>
          </a:p>
          <a:p/>
          <a:p>
            <a:r>
              <a:t>资源交付的问题分导出和导入两步解决。导出规范首先是取景：固定框为默认，随开花放大让开花初期获得更多像素，锚在爆点适合单侧花型；扇形测试中，内容占面片的比例由约两成提高到约四成。之后自动排格打包，一张贴图容纳 64 帧，灰度存储、Ramp 查色，按收益生成 Cutout，PC 与手游同时导出，交付前在引擎回放中复核。</a:t>
            </a:r>
          </a:p>
          <a:p/>
          <a:p>
            <a:r>
              <a:t>依据：tool/CHANGELOG.md 4.9.33、4.9.81（FC6O 取景计划估算 0.20 / 0.21 / 0.41）；spec/cascade_params_v1.md §7、§10；本机 T26 统计正式资源 17 组：固定 10、随开花放大 5、锚点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导入规范：检查、创建、设置与读回由工具完成（约 35 秒）</a:t>
            </a:r>
          </a:p>
          <a:p/>
          <a:p>
            <a:r>
              <a:t>导入由导入器完成，设计参考了原有特效工作台的配表入口。导入器读取素材包，先检查命名、尺寸与规范项，再按平台创建贴图、材质实例和发射器，确认后写入 UE 并读回核对。与性能组确定的贴图规范，以及包围盒、朝向、EmissiveDissolve 等设置，都内置于工具，不再依赖人工记忆。</a:t>
            </a:r>
          </a:p>
          <a:p/>
          <a:p>
            <a:r>
              <a:t>依据：项目规则 §2 烟花贴图规范（v2.31）；spec/workspace_resource_v1.md（检查不写 UE，确认后写入）；截图为特效工作台烟花素材导入页（10-24）。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编排推演：由舞台、花径与点距推导分档和极限帧（约 45 秒）</a:t>
            </a:r>
          </a:p>
          <a:p/>
          <a:p>
            <a:r>
              <a:t>编排先推演规则。舞台为宽约 800 米、高约 150 米的坝体，按约 100 米点距布置主发射点，共 24 个点位。花径约为点距 1.5 倍时可以分辨单花，2 倍以上形成花墙，3 倍左右容易糊成一片。据此把花型分为 S、M、L 和主角四档，确定开花高度，再用极限帧检查同一时刻各档最大展开时的重叠。这些规则写入编排宪章，每版编排自动检查；设计值与实机不同时，以实机校正。</a:t>
            </a:r>
          </a:p>
          <a:p/>
          <a:p>
            <a:r>
              <a:t>依据：对话框22；协作/跨年秀编排宪章.md；第二版重制第 7 页；极限帧设计图为用户 11:07 提供。「极限帧」在仓库中无同名记录，此处按设计图含义理解为同一时刻各档最大展开。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烟花编排工作台：模板、片段到导演表（约 35 秒）</a:t>
            </a:r>
          </a:p>
          <a:p/>
          <a:p>
            <a:r>
              <a:t>规则通过编排工作台落地。资源表中的效果是基础模板；组合尺寸、高度和尾缀后成为花型模板；花型模板放上时间轴形成编排片段，常用组合可以存为编排模板。片段按音乐划分段落，可以按段调整节奏和构图，最后一键生成导演表并导入 UE。编排过程可视化，检查和输出程序化，修改节奏只需重新出表。</a:t>
            </a:r>
          </a:p>
          <a:p/>
          <a:p>
            <a:r>
              <a:t>依据：截图为云端打开 tool/烟花编排工作台.html（16.0.42，节目 B11 修订 3）：基础模板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解决思路：三个问题，三个工具，一条交付链（约 30 秒）</a:t>
            </a:r>
          </a:p>
          <a:p/>
          <a:p>
            <a:r>
              <a:t>汇总起来，三个问题对应三个工具：烘焙器解决制作规模，导入器解决资源交付，编排工作台解决编排，工具之间以固定格式衔接。目标、审美与引擎约束由我确定，工具由 AI 开发，关键结果在 UE 中验收；导演蓝图与程序共同设计，贴图规范与性能组共同确定。</a:t>
            </a:r>
          </a:p>
          <a:p/>
          <a:p>
            <a:r>
              <a:t>依据：约 2200 次提交：第二版核验 verify_A1_A2 §1（含约 350 次显卡后台自动回传）。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资源成果：球花、扇形、尾缀与窜天猴全部入表（约 40 秒）</a:t>
            </a:r>
          </a:p>
          <a:p/>
          <a:p>
            <a:r>
              <a:t>下面看成果。资源方面，进入跨年 3.0 资源表的有球花与扇形共 26 种、升空尾缀 6 档、窜天猴一套；手游覆盖其中 12 种开花、全部尾缀和窜天猴。引用贴图去重共 212 张，其中 PC 专用 133 张、手游专用 33 张、两端共用 46 张。26 种开花中，19 种保留了烘焙器配方与导出记录，可以调参后重新导出。</a:t>
            </a:r>
          </a:p>
          <a:p/>
          <a:p>
            <a:r>
              <a:t>依据：verify_A1_A2 §1、§6；第三版素材/资源分类.md。20 种为找到烘焙器导出材料（19 种有配方与导出记录）。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接入成果：两轮批量修正，读回一致（约 20 秒）</a:t>
            </a:r>
          </a:p>
          <a:p/>
          <a:p>
            <a:r>
              <a:t>接入方面进行过两轮批量修正：贴图规范确定后，149 张贴图批量重设，读回一致；更早一轮修正了 115 个包，读回无错误。这些规则已经内置于导入器，新资源导入时自动执行。</a:t>
            </a:r>
          </a:p>
          <a:p/>
          <a:p>
            <a:r>
              <a:t>依据：analysis/results/TEX_SPEC_20261018/verify.json；资源规范统一_20261016/改后读回.json。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编排成果：同一编排按平台与画质分档输出（约 25 秒）</a:t>
            </a:r>
          </a:p>
          <a:p/>
          <a:p>
            <a:r>
              <a:t>编排方面，共迭代 11 个大版本，每版都有自动检查记录。同一编排按平台和画质分档输出，PC 每场约 1100 到 440 次播放，手游约 450 到 180 次，无需逐档编排。目前节拍对齐指标尚未达到宪章目标，仍在优化。</a:t>
            </a:r>
          </a:p>
          <a:p/>
          <a:p>
            <a:r>
              <a:t>依据：B11 修订 3 编排检查（PC 1145 / 852 / 438，手游 448 / 349 / 181）。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仙女棒：13 类火星合成一张序列（约 35 秒）</a:t>
            </a:r>
          </a:p>
          <a:p/>
          <a:p>
            <a:r>
              <a:t>接下来是两个技术案例。第一个是仙女棒，火星有一级、二级分叉，也有清晰与模糊的层次。以往类似效果，比如现有的窜天猴拖尾，用了 10 个发射器拼合。这次 13 类火星的结构来自我之前的 Blender 工程，AI 将其移植为通用的母子分叉，在烘焙时合成为一张 64 帧序列，每个平台只需一个发射器。</a:t>
            </a:r>
          </a:p>
          <a:p/>
          <a:p>
            <a:r>
              <a:t>依据：verify_A4；动图由导出的 64 帧主序列按顺序播放，Ramp 着色为示意；UE 实录由讲者补。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升空尾缀：近段与远段拆分，按屏幕位移分配帧数（约 30 秒）</a:t>
            </a:r>
          </a:p>
          <a:p/>
          <a:p>
            <a:r>
              <a:t>第二个是升空尾缀。尾缀拆成近段和远段：近段为循环面片，随弹体移动；远段为一次性序列，表现留在空中的老火星。帧数按观看距离换算每帧屏幕位移后分配，快的阶段多给帧、慢的阶段少给，L 档远段上升段的最慢帧率由约 1.9 提高到 30。代价是单格高度降低，近看略软。</a:t>
            </a:r>
          </a:p>
          <a:p/>
          <a:p>
            <a:r>
              <a:t>依据：第二版重制第 13、19 页；tool/src/js/31_plan40.js；tool/CHANGELOG.md 4.9.26、4.9.31；0.77 像素为本项目经验线。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方头与黑块：定位原因，写入导出与导入规则（约 40 秒）</a:t>
            </a:r>
          </a:p>
          <a:p/>
          <a:p>
            <a:r>
              <a:t>排查方面，方头和最亮处黑块是两个典型问题。方头只在低配出现：长条格压扁后采样到低 Mip，星头变方；固定机位与档位对比后定位，PC 主序列改为不使用 Mip。黑块出现在最亮处，看上去是一个个黑点：亮度采样落到 Ramp 末格的黑色，设置 EmissiveDissolve 为 0.98 后解决。两项规则都已写入导出与导入流程。</a:t>
            </a:r>
          </a:p>
          <a:p/>
          <a:p>
            <a:r>
              <a:t>依据：analysis/results/LOWQ_FIX_20261018；analysis/probe/BC7护栏黑块_2026-10-15（机制复现为模拟）；0.98 修法有用户确认（对话框23）。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流程演示：从模板到 UE 播放（约 145 秒）</a:t>
            </a:r>
          </a:p>
          <a:p/>
          <a:p>
            <a:r>
              <a:t>最后用一段录屏演示完整流程：选择模板调参，在引擎回放中复核，同时导出 PC 与手游，经导入器写入 UE，再在编排工作台中排入节目。（播放录屏，约 2 分钟）录屏经过剪辑，实际用时 ×× 分钟。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工作方法：批量需求的三阶段协作（约 50 秒）</a:t>
            </a:r>
          </a:p>
          <a:p/>
          <a:p>
            <a:r>
              <a:t>最后是这一个多月的心得：批量需求可以分三个阶段与 AI 协作。第一，明确需求：定义目标、约束和验收标准，由 AI 梳理所需技术，选择最简可行方案。第二，建立规范：按效果、工具和编排拆分任务，把参数、交互和编排规则写成宪章，每次执行前先读规范与交接。第三，结果把关：先自动检查，再在 UE 验收，执行、自检与验收分开记录，通过的版本锁定复用。工具包我会放在 xx 处，建议从一项重复性工作开始尝试。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0 秒）</a:t>
            </a:r>
          </a:p>
          <a:p/>
          <a:p>
            <a:r>
              <a:t>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gif"/><Relationship Id="rId5" Type="http://schemas.openxmlformats.org/officeDocument/2006/relationships/image" Target="../media/image31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开花种类（含扇形）：去年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6195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600" y="36322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00" y="38862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今年按开花高度分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196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00" y="44323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1600" y="46863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2197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00" y="52324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600" y="54864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分别输出，各分画质档位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690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按花名计；去年数据为讲者统计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pic>
        <p:nvPicPr>
          <p:cNvPr id="13" name="Picture 12" descr="p06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358900"/>
            <a:ext cx="3657600" cy="22669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一张贴图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350000" cy="3841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257800"/>
            <a:ext cx="635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极限帧推演（设计图）：同一时刻各档最大展开时的重叠关系；设计值，实机以实测校正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4400" y="13589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44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2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4400" y="18669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44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2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2225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2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4400" y="25781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44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4400" y="29337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44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4400" y="32893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4400" y="34798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点距</a:t>
            </a:r>
          </a:p>
        </p:txBody>
      </p:sp>
      <p:sp>
        <p:nvSpPr>
          <p:cNvPr id="35" name="Oval 34"/>
          <p:cNvSpPr/>
          <p:nvPr/>
        </p:nvSpPr>
        <p:spPr>
          <a:xfrm>
            <a:off x="7624233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12100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4400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4400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39" name="Oval 38"/>
          <p:cNvSpPr/>
          <p:nvPr/>
        </p:nvSpPr>
        <p:spPr>
          <a:xfrm>
            <a:off x="9023068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65693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3733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3733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43" name="Oval 42"/>
          <p:cNvSpPr/>
          <p:nvPr/>
        </p:nvSpPr>
        <p:spPr>
          <a:xfrm>
            <a:off x="10426409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44571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3067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3067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3906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0" name="Rectangle 49"/>
          <p:cNvSpPr/>
          <p:nvPr/>
        </p:nvSpPr>
        <p:spPr>
          <a:xfrm>
            <a:off x="285496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9306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88442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3" name="Rectangle 52"/>
          <p:cNvSpPr/>
          <p:nvPr/>
        </p:nvSpPr>
        <p:spPr>
          <a:xfrm>
            <a:off x="510032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3842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12978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6" name="Rectangle 55"/>
          <p:cNvSpPr/>
          <p:nvPr/>
        </p:nvSpPr>
        <p:spPr>
          <a:xfrm>
            <a:off x="7345680" y="5575300"/>
            <a:ext cx="1991360" cy="3937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8378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37514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959104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2914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383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基础模板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4" name="Picture 23" descr="p09_f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38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5655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97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6" name="Picture 25" descr="p09_cu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383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0370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492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pic>
        <p:nvPicPr>
          <p:cNvPr id="28" name="Picture 27" descr="p09_deli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6550" y="3810000"/>
            <a:ext cx="3625850" cy="20383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5655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交付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次提交（含后台自动回传）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整场</a:t>
            </a:r>
          </a:p>
        </p:txBody>
      </p:sp>
      <p:pic>
        <p:nvPicPr>
          <p:cNvPr id="16" name="Picture 15" descr="p11_trai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108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资源示例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张；20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种开花有烘焙器导出材料，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种有配方与导出记录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4064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40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8000"/>
            <a:ext cx="4064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2258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306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3340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pic>
        <p:nvPicPr>
          <p:cNvPr id="14" name="Picture 13" descr="p12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35941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257800" y="4622800"/>
            <a:ext cx="13538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5257800" y="4622800"/>
            <a:ext cx="13538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50165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修正后的金垂柳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584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每版自动检查；调整节奏只需重新出表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5016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1525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实录位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781425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讲者补充；来不及可删除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p14_sparkler_13to1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示意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导出贴图，UE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升空尾缀：近段与远段拆分，按屏幕位移分配帧数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5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560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40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3180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45847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循环面片，随弹体移动，表现新喷出的火星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5105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400" y="50165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00" y="52832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一次性序列，表现留在空中的老火星；按火星年龄拆分，非相机远近</a:t>
            </a:r>
          </a:p>
        </p:txBody>
      </p:sp>
      <p:pic>
        <p:nvPicPr>
          <p:cNvPr id="15" name="Picture 14" descr="p15_trail_5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0" y="1358900"/>
            <a:ext cx="1498600" cy="444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00" y="5854700"/>
            <a:ext cx="1498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快的阶段多给帧，慢的阶段少给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档远段上升段最慢帧率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主档：近段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远段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个发射器；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小档与手游：1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个全段发射器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出现黑点；右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末格不黑则没有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