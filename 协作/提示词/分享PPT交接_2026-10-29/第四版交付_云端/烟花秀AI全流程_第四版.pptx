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20 秒）</a:t>
            </a:r>
          </a:p>
          <a:p/>
          <a:p>
            <a:r>
              <a:t>大家好，我是____。今天分享这一个多月制作跨年烟花秀的过程。效果制作、资源交付和节目编排三个环节，我都借助 AI 开发了工具。内容分为制作与挑战、解决思路、实践成果、分享与方法四部分。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制作规模：开花 26 种、尾缀 6 档、时长约 220 秒（约 30 秒）</a:t>
            </a:r>
          </a:p>
          <a:p/>
          <a:p>
            <a:r>
              <a:t>先看规模。图中是今年节目的 UE 实机画面。去年只有 3 种烟花、1 条升空尾缀，节目约 70 秒；今年开花种类增加到 26 种，扇形也在其中，升空尾缀按开花高度分为 6 档，节目约 220 秒，约为去年的 3 倍。PC 与手游还要分别输出，各分画质档位。</a:t>
            </a:r>
          </a:p>
          <a:p/>
          <a:p>
            <a:r>
              <a:t>依据：去年 3 种、1 条尾缀、约 70 秒 = 讲者口述（10-30 01:42、11:07）；编排工作台资源快照（tool/workbench/public/data/resource-catalogue.json，10-09）中「新年烟花2.0」有 1 行拖尾、开花为小/中/大 × 红/黄/白 9 行另加大金。今年 26 种、6 档、219.5 秒：第二版核验 verify_A1_A2 §1、B11 修订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资源交付：出图规格与引擎设置需逐项重复（约 35 秒）</a:t>
            </a:r>
          </a:p>
          <a:p/>
          <a:p>
            <a:r>
              <a:t>规模扩大后，最先暴露的是资源交付中的重复工作。导出时，每种烟花都要确定取景、帧数、格子、打包、Ramp 与 Cutout，并分别输出两个平台；导入时，每个资源又有十余项引擎设置。原来这些都靠人工逐个完成，效果一调整就要重做；漏设一项，就会出现贴图常驻内存、星头方块或最亮处黑块等问题。</a:t>
            </a:r>
          </a:p>
          <a:p/>
          <a:p>
            <a:r>
              <a:t>依据：12 项设置沿用第一版第 3 页（烟花贴图规范与性能组约定、烟花特效资产规范）；项目规则 §2。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编排：定序器手工排轨难以支撑今年规模（约 35 秒）</a:t>
            </a:r>
          </a:p>
          <a:p/>
          <a:p>
            <a:r>
              <a:t>第三个挑战是编排。去年在定序器中手工拼接，共 12 条子序列、两千七百多条轨道，调整一处节奏需要逐条对齐，也无法直观预览整体构图，各画质档还要分别维护；性能组也反馈内存占用偏高。今年节目约 220 秒、24 个发射点位，PC 与手游各分 3 档画质，节奏还要随音乐反复调整，手工排轨的修改成本过高。</a:t>
            </a:r>
          </a:p>
          <a:p/>
          <a:p>
            <a:r>
              <a:t>依据：12 子序列、2726 轨道：UE 只读统计（10-29，第二版核验 A3）；内存偏高 = 性能组口述反馈，无数字。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烟花烘焙器：从模板快速生成效果（约 30 秒）</a:t>
            </a:r>
          </a:p>
          <a:p/>
          <a:p>
            <a:r>
              <a:t>针对制作规模，我让 AI 开发了烟花烘焙器。此前用 AI 脚本驱动 Blender 出图，可以输出，但每轮都要等待渲染，预览也与输出不一致。烘焙器只输出游戏视角所需的序列，内置单层花型模板和多层模板：选择模板、调整参数，就能得到新效果，保存后进入效果库，继续派生和复用。</a:t>
            </a:r>
          </a:p>
          <a:p/>
          <a:p>
            <a:r>
              <a:t>依据：模板数量来自 analysis/results/NF4/缩略图/缩略图.json（4.9.18 统计：花型模板 27、多层模板 30、效果条目 36），之后版本有增减。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导出规范：取景、打包与双平台输出自动完成（约 40 秒）</a:t>
            </a:r>
          </a:p>
          <a:p/>
          <a:p>
            <a:r>
              <a:t>资源交付的问题分导出和导入两步解决。右上角是导出贴图与它的回放。导出规范首先是取景：固定框为默认，随开花放大让开花初期获得更多像素，锚在爆点适合单侧花型；扇形测试中，内容占面片的比例由约两成提高到约四成。之后自动排格打包，一张贴图容纳 64 帧，灰度存储、Ramp 查色，按收益生成 Cutout，PC 与手游同时导出，交付前在引擎回放中复核。</a:t>
            </a:r>
          </a:p>
          <a:p/>
          <a:p>
            <a:r>
              <a:t>依据：tool/CHANGELOG.md 4.9.33、4.9.81（FC6O 取景计划估算 0.20 / 0.21 / 0.41）；spec/cascade_params_v1.md §7、§10；本机 T26 统计正式资源 17 组：固定 10、随开花放大 5、锚点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导入规范：检查、创建、设置与读回由工具完成（约 35 秒）</a:t>
            </a:r>
          </a:p>
          <a:p/>
          <a:p>
            <a:r>
              <a:t>导入由导入器完成，设计参考了原有特效工作台的配表入口。导入器读取素材包，先检查命名、尺寸与规范项，再按平台创建贴图、材质实例和发射器，确认后写入 UE 并读回核对。与性能组确定的贴图规范，以及包围盒、朝向、EmissiveDissolve 等设置，都内置于工具，不再依赖人工记忆。</a:t>
            </a:r>
          </a:p>
          <a:p/>
          <a:p>
            <a:r>
              <a:t>依据：项目规则 §2 烟花贴图规范（v2.31）；spec/workspace_resource_v1.md（检查不写 UE，确认后写入）；截图为特效工作台烟花素材导入页（10-24）。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编排推演：由舞台、花径与点距推导分档和极限帧（约 45 秒）</a:t>
            </a:r>
          </a:p>
          <a:p/>
          <a:p>
            <a:r>
              <a:t>编排先推演规则。舞台为宽约 800 米、高约 150 米的坝体，按约 100 米点距布置主发射点，共 24 个点位。花径约为点距 1.5 倍时可以分辨单花，2 倍以上形成花墙，3 倍左右容易糊成一片。据此把花型分为 S、M、L 和主角四档，确定开花高度，再用极限帧检查同一时刻各档最大展开时的重叠。这些规则写入编排宪章，每版编排自动检查；设计值与实机不同时，以实机校正。</a:t>
            </a:r>
          </a:p>
          <a:p/>
          <a:p>
            <a:r>
              <a:t>依据：对话框22；协作/跨年秀编排宪章.md；第二版重制第 7 页；极限帧示意按用户 11:07 提供的设计图、以编排宪章设计值重绘，配色取自烟花编排工作台设计令牌。「极限帧」在仓库中无同名记录，此处按设计图含义理解为同一时刻各档最大展开。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烟花编排工作台：模板、片段到导演表（约 35 秒）</a:t>
            </a:r>
          </a:p>
          <a:p/>
          <a:p>
            <a:r>
              <a:t>规则通过编排工作台落地。上方是时间轴播放时的舞台预览。资源表中的效果是基础模板；组合尺寸、高度和尾缀后成为花型模板；花型模板放上时间轴形成编排片段，常用组合可以存为编排模板。片段按音乐划分段落，可以按段调整节奏和构图，最后一键生成导演表并导入 UE。编排过程可视化，检查和输出程序化，修改节奏只需重新出表。</a:t>
            </a:r>
          </a:p>
          <a:p/>
          <a:p>
            <a:r>
              <a:t>依据：截图为云端打开 tool/烟花编排工作台.html（16.0.42，节目 B11 修订 3）：基础模板 33、花型模板 97、编排片段 492。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解决思路：三个问题，三个工具，一条交付链（约 30 秒）</a:t>
            </a:r>
          </a:p>
          <a:p/>
          <a:p>
            <a:r>
              <a:t>汇总起来，三个问题对应三个工具：烘焙器解决制作规模，导入器解决资源交付，编排工作台解决编排，工具之间以固定格式衔接。目标、审美与引擎约束由我确定，工具由 AI 开发，关键结果在 UE 中验收；导演蓝图与程序共同设计，贴图规范与性能组共同确定。</a:t>
            </a:r>
          </a:p>
          <a:p/>
          <a:p>
            <a:r>
              <a:t>依据：约 2200 次提交：第二版核验 verify_A1_A2 §1（含约 350 次显卡后台自动回传）。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资源成果：球花、扇形、尾缀与窜天猴全部入表（约 40 秒）</a:t>
            </a:r>
          </a:p>
          <a:p/>
          <a:p>
            <a:r>
              <a:t>下面看成果。资源方面，进入跨年 3.0 资源表的有球花与扇形共 26 种、升空尾缀 6 档、窜天猴一套；手游覆盖其中 12 种开花、全部尾缀和窜天猴。引用贴图去重共 212 张，其中 PC 专用 133 张、手游专用 33 张、两端共用 46 张。26 种开花中，19 种保留了烘焙器配方与导出记录，可以调参后重新导出。</a:t>
            </a:r>
          </a:p>
          <a:p/>
          <a:p>
            <a:r>
              <a:t>依据：verify_A1_A2 §1、§6；第三版素材/资源分类.md。20 种为找到烘焙器导出材料（19 种有配方与导出记录）。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接入成果：两轮批量修正，读回一致（约 50 秒）</a:t>
            </a:r>
          </a:p>
          <a:p/>
          <a:p>
            <a:r>
              <a:t>接入方面进行过两轮批量修正。贴图规范确定后，149 张贴图批量重设：手游主序列 86 张、PC 主序列 40 张、Ramp 23 张，NeverStream 全部关闭、贴图组统一为 DistantVFX，读回一致。更早一轮修正了 115 个包，包括 67 个材质实例的 EmissiveDissolve、47 个粒子系统的固定包围盒，以及发射器的朝向与 UV 翻转，读回无错误。这些规则已经内置于导入器，新资源导入时自动执行。</a:t>
            </a:r>
          </a:p>
          <a:p/>
          <a:p>
            <a:r>
              <a:t>依据：analysis/results/TEX_SPEC_20261018/verify.json（149 行读回，按路径分类：手游 86、PC 40、Ramp 23）；资源规范统一_20261016/说明.md（115 包 = 48 粒子系统 + 67 材质实例）。PC 主序列 NoMip 规则在 10-18 下午另行确定，不在这批读回内。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编排成果：同一编排按平台与画质分档输出（约 30 秒）</a:t>
            </a:r>
          </a:p>
          <a:p/>
          <a:p>
            <a:r>
              <a:t>编排方面，共迭代 11 个大版本，每版都有自动检查记录。同一编排按平台和画质分档输出：PC 高配一场 1145 次播放、中配 852、低配 438；手游 448、349、181，无需逐档编排。目前节拍对齐指标尚未达到宪章目标，仍在优化。</a:t>
            </a:r>
          </a:p>
          <a:p/>
          <a:p>
            <a:r>
              <a:t>依据：B11 修订 3 编排检查（PC 1145 / 852 / 438，手游 448 / 349 / 181）；截图为云端打开离线工作台切换档位。节拍对齐尚未达到宪章目标。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仙女棒：13 类火星合成一张序列（约 35 秒）</a:t>
            </a:r>
          </a:p>
          <a:p/>
          <a:p>
            <a:r>
              <a:t>接下来是两个技术案例。第一个是仙女棒，火星有一级、二级分叉，也有清晰与模糊的层次。以往类似效果，比如现有的窜天猴拖尾，用了 10 个发射器拼合。这次 13 类火星的结构来自我之前的 Blender 工程，AI 将其移植为通用的母子分叉，在烘焙时合成为一张 64 帧序列，每个平台只需一个发射器。</a:t>
            </a:r>
          </a:p>
          <a:p/>
          <a:p>
            <a:r>
              <a:t>依据：verify_A4；动图由导出的 64 帧主序列按顺序播放，Ramp 着色为示意；UE 实录由讲者补。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升空尾缀：近段与远段拆分，按屏幕位移分配帧数（约 35 秒）</a:t>
            </a:r>
          </a:p>
          <a:p/>
          <a:p>
            <a:r>
              <a:t>第二个是升空尾缀。左边两段动图是导出贴图的回放：近段为循环面片，随弹体移动；远段为一次性序列，表现留在空中的老火星；右边是两段在 UE 中合成后的完整尾缀。帧数按观看距离换算每帧屏幕位移后分配，快的阶段多给帧、慢的阶段少给，L 档远段上升段的最慢帧率由约 1.9 提高到 30。代价是单格高度降低，近看略软。</a:t>
            </a:r>
          </a:p>
          <a:p/>
          <a:p>
            <a:r>
              <a:t>依据：第二版重制第 13、19 页；tool/src/js/31_plan40.js；tool/CHANGELOG.md 4.9.26、4.9.31；0.77 像素为本项目经验线。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方头与黑块：定位原因，写入导出与导入规则（约 40 秒）</a:t>
            </a:r>
          </a:p>
          <a:p/>
          <a:p>
            <a:r>
              <a:t>排查方面，方头和最亮处黑块是两个典型问题。方头只在低配出现：长条格压扁后采样到低 Mip，星头变方；固定机位与档位对比后定位，PC 主序列改为不使用 Mip。黑块出现在最亮处，看上去是一个个黑点：亮度采样落到 Ramp 末格的黑色，设置 EmissiveDissolve 为 0.98 后解决。两项规则都已写入导出与导入流程。</a:t>
            </a:r>
          </a:p>
          <a:p/>
          <a:p>
            <a:r>
              <a:t>依据：analysis/results/LOWQ_FIX_20261018；analysis/probe/BC7护栏黑块_2026-10-15（机制复现为模拟）；0.98 修法有用户确认（对话框23）。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流程演示：从模板到 UE 播放（约 145 秒）</a:t>
            </a:r>
          </a:p>
          <a:p/>
          <a:p>
            <a:r>
              <a:t>最后用一段录屏演示完整流程：选择模板调参，在引擎回放中复核，同时导出 PC 与手游，经导入器写入 UE，再在编排工作台中排入节目。（播放录屏，约 2 分钟）录屏经过剪辑，实际用时 ×× 分钟。</a:t>
            </a:r>
          </a:p>
          <a:p/>
          <a:p>
            <a:r>
              <a:t>依据：录屏由讲者提供。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工作方法：批量需求的三阶段协作（约 50 秒）</a:t>
            </a:r>
          </a:p>
          <a:p/>
          <a:p>
            <a:r>
              <a:t>最后是这一个多月的心得：批量需求可以分三个阶段与 AI 协作。第一，明确需求：定义目标、约束和验收标准，由 AI 梳理所需技术，选择最简可行方案。第二，建立规范：按效果、工具和编排拆分任务，把参数、交互和编排规则写成宪章，每次执行前先读规范与交接。第三，结果把关：先自动检查，再在 UE 验收，执行、自检与验收分开记录，通过的版本锁定复用。工具包我会放在 xx 处，建议从一项重复性工作开始尝试。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Thank You（约 5 秒）</a:t>
            </a:r>
          </a:p>
          <a:p/>
          <a:p>
            <a:r>
              <a:t>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gif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11.gif"/><Relationship Id="rId5" Type="http://schemas.openxmlformats.org/officeDocument/2006/relationships/image" Target="../media/image28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gif"/><Relationship Id="rId3" Type="http://schemas.openxmlformats.org/officeDocument/2006/relationships/image" Target="../media/image30.gif"/><Relationship Id="rId4" Type="http://schemas.openxmlformats.org/officeDocument/2006/relationships/image" Target="../media/image31.jp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000" y="0"/>
            <a:ext cx="6985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94440" y="65278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ource_tag"/>
          <p:cNvSpPr txBox="1"/>
          <p:nvPr/>
        </p:nvSpPr>
        <p:spPr>
          <a:xfrm>
            <a:off x="11394440" y="65278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700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625600"/>
            <a:ext cx="4572000" cy="171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96"/>
              </a:lnSpc>
            </a:pPr>
            <a:r>
              <a:rPr sz="5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</a:p>
          <a:p>
            <a:pPr algn="l">
              <a:lnSpc>
                <a:spcPts val="6496"/>
              </a:lnSpc>
            </a:pPr>
            <a:r>
              <a:rPr sz="5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4290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911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1275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914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7100" y="4914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制作与挑战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1943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51943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473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100" y="5473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7531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100" y="5753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  <p:sp>
        <p:nvSpPr>
          <p:cNvPr id="18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制作规模：开花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种、尾缀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档、时长约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7500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7500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游戏内实机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今年节目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7145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828800"/>
            <a:ext cx="42672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开花种类（含扇形）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0701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24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8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13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2895600"/>
            <a:ext cx="42672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369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50"/>
              </a:lnSpc>
            </a:pPr>
            <a:r>
              <a:rPr sz="24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8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8481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3962400"/>
            <a:ext cx="42672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2037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50"/>
              </a:lnSpc>
            </a:pPr>
            <a:r>
              <a:rPr sz="24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4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4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8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3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9149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5029200"/>
            <a:ext cx="42672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输出平台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2705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50"/>
              </a:lnSpc>
            </a:pPr>
            <a:r>
              <a:rPr sz="3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905500"/>
            <a:ext cx="42672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花型按花名计；去年数据为讲者统计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资源交付：出图规格与引擎设置需逐项重复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9100" y="1358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87500"/>
            <a:ext cx="60452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9100" y="1587500"/>
            <a:ext cx="48133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渲染出图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62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18415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69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取景裁切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81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30734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88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00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43053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07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419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55372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26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738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67691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45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合入工程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57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80010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64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376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92329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3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逐项设置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695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104648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02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24892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每种烟花需确定的规格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取景与爆点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5905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335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5275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9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格子排布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5905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335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275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多帧打包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39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5905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7335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5275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4400" y="2489200"/>
            <a:ext cx="685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每个资源需完成的设置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387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8100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033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54333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33733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DistantVFX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9967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9367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24400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87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8100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手游主序列带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0033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4333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33733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手游最大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55667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69967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49367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手游压缩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ASTC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24400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387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18100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Clamp、NoMip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033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54333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33733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55667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9967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9367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24400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38700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18100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翻转方式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4333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33733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55667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69967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49367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3086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9600" y="54483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原有方式：以上步骤逐个资源手工完成，效果一调整就需重做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漏设一项即出现问题：贴图常驻内存、星头方块、最亮处黑块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编排：定序器手工排轨难以支撑今年规模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2726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条轨道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2796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0300" y="21971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调整节奏需逐条对齐轨道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5717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0300" y="24892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无法直观预览整体构图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8638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0300" y="27813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各画质档需分别维护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1559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0300" y="30734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内存占用偏高（性能组反馈）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5306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3708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0005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秒节目时长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31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965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5245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节奏需随音乐反复调整，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手工排轨的修改成本过高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烟花烘焙器：从模板快速生成效果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此前尝试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脚本驱动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4066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3241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每轮等待离线渲染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27368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26543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预览与输出不一致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111500"/>
            <a:ext cx="27813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32766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3568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822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实时调参；导出后在烘焙器内回放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4330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快速输出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" y="4584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即改即看，直接输出引擎格式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5092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项目定制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5346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按本项目舞台、视距与规范</a:t>
            </a:r>
          </a:p>
        </p:txBody>
      </p:sp>
      <p:pic>
        <p:nvPicPr>
          <p:cNvPr id="21" name="Picture 20" descr="p05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95500"/>
          </a:xfrm>
          <a:prstGeom prst="rect">
            <a:avLst/>
          </a:prstGeom>
        </p:spPr>
      </p:pic>
      <p:pic>
        <p:nvPicPr>
          <p:cNvPr id="22" name="Picture 21" descr="p05_mult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95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单层花型模板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种（4.9.18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统计）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655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多层模板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种（4.9.18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统计）</a:t>
            </a:r>
          </a:p>
        </p:txBody>
      </p:sp>
      <p:pic>
        <p:nvPicPr>
          <p:cNvPr id="25" name="Picture 24" descr="p05_fx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95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03700" y="59563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效果库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基于模板调出的效果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550" y="38100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制作流程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6550" y="41275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550" y="41275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0" y="41275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6300" y="44958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7956550" y="45847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550" y="45847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4550" y="45847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调整参数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66300" y="49530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6" name="Rectangle 35"/>
          <p:cNvSpPr/>
          <p:nvPr/>
        </p:nvSpPr>
        <p:spPr>
          <a:xfrm>
            <a:off x="7956550" y="50419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550" y="50419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4550" y="50419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保存为效果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66300" y="54102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40" name="Rectangle 39"/>
          <p:cNvSpPr/>
          <p:nvPr/>
        </p:nvSpPr>
        <p:spPr>
          <a:xfrm>
            <a:off x="7956550" y="54991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550" y="54991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4550" y="54991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派生与复用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导出规范：取景、打包与双平台输出自动完成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6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286000" cy="1739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8" name="Picture 7" descr="p06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358900"/>
            <a:ext cx="2286000" cy="1739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0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0" name="Picture 9" descr="p06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358900"/>
            <a:ext cx="2286000" cy="1739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479800"/>
            <a:ext cx="716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取景示意：扇形开满时刻，绿点为爆点；数字为扇形测试中内容占面片的比例（中位数）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4800" y="1358900"/>
            <a:ext cx="3657600" cy="2266950"/>
          </a:xfrm>
          <a:prstGeom prst="rect">
            <a:avLst/>
          </a:prstGeom>
          <a:solidFill>
            <a:srgbClr val="0A0A0A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p06_shee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8300" y="1422400"/>
            <a:ext cx="3530600" cy="882650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>
            <a:off x="8509000" y="2362200"/>
            <a:ext cx="0" cy="241300"/>
          </a:xfrm>
          <a:prstGeom prst="line">
            <a:avLst/>
          </a:prstGeom>
          <a:ln w="12700">
            <a:solidFill>
              <a:srgbClr val="F5F5F5">
                <a:alpha val="50000"/>
              </a:srgbClr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7988300" y="2667000"/>
            <a:ext cx="127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按导出贴图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逐帧回放</a:t>
            </a:r>
          </a:p>
        </p:txBody>
      </p:sp>
      <p:pic>
        <p:nvPicPr>
          <p:cNvPr id="17" name="Picture 16" descr="gif_sparkler.g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2362200"/>
            <a:ext cx="1219200" cy="1219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24800" y="3683000"/>
            <a:ext cx="3657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导出的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帧贴图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回放复核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仙女棒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4127500"/>
            <a:ext cx="38100" cy="133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三种方式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按花型选择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53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077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77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烘焙后收紧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77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按每帧内容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二次收紧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10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34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4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34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按形状排格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每张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468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992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92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灰度查色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按收益生成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925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449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449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449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同时输出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382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906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906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回放复核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06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在烘焙器内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按导出贴图回放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56515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原本手工完成的取景、排格与合通道，现在每次导出自动执行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导入规范：检查、创建、设置与读回由工具完成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7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烟花素材导入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3589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读取素材包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6637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烘焙器导出后直接进入导入清单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352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2606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检查规范项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5654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命名、尺寸、平台，不合格先拦截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36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1623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创建与设置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4671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按平台创建贴图、材质实例、发射器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038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064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确认写入，读回核对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4368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检查阶段不修改工程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1181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内置于工具的引擎规范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贴图组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≤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Clamp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翻转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编排推演：由舞台、花径与点距推导分档和极限帧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4064000"/>
          </a:xfrm>
          <a:prstGeom prst="rect">
            <a:avLst/>
          </a:prstGeom>
          <a:solidFill>
            <a:srgbClr val="111D21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1200" y="1460500"/>
            <a:ext cx="6413500" cy="3860800"/>
          </a:xfrm>
          <a:prstGeom prst="rect">
            <a:avLst/>
          </a:prstGeom>
          <a:solidFill>
            <a:srgbClr val="101A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66800" y="5105400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762000" y="5016500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4393671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62000" y="4304771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66800" y="3681942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62000" y="3593042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300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6800" y="2970212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2000" y="2881312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450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66800" y="2258483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762000" y="2169583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600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30186" y="4393671"/>
            <a:ext cx="3795889" cy="711729"/>
          </a:xfrm>
          <a:prstGeom prst="rect">
            <a:avLst/>
          </a:prstGeom>
          <a:solidFill>
            <a:srgbClr val="1E3036"/>
          </a:solidFill>
          <a:ln w="9525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2341915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053644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002617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14346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3053644" y="4868157"/>
            <a:ext cx="948972" cy="237243"/>
          </a:xfrm>
          <a:prstGeom prst="rect">
            <a:avLst/>
          </a:prstGeom>
          <a:noFill/>
          <a:ln w="762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76875" y="4406371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坝顶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0717" y="4715757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前台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867429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341915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816401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290888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765374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4239860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4714346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5188832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2104672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053644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002617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4951589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8" name="Connector 37"/>
          <p:cNvCxnSpPr/>
          <p:nvPr/>
        </p:nvCxnSpPr>
        <p:spPr>
          <a:xfrm flipV="1">
            <a:off x="1630186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2579158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0" name="Connector 39"/>
          <p:cNvCxnSpPr/>
          <p:nvPr/>
        </p:nvCxnSpPr>
        <p:spPr>
          <a:xfrm flipV="1">
            <a:off x="4477103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5426075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528131" y="2495726"/>
            <a:ext cx="0" cy="1897945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1653910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128397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02883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077369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551855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026341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00827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75313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748808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97780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46752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95724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84527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033499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931444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880416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863850" y="1831446"/>
            <a:ext cx="1328561" cy="1328561"/>
          </a:xfrm>
          <a:prstGeom prst="ellipse">
            <a:avLst/>
          </a:prstGeom>
          <a:solidFill>
            <a:srgbClr val="83DFC0">
              <a:alpha val="12000"/>
            </a:srgbClr>
          </a:solidFill>
          <a:ln w="15240">
            <a:solidFill>
              <a:srgbClr val="83DFC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H="1" flipV="1">
            <a:off x="2174716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1" name="Connector 60"/>
          <p:cNvCxnSpPr/>
          <p:nvPr/>
        </p:nvCxnSpPr>
        <p:spPr>
          <a:xfrm flipH="1" flipV="1">
            <a:off x="2249673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2341915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3" name="Connector 62"/>
          <p:cNvCxnSpPr/>
          <p:nvPr/>
        </p:nvCxnSpPr>
        <p:spPr>
          <a:xfrm flipV="1">
            <a:off x="2341915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4" name="Connector 63"/>
          <p:cNvCxnSpPr/>
          <p:nvPr/>
        </p:nvCxnSpPr>
        <p:spPr>
          <a:xfrm flipV="1">
            <a:off x="2341915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5" name="Connector 64"/>
          <p:cNvCxnSpPr/>
          <p:nvPr/>
        </p:nvCxnSpPr>
        <p:spPr>
          <a:xfrm flipH="1" flipV="1">
            <a:off x="3123688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6" name="Connector 65"/>
          <p:cNvCxnSpPr/>
          <p:nvPr/>
        </p:nvCxnSpPr>
        <p:spPr>
          <a:xfrm flipH="1" flipV="1">
            <a:off x="3198645" y="4195857"/>
            <a:ext cx="92243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7" name="Connector 66"/>
          <p:cNvCxnSpPr/>
          <p:nvPr/>
        </p:nvCxnSpPr>
        <p:spPr>
          <a:xfrm flipV="1">
            <a:off x="3290888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8" name="Connector 67"/>
          <p:cNvCxnSpPr/>
          <p:nvPr/>
        </p:nvCxnSpPr>
        <p:spPr>
          <a:xfrm flipV="1">
            <a:off x="3290888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9" name="Connector 68"/>
          <p:cNvCxnSpPr/>
          <p:nvPr/>
        </p:nvCxnSpPr>
        <p:spPr>
          <a:xfrm flipV="1">
            <a:off x="3290888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0" name="Connector 69"/>
          <p:cNvCxnSpPr/>
          <p:nvPr/>
        </p:nvCxnSpPr>
        <p:spPr>
          <a:xfrm flipH="1" flipV="1">
            <a:off x="3598174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1" name="Connector 70"/>
          <p:cNvCxnSpPr/>
          <p:nvPr/>
        </p:nvCxnSpPr>
        <p:spPr>
          <a:xfrm flipH="1" flipV="1">
            <a:off x="3673131" y="4195857"/>
            <a:ext cx="92243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2" name="Connector 71"/>
          <p:cNvCxnSpPr/>
          <p:nvPr/>
        </p:nvCxnSpPr>
        <p:spPr>
          <a:xfrm flipV="1">
            <a:off x="3765374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3" name="Connector 72"/>
          <p:cNvCxnSpPr/>
          <p:nvPr/>
        </p:nvCxnSpPr>
        <p:spPr>
          <a:xfrm flipV="1">
            <a:off x="3765374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4" name="Connector 73"/>
          <p:cNvCxnSpPr/>
          <p:nvPr/>
        </p:nvCxnSpPr>
        <p:spPr>
          <a:xfrm flipV="1">
            <a:off x="3765374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5" name="Connector 74"/>
          <p:cNvCxnSpPr/>
          <p:nvPr/>
        </p:nvCxnSpPr>
        <p:spPr>
          <a:xfrm flipH="1" flipV="1">
            <a:off x="4547146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6" name="Connector 75"/>
          <p:cNvCxnSpPr/>
          <p:nvPr/>
        </p:nvCxnSpPr>
        <p:spPr>
          <a:xfrm flipH="1" flipV="1">
            <a:off x="4622104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4714346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8" name="Connector 77"/>
          <p:cNvCxnSpPr/>
          <p:nvPr/>
        </p:nvCxnSpPr>
        <p:spPr>
          <a:xfrm flipV="1">
            <a:off x="4714346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9" name="Connector 78"/>
          <p:cNvCxnSpPr/>
          <p:nvPr/>
        </p:nvCxnSpPr>
        <p:spPr>
          <a:xfrm flipV="1">
            <a:off x="4714346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sp>
        <p:nvSpPr>
          <p:cNvPr id="80" name="Isosceles Triangle 79"/>
          <p:cNvSpPr/>
          <p:nvPr/>
        </p:nvSpPr>
        <p:spPr>
          <a:xfrm>
            <a:off x="1598436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Isosceles Triangle 80"/>
          <p:cNvSpPr/>
          <p:nvPr/>
        </p:nvSpPr>
        <p:spPr>
          <a:xfrm>
            <a:off x="2072922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Isosceles Triangle 81"/>
          <p:cNvSpPr/>
          <p:nvPr/>
        </p:nvSpPr>
        <p:spPr>
          <a:xfrm>
            <a:off x="2547408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Isosceles Triangle 82"/>
          <p:cNvSpPr/>
          <p:nvPr/>
        </p:nvSpPr>
        <p:spPr>
          <a:xfrm>
            <a:off x="3021894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Isosceles Triangle 83"/>
          <p:cNvSpPr/>
          <p:nvPr/>
        </p:nvSpPr>
        <p:spPr>
          <a:xfrm>
            <a:off x="3496381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Isosceles Triangle 84"/>
          <p:cNvSpPr/>
          <p:nvPr/>
        </p:nvSpPr>
        <p:spPr>
          <a:xfrm>
            <a:off x="3970867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Isosceles Triangle 85"/>
          <p:cNvSpPr/>
          <p:nvPr/>
        </p:nvSpPr>
        <p:spPr>
          <a:xfrm>
            <a:off x="4445353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Isosceles Triangle 86"/>
          <p:cNvSpPr/>
          <p:nvPr/>
        </p:nvSpPr>
        <p:spPr>
          <a:xfrm>
            <a:off x="4919839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Isosceles Triangle 87"/>
          <p:cNvSpPr/>
          <p:nvPr/>
        </p:nvSpPr>
        <p:spPr>
          <a:xfrm>
            <a:off x="5394325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848379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22865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797351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271838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746324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220810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695296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169782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082043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224389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366735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09081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651426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793772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36118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99200" y="3605742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29297"/>
                </a:solidFill>
                <a:latin typeface="Consolas"/>
                <a:ea typeface="微软雅黑"/>
                <a:cs typeface="微软雅黑"/>
              </a:rPr>
              <a:t>S</a:t>
            </a:r>
            <a:r>
              <a:rPr sz="700" b="0" lang="zh-CN" altLang="en-US">
                <a:solidFill>
                  <a:srgbClr val="829297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29297"/>
                </a:solidFill>
                <a:latin typeface="Consolas"/>
                <a:ea typeface="微软雅黑"/>
                <a:cs typeface="微软雅黑"/>
              </a:rPr>
              <a:t>+150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99200" y="3321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9EB6BC"/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700" b="0" lang="zh-CN" altLang="en-US">
                <a:solidFill>
                  <a:srgbClr val="9EB6BC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9EB6BC"/>
                </a:solidFill>
                <a:latin typeface="Consolas"/>
                <a:ea typeface="微软雅黑"/>
                <a:cs typeface="微软雅黑"/>
              </a:rPr>
              <a:t>+210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9200" y="2751667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B6C7CB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700" b="0" lang="zh-CN" altLang="en-US">
                <a:solidFill>
                  <a:srgbClr val="B6C7CB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B6C7CB"/>
                </a:solidFill>
                <a:latin typeface="Consolas"/>
                <a:ea typeface="微软雅黑"/>
                <a:cs typeface="微软雅黑"/>
              </a:rPr>
              <a:t>+330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99200" y="2419526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700" b="0" lang="zh-CN" altLang="en-US">
                <a:solidFill>
                  <a:srgbClr val="83DFC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+400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838200" y="5232400"/>
            <a:ext cx="474486" cy="0"/>
          </a:xfrm>
          <a:prstGeom prst="line">
            <a:avLst/>
          </a:prstGeom>
          <a:ln w="9525">
            <a:solidFill>
              <a:srgbClr val="8FA7AA"/>
            </a:solidFill>
          </a:ln>
        </p:spPr>
      </p:cxnSp>
      <p:sp>
        <p:nvSpPr>
          <p:cNvPr id="109" name="TextBox 108"/>
          <p:cNvSpPr txBox="1"/>
          <p:nvPr/>
        </p:nvSpPr>
        <p:spPr>
          <a:xfrm>
            <a:off x="1350786" y="51562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11700" y="1524000"/>
            <a:ext cx="23495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大坝宽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同一米尺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设计参照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40600" y="1498600"/>
            <a:ext cx="4089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406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391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916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981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340600" y="19558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406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0391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916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981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340600" y="22860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406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391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9916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981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340600" y="26162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3406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391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916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981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340600" y="29464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3406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391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9916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981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40600" y="32766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40600" y="3479800"/>
            <a:ext cx="4089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sp>
        <p:nvSpPr>
          <p:cNvPr id="138" name="Oval 137"/>
          <p:cNvSpPr/>
          <p:nvPr/>
        </p:nvSpPr>
        <p:spPr>
          <a:xfrm>
            <a:off x="7704667" y="3873500"/>
            <a:ext cx="381000" cy="381000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958667" y="3873500"/>
            <a:ext cx="381000" cy="381000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340600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40600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可分辨单花</a:t>
            </a:r>
          </a:p>
        </p:txBody>
      </p:sp>
      <p:sp>
        <p:nvSpPr>
          <p:cNvPr id="142" name="Oval 141"/>
          <p:cNvSpPr/>
          <p:nvPr/>
        </p:nvSpPr>
        <p:spPr>
          <a:xfrm>
            <a:off x="9032066" y="3817806"/>
            <a:ext cx="492387" cy="492387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246147" y="3817806"/>
            <a:ext cx="492387" cy="492387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03733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703733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形成花墙</a:t>
            </a:r>
          </a:p>
        </p:txBody>
      </p:sp>
      <p:sp>
        <p:nvSpPr>
          <p:cNvPr id="146" name="Oval 145"/>
          <p:cNvSpPr/>
          <p:nvPr/>
        </p:nvSpPr>
        <p:spPr>
          <a:xfrm>
            <a:off x="10363441" y="3775256"/>
            <a:ext cx="577488" cy="577488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555937" y="3775256"/>
            <a:ext cx="577488" cy="577488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066867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3.0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066867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容易糊成一片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0960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960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63906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3" name="Rectangle 152"/>
          <p:cNvSpPr/>
          <p:nvPr/>
        </p:nvSpPr>
        <p:spPr>
          <a:xfrm>
            <a:off x="285496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85496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分档与高度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488442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6" name="Rectangle 155"/>
          <p:cNvSpPr/>
          <p:nvPr/>
        </p:nvSpPr>
        <p:spPr>
          <a:xfrm>
            <a:off x="510032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10032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极限帧检查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712978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9" name="Rectangle 158"/>
          <p:cNvSpPr/>
          <p:nvPr/>
        </p:nvSpPr>
        <p:spPr>
          <a:xfrm>
            <a:off x="7345680" y="5613400"/>
            <a:ext cx="1991360" cy="381000"/>
          </a:xfrm>
          <a:prstGeom prst="rect">
            <a:avLst/>
          </a:prstGeom>
          <a:solidFill>
            <a:srgbClr val="1B2A2F"/>
          </a:solidFill>
          <a:ln w="12700">
            <a:solidFill>
              <a:srgbClr val="00D4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34568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937514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62" name="Rectangle 161"/>
          <p:cNvSpPr/>
          <p:nvPr/>
        </p:nvSpPr>
        <p:spPr>
          <a:xfrm>
            <a:off x="959104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59104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烟花编排工作台：模板、片段到导演表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589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基础模板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37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资源表中的效果，统一比例参照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3900" y="17653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09600" y="24003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257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花型模板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305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组合尺寸、高度与尾缀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900" y="28321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4671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925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973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模板放上时间轴，按音乐分段调整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3900" y="38989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9600" y="4533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593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641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一键生成三张表，导入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896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可视化编排，程序化检查与输出</a:t>
            </a:r>
          </a:p>
        </p:txBody>
      </p:sp>
      <p:pic>
        <p:nvPicPr>
          <p:cNvPr id="22" name="Picture 21" descr="gif_stage_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7378700" cy="207691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486618"/>
            <a:ext cx="73787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编排片段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时间轴播放时的舞台预览（PC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高配，B11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修订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3）</a:t>
            </a:r>
          </a:p>
        </p:txBody>
      </p:sp>
      <p:pic>
        <p:nvPicPr>
          <p:cNvPr id="24" name="Picture 23" descr="p09_b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3810000"/>
            <a:ext cx="2349500" cy="1905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03700" y="5765800"/>
            <a:ext cx="2349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基础模板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pic>
        <p:nvPicPr>
          <p:cNvPr id="26" name="Picture 25" descr="p09_flow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8300" y="3810000"/>
            <a:ext cx="2349500" cy="1905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18300" y="5765800"/>
            <a:ext cx="2349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97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pic>
        <p:nvPicPr>
          <p:cNvPr id="28" name="Picture 27" descr="p09_deli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2900" y="3810000"/>
            <a:ext cx="2349500" cy="1905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232900" y="5765800"/>
            <a:ext cx="2349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交付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导演表与节目清单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汇总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解决思路：三个问题，三个工具，一条交付链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模板生成效果，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按规范导出两套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检查、创建、设置，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推演规则，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10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按三张表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080000"/>
            <a:ext cx="5842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目标、审美与引擎约束由我确定；工具由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开发，关键结果在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一人对接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AI；仓库约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次提交（含后台自动回传）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跨组协作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080000"/>
            <a:ext cx="3810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资源成果：球花、扇形、尾缀与窜天猴全部入表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1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524000" cy="152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29337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金蕊柠</a:t>
            </a:r>
          </a:p>
        </p:txBody>
      </p:sp>
      <p:pic>
        <p:nvPicPr>
          <p:cNvPr id="8" name="Picture 7" descr="p11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1358900"/>
            <a:ext cx="1524000" cy="1524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35200" y="29337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金锦菊</a:t>
            </a:r>
          </a:p>
        </p:txBody>
      </p:sp>
      <p:pic>
        <p:nvPicPr>
          <p:cNvPr id="10" name="Picture 9" descr="p11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0800" y="1358900"/>
            <a:ext cx="1524000" cy="15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60800" y="29337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pic>
        <p:nvPicPr>
          <p:cNvPr id="12" name="Picture 11" descr="p11_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58900"/>
            <a:ext cx="1524000" cy="152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0" y="29337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小金花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1750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球花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资产试放</a:t>
            </a:r>
          </a:p>
        </p:txBody>
      </p:sp>
      <p:pic>
        <p:nvPicPr>
          <p:cNvPr id="15" name="Picture 14" descr="p11_stri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505200"/>
            <a:ext cx="6400800" cy="228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58420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扇形与升空尾缀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实机（今年节目）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6510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种开花（球花与扇形）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0193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3876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9210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2131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5814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9497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44831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46355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引用贴图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914900"/>
            <a:ext cx="4267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共用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219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去重共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张；20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种开花有烘焙器导出材料，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其中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种有配方与导出记录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接入成果：两轮批量修正，读回一致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953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贴图规范确定后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638300"/>
            <a:ext cx="4953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2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2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张贴图读回一致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67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类别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6100" y="2667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7600" y="2667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7100" y="2667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贴图组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3100" y="2667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寻址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895600"/>
            <a:ext cx="4953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71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6100" y="2971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7600" y="2971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7100" y="2971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100" y="2971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Wrap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276600"/>
            <a:ext cx="4953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352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16100" y="3352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87600" y="3352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7100" y="3352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3100" y="3352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Wrap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657600"/>
            <a:ext cx="4953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3733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16100" y="3733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00" y="3733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67100" y="3733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3100" y="3733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Clamp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038600"/>
            <a:ext cx="4953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4102100"/>
            <a:ext cx="4953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读回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共用贴图单独列出，不随之修改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4600" y="1358900"/>
            <a:ext cx="5257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粒子与材质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600" y="1638300"/>
            <a:ext cx="52578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个包读回无错误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600" y="26670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设置项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4600" y="26670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数量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24600" y="2895600"/>
            <a:ext cx="5257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4600" y="29718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4600" y="2971800"/>
            <a:ext cx="271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4600" y="3276600"/>
            <a:ext cx="5257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4600" y="33528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4600" y="3352800"/>
            <a:ext cx="271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24600" y="3657600"/>
            <a:ext cx="5257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24600" y="37338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FacingCameraPosition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4600" y="3733800"/>
            <a:ext cx="271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24600" y="4038600"/>
            <a:ext cx="5257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24600" y="41148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随机翻转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4600" y="4114800"/>
            <a:ext cx="271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24600" y="4419600"/>
            <a:ext cx="5257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9600" y="5207000"/>
            <a:ext cx="10972800" cy="863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9600" y="5207000"/>
            <a:ext cx="38100" cy="863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3600" y="5207000"/>
            <a:ext cx="10464800" cy="86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以上规则已内置于导入器：新资源导入时按平台自动设置，并读回核对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编排成果：同一编排按平台与画质分档输出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5600" y="2095500"/>
            <a:ext cx="952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8600" y="1828800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2100" y="2534232"/>
            <a:ext cx="952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5100" y="2267532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8600" y="3154148"/>
            <a:ext cx="952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1600" y="2887448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1100" y="3139174"/>
            <a:ext cx="952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4100" y="28724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7600" y="3287414"/>
            <a:ext cx="952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0600" y="302071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4100" y="3538974"/>
            <a:ext cx="952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7100" y="32722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4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11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3810000"/>
            <a:ext cx="944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64008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72100"/>
            <a:ext cx="584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每版自动检查；调整节奏只需在工作台改完重新出表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533900"/>
            <a:ext cx="42672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9200" y="4699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9200" y="50165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节拍对齐指标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尚未达到宪章目标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类火星合成一张序列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494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3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1525"/>
            <a:ext cx="22352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实录位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3781425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讲者补充；来不及可删除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699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49276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窜天猴拖尾用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个发射器拼合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52705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本次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54991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通用母子分叉，烘焙时合成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类火星（源自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工程）</a:t>
            </a:r>
          </a:p>
        </p:txBody>
      </p:sp>
      <p:pic>
        <p:nvPicPr>
          <p:cNvPr id="19" name="Picture 18" descr="p14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20" name="Picture 19" descr="p14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553700" y="2895600"/>
            <a:ext cx="1003300" cy="1143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gif_sparkler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7200" y="2933700"/>
            <a:ext cx="876300" cy="87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53700" y="3835400"/>
            <a:ext cx="10033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合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示意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帧主序列（按帧展开）·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导出贴图，UE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</a:t>
            </a:r>
          </a:p>
        </p:txBody>
      </p:sp>
      <p:pic>
        <p:nvPicPr>
          <p:cNvPr id="25" name="Picture 24" descr="p14_shee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升空尾缀：近段与远段拆分，按屏幕位移分配帧数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494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1854200"/>
            <a:ext cx="273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循环面片随弹体移动，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表现新喷出的火星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25019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2806700"/>
            <a:ext cx="273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一次性序列，表现留在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空中的老火星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3479800"/>
            <a:ext cx="2730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按火星年龄拆分，非相机远近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9000" y="3810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9000" y="3987800"/>
            <a:ext cx="2730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Δp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∫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v(t)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dt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每米像素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4292600"/>
            <a:ext cx="2730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m、1080p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换算每帧屏幕位移，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快的阶段多给帧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48895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1.9</a:t>
            </a:r>
            <a:r>
              <a:rPr sz="3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3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5435600"/>
            <a:ext cx="2730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档远段上升段最慢帧率；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代价：近看略软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3700" y="1358900"/>
            <a:ext cx="1397000" cy="2933700"/>
          </a:xfrm>
          <a:prstGeom prst="rect">
            <a:avLst/>
          </a:prstGeom>
          <a:solidFill>
            <a:srgbClr val="0A0A0A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gif_rise_loo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1397000" cy="2933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203700" y="4343400"/>
            <a:ext cx="1397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循环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53100" y="1358900"/>
            <a:ext cx="1397000" cy="2933700"/>
          </a:xfrm>
          <a:prstGeom prst="rect">
            <a:avLst/>
          </a:prstGeom>
          <a:solidFill>
            <a:srgbClr val="0A0A0A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gif_trail_fa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100" y="1358900"/>
            <a:ext cx="1397000" cy="29337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753100" y="4343400"/>
            <a:ext cx="1397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一次性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4597400"/>
            <a:ext cx="2946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导出贴图回放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历史包分段</a:t>
            </a:r>
          </a:p>
        </p:txBody>
      </p:sp>
      <p:pic>
        <p:nvPicPr>
          <p:cNvPr id="25" name="Picture 24" descr="p15_u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8700" y="1358900"/>
            <a:ext cx="4203700" cy="29337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454900" y="39624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ource_tag"/>
          <p:cNvSpPr txBox="1"/>
          <p:nvPr/>
        </p:nvSpPr>
        <p:spPr>
          <a:xfrm>
            <a:off x="7454900" y="39624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8700" y="4343400"/>
            <a:ext cx="42037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近段与远段在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中合成的完整尾缀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3700" y="4953000"/>
            <a:ext cx="73787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主档：近段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远段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个发射器；小档与手游：1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个全段发射器</a:t>
            </a:r>
          </a:p>
          <a:p>
            <a:pPr algn="l">
              <a:lnSpc>
                <a:spcPts val="20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尾缀按开花高度分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档（S、M、L、Hero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及两档小尾缀）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方头与黑块：定位原因，写入导出与导入规则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低配出现</a:t>
            </a:r>
          </a:p>
        </p:txBody>
      </p:sp>
      <p:pic>
        <p:nvPicPr>
          <p:cNvPr id="7" name="Picture 6" descr="p16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51000"/>
            <a:ext cx="1676400" cy="2984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0" name="Picture 9" descr="p16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1651000"/>
            <a:ext cx="1676400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3429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4600" y="50800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长条格压扁后采样到低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Mip，星头变方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4600" y="54229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主序列不使用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Mip；手游保留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1358900"/>
            <a:ext cx="675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黑块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最亮处出现黑点</a:t>
            </a:r>
          </a:p>
        </p:txBody>
      </p:sp>
      <p:pic>
        <p:nvPicPr>
          <p:cNvPr id="19" name="Picture 18" descr="p16_ram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1651000"/>
            <a:ext cx="6756400" cy="2857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26000" y="4699000"/>
            <a:ext cx="6756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机制复现（模拟，非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UE）：左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末格为黑的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出现黑点；右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末格不黑则没有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60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0" y="50800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最亮处采样落到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末格的黑色（末格涂黑用于去除光晕灰线）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60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0" y="54229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0.98，确认有效后写入导出与导入规则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流程演示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流程演示：从模板到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模板调参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选择模板、调参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与手游素材包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编排与播放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生成导演表，UE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工作方法：批量需求的三阶段协作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明确需求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6600" y="1384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需求定义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目标、约束、验收标准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6600" y="1778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技术选型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梳理技术，取最简方案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6600" y="2171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先拆结构，再调参数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600" y="27305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建立规范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6600" y="29718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任务拆分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按效果、工具、编排分配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33655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宪章规范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参数、交互、编排规则成文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06600" y="37592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执行前读取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先读规范与交接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6600" y="43180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结果把关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6600" y="4559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自动检查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6600" y="4953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执行、自检、验收分开记录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6600" y="5346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版本锁定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通过后锁定，复用派生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适用场景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247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159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重复性设置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451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开发工具，批量处理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009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921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213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拆结构后模拟、烘焙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771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683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3975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以表驱动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94600" y="4572000"/>
            <a:ext cx="37084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94600" y="47244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工具包存放位置：xx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94600" y="50292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首批：烘焙器与案例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94600" y="54610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从一项重复性工作开始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94440" y="65278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ource_tag"/>
          <p:cNvSpPr txBox="1"/>
          <p:nvPr/>
        </p:nvSpPr>
        <p:spPr>
          <a:xfrm>
            <a:off x="11394440" y="65278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175000"/>
            <a:ext cx="1219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500"/>
              </a:lnSpc>
            </a:pPr>
            <a:r>
              <a:rPr sz="7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THANK</a:t>
            </a:r>
            <a:r>
              <a:rPr sz="7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791200" y="4241800"/>
            <a:ext cx="6096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