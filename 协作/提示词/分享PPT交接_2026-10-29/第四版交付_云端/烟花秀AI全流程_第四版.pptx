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 · 封面（约 20 秒）</a:t>
            </a:r>
          </a:p>
          <a:p/>
          <a:p>
            <a:r>
              <a:t>大家好，我是____。今天分享这一个多月制作跨年烟花秀的过程。效果制作、资源交付和节目编排三个环节，我都借助 AI 开发了工具。内容分为制作与挑战、解决思路、实践成果、分享与方法四部分。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 · 制作规模：种类、规格与时长都远超去年（约 25 秒）</a:t>
            </a:r>
          </a:p>
          <a:p/>
          <a:p>
            <a:r>
              <a:t>先看规模。去年只有 3 种烟花、1 条升空尾缀，节目约 70 秒；今年开花种类增加到 26 种，扇形也在其中，升空尾缀按开花高度分为 6 档，节目约 220 秒，约为去年的 3 倍。PC 与手游还要分别输出，各分画质档位。</a:t>
            </a:r>
          </a:p>
          <a:p/>
          <a:p>
            <a:r>
              <a:t>依据：去年 3 种、1 条尾缀、约 70 秒 = 讲者口述（10-30 01:42、11:07）；编排工作台资源快照（tool/workbench/public/data/resource-catalogue.json，10-09）中「新年烟花2.0」有 1 行拖尾、开花为小/中/大 × 红/黄/白 9 行另加大金。今年 26 种、6 档、219.5 秒：第二版核验 verify_A1_A2 §1、B11 修订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 · 资源交付：出图规格与引擎设置需逐项重复（约 35 秒）</a:t>
            </a:r>
          </a:p>
          <a:p/>
          <a:p>
            <a:r>
              <a:t>规模扩大后，最先暴露的是资源交付中的重复工作。导出时，每种烟花都要确定取景、帧数、格子、打包、Ramp 与 Cutout，并分别输出两个平台；导入时，每个资源又有十余项引擎设置。原来这些都靠人工逐个完成，效果一调整就要重做；漏设一项，就会出现贴图常驻内存、星头方块或最亮处黑块等问题。</a:t>
            </a:r>
          </a:p>
          <a:p/>
          <a:p>
            <a:r>
              <a:t>依据：12 项设置沿用第一版第 3 页（烟花贴图规范与性能组约定、烟花特效资产规范）；CLAUDE.md §2。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 · 编排：定序器手工排轨难以支撑今年规模（约 35 秒）</a:t>
            </a:r>
          </a:p>
          <a:p/>
          <a:p>
            <a:r>
              <a:t>第三个挑战是编排。去年在定序器中手工拼接，共 12 条子序列、两千七百多条轨道，调整一处节奏需要逐条对齐，也无法直观预览整体构图，各画质档还要分别维护；性能组也反馈内存占用偏高。今年节目约 220 秒、24 个发射点位，PC 与手游各分 3 档画质，节奏还要随音乐反复调整，手工排轨的修改成本过高。</a:t>
            </a:r>
          </a:p>
          <a:p/>
          <a:p>
            <a:r>
              <a:t>依据：12 子序列、2726 轨道：UE 只读统计（10-29，第二版核验 A3）；内存偏高 = 性能组口述反馈，无数字。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 · 烟花烘焙器：从模板快速生成效果（约 30 秒）</a:t>
            </a:r>
          </a:p>
          <a:p/>
          <a:p>
            <a:r>
              <a:t>针对制作规模，我让 AI 开发了烟花烘焙器。此前用 AI 脚本驱动 Blender 出图，可以输出，但每轮都要等待渲染，预览也与输出不一致。烘焙器只输出游戏视角所需的序列，内置单层花型模板和多层模板：选择模板、调整参数，就能得到新效果，保存后进入效果库，继续派生和复用。</a:t>
            </a:r>
          </a:p>
          <a:p/>
          <a:p>
            <a:r>
              <a:t>依据：模板数量来自 analysis/results/NF4/缩略图/缩略图.json（4.9.18 统计：花型模板 27、多层模板 30、效果条目 36），之后版本有增减。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 · 导出规范：取景、打包与双平台输出自动完成（约 40 秒）</a:t>
            </a:r>
          </a:p>
          <a:p/>
          <a:p>
            <a:r>
              <a:t>资源交付的问题分导出和导入两步解决。导出规范首先是取景：固定框为默认，随开花放大让开花初期获得更多像素，锚在爆点适合单侧花型；扇形测试中，内容占面片的比例由约两成提高到约四成。之后自动排格打包，一张贴图容纳 64 帧，灰度存储、Ramp 查色，按收益生成 Cutout，PC 与手游同时导出，交付前在引擎回放中复核。</a:t>
            </a:r>
          </a:p>
          <a:p/>
          <a:p>
            <a:r>
              <a:t>依据：tool/CHANGELOG.md 4.9.33、4.9.81（FC6O 取景计划估算 0.20 / 0.21 / 0.41）；spec/cascade_params_v1.md §7、§10；本机 T26 统计正式资源 17 组：固定 10、随开花放大 5、锚点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 · 导入规范：检查、创建、设置与读回由工具完成（约 35 秒）</a:t>
            </a:r>
          </a:p>
          <a:p/>
          <a:p>
            <a:r>
              <a:t>导入由导入器完成，设计参考了原有特效工作台的配表入口。导入器读取素材包，先检查命名、尺寸与规范项，再按平台创建贴图、材质实例和发射器，确认后写入 UE 并读回核对。与性能组确定的贴图规范，以及包围盒、朝向、EmissiveDissolve 等设置，都内置于工具，不再依赖人工记忆。</a:t>
            </a:r>
          </a:p>
          <a:p/>
          <a:p>
            <a:r>
              <a:t>依据：CLAUDE.md §2 烟花贴图规范（v2.31）；spec/workspace_resource_v1.md（检查不写 UE，确认后写入）；截图为特效工作台烟花素材导入页（10-24）。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 · 编排推演：由舞台、花径与点距推导分档和极限帧（约 45 秒）</a:t>
            </a:r>
          </a:p>
          <a:p/>
          <a:p>
            <a:r>
              <a:t>编排先推演规则。舞台为宽约 800 米、高约 150 米的坝体，按约 100 米点距布置主发射点，共 24 个点位。花径约为点距 1.5 倍时可以分辨单花，2 倍以上形成花墙，3 倍左右容易糊成一片。据此把花型分为 S、M、L 和主角四档，确定开花高度，再用极限帧检查同一时刻各档最大展开时的重叠。这些规则写入编排宪章，每版编排自动检查；设计值与实机不同时，以实机校正。</a:t>
            </a:r>
          </a:p>
          <a:p/>
          <a:p>
            <a:r>
              <a:t>依据：对话框22；协作/跨年秀编排宪章.md；第二版重制第 7 页；极限帧设计图为用户 11:07 提供。「极限帧」在仓库中无同名记录，此处按设计图含义理解为同一时刻各档最大展开。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 · 烟花编排工作台：模板、片段到导演表（约 35 秒）</a:t>
            </a:r>
          </a:p>
          <a:p/>
          <a:p>
            <a:r>
              <a:t>规则通过编排工作台落地。资源表中的效果是基础模板；组合尺寸、高度和尾缀后成为花型模板；花型模板放上时间轴形成编排片段，常用组合可以存为编排模板。片段按音乐划分段落，可以按段调整节奏和构图，最后一键生成导演表并导入 UE。编排过程可视化，检查和输出程序化，修改节奏只需重新出表。</a:t>
            </a:r>
          </a:p>
          <a:p/>
          <a:p>
            <a:r>
              <a:t>依据：截图为云端打开 tool/烟花编排工作台.html（16.0.42，节目 B11 修订 3）：基础模板 33、花型模板 97、编排片段 492。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 · 解决思路：三个问题，三个工具，一条交付链（约 30 秒）</a:t>
            </a:r>
          </a:p>
          <a:p/>
          <a:p>
            <a:r>
              <a:t>汇总起来，三个问题对应三个工具：烘焙器解决制作规模，导入器解决资源交付，编排工作台解决编排，工具之间以固定格式衔接。目标、审美与引擎约束由我确定，工具由 AI 开发，关键结果在 UE 中验收；导演蓝图与程序共同设计，贴图规范与性能组共同确定。</a:t>
            </a:r>
          </a:p>
          <a:p/>
          <a:p>
            <a:r>
              <a:t>依据：约 2200 次提交：第二版核验 verify_A1_A2 §1（含约 350 次显卡后台自动回传）。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 · 资源成果：球花、扇形、尾缀与窜天猴全部入表（约 35 秒）</a:t>
            </a:r>
          </a:p>
          <a:p/>
          <a:p>
            <a:r>
              <a:t>下面看成果。资源方面，进入跨年 3.0 资源表的有球花与扇形共 26 种、升空尾缀 6 档、窜天猴一套；手游覆盖其中 12 种开花、全部尾缀和窜天猴。引用贴图 PC 专用 133 张、手游专用 33 张、两端共用 46 张。其中 20 种开花保留了烘焙器配方，可以调参后重新导出。</a:t>
            </a:r>
          </a:p>
          <a:p/>
          <a:p>
            <a:r>
              <a:t>依据：verify_A1_A2 §1、§6；第三版素材/资源分类.md。20 种为找到烘焙器导出材料（19 种有配方与导出记录）。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 · 接入成果：两轮批量修正，读回一致（约 20 秒）</a:t>
            </a:r>
          </a:p>
          <a:p/>
          <a:p>
            <a:r>
              <a:t>接入方面进行过两轮批量修正：贴图规范确定后，149 张贴图批量重设，读回一致；更早一轮修正了 115 个包，读回无错误。这些规则已经内置于导入器，新资源导入时自动执行。</a:t>
            </a:r>
          </a:p>
          <a:p/>
          <a:p>
            <a:r>
              <a:t>依据：analysis/results/TEX_SPEC_20261018/verify.json；资源规范统一_20261016/改后读回.json。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 · 编排成果：同一编排按平台与画质分档输出（约 25 秒）</a:t>
            </a:r>
          </a:p>
          <a:p/>
          <a:p>
            <a:r>
              <a:t>编排方面，共迭代 11 个大版本，每版都有自动检查记录。同一编排按平台和画质分档输出，PC 每场约 1100 到 440 次播放，手游约 450 到 180 次，无需逐档编排。目前节拍对齐指标尚未达到宪章目标，仍在优化。</a:t>
            </a:r>
          </a:p>
          <a:p/>
          <a:p>
            <a:r>
              <a:t>依据：B11 修订 3 编排检查（PC 1145 / 852 / 438，手游 448 / 349 / 181）。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 · 仙女棒：13 类火星合成一张序列（约 35 秒）</a:t>
            </a:r>
          </a:p>
          <a:p/>
          <a:p>
            <a:r>
              <a:t>接下来是两个技术案例。第一个是仙女棒，火星有一级、二级分叉，也有清晰与模糊的层次。以往类似效果，比如现有的窜天猴拖尾，用了 10 个发射器拼合。这次 13 类火星的结构来自我之前的 Blender 工程，AI 将其移植为通用的母子分叉，在烘焙时合成为一张 64 帧序列，每个平台只需一个发射器。</a:t>
            </a:r>
          </a:p>
          <a:p/>
          <a:p>
            <a:r>
              <a:t>依据：verify_A4；动图由导出的 64 帧主序列按顺序播放，Ramp 着色为示意；UE 实录由讲者补。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 · 升空尾缀：近段与远段拆分，按屏幕位移分配帧数（约 30 秒）</a:t>
            </a:r>
          </a:p>
          <a:p/>
          <a:p>
            <a:r>
              <a:t>第二个是升空尾缀。尾缀拆成近段和远段：近段为循环面片，随弹体移动；远段为一次性序列，表现留在空中的老火星。帧数按观看距离换算每帧屏幕位移后分配，快的阶段多给帧、慢的阶段少给，L 档上升段最慢帧率由约 1.9 提高到 30。代价是单格高度降低，近看略软。</a:t>
            </a:r>
          </a:p>
          <a:p/>
          <a:p>
            <a:r>
              <a:t>依据：第二版重制第 13、19 页；tool/src/js/31_plan40.js；tool/CHANGELOG.md 4.9.26、4.9.31；0.77 像素为本项目经验线。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 · 方头与黑点：定位原因，写入导出与导入规则（约 35 秒）</a:t>
            </a:r>
          </a:p>
          <a:p/>
          <a:p>
            <a:r>
              <a:t>排查方面，方头和黑点是两个典型问题。方头只在低配出现：长条格压扁后采样到低 Mip，星头变方；固定机位与档位对比后定位，PC 主序列改为不使用 Mip。黑点出现在最亮处：亮度采样落到 Ramp 末格的黑色，设置 EmissiveDissolve 为 0.98 后解决。两项规则都已写入导出与导入流程。</a:t>
            </a:r>
          </a:p>
          <a:p/>
          <a:p>
            <a:r>
              <a:t>依据：analysis/results/LOWQ_FIX_20261018；analysis/probe/BC7护栏黑块_2026-10-15（机制复现为模拟）；0.98 修法有用户确认（对话框23）。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 · 流程演示：从模板到 UE 播放（约 145 秒）</a:t>
            </a:r>
          </a:p>
          <a:p/>
          <a:p>
            <a:r>
              <a:t>最后用一段录屏演示完整流程：选择模板调参，在引擎回放中复核，同时导出 PC 与手游，经导入器写入 UE，再在编排工作台中排入节目。（播放录屏，约 2 分钟）录屏经过剪辑，实际用时 ×× 分钟。</a:t>
            </a:r>
          </a:p>
          <a:p/>
          <a:p>
            <a:r>
              <a:t>依据：录屏由讲者提供。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 · 工作方法：批量需求的三阶段协作（约 50 秒）</a:t>
            </a:r>
          </a:p>
          <a:p/>
          <a:p>
            <a:r>
              <a:t>最后是这一个多月的心得：批量需求可以分三个阶段与 AI 协作。第一，明确需求：定义目标、约束和验收标准，由 AI 梳理所需技术，选择最简可行方案。第二，建立规范：按效果、工具和编排拆分任务，把参数、交互和编排规则写成宪章，每次执行前先读规范与交接。第三，结果把关：先自动检查，再在 UE 验收，执行、自检与验收分开记录，通过的版本锁定复用。工具包我会放在 xx 处，建议从一项重复性工作开始尝试。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 · Thank You（约 0 秒）</a:t>
            </a:r>
          </a:p>
          <a:p/>
          <a:p>
            <a:r>
              <a:t>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gif"/><Relationship Id="rId5" Type="http://schemas.openxmlformats.org/officeDocument/2006/relationships/image" Target="../media/image31.jp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4" name="Picture 3" descr="p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rce_tag"/>
          <p:cNvSpPr txBox="1"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示意图</a:t>
            </a:r>
          </a:p>
        </p:txBody>
      </p:sp>
      <p:sp>
        <p:nvSpPr>
          <p:cNvPr id="7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76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组内分享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435100"/>
            <a:ext cx="8255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39"/>
              </a:lnSpc>
            </a:pP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烟花秀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全流程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511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烟花烘焙器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导入器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0226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2512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分享人：____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660900"/>
            <a:ext cx="20320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7879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787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制作与挑战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0800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50800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解决思路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3721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53721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6642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56642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分享与方法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制作与挑战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规模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制作规模：种类、规格与时长都远超去年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64008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00"/>
              </a:lnSpc>
            </a:pPr>
            <a:r>
              <a:rPr sz="100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6000" b="1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60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6000" b="1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19400"/>
            <a:ext cx="6400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开花种类（含扇形）：去年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种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今年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7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种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365500"/>
            <a:ext cx="6400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3619500"/>
            <a:ext cx="190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1600" y="3632200"/>
            <a:ext cx="431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升空尾缀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600" y="3886200"/>
            <a:ext cx="431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去年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今年按开花高度分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419600"/>
            <a:ext cx="190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1600" y="4432300"/>
            <a:ext cx="431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节目时长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1600" y="4686300"/>
            <a:ext cx="431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70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220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219700"/>
            <a:ext cx="1905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1600" y="5232400"/>
            <a:ext cx="431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与手游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1600" y="5486400"/>
            <a:ext cx="431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分别输出，各分画质档位</a:t>
            </a:r>
          </a:p>
        </p:txBody>
      </p:sp>
      <p:pic>
        <p:nvPicPr>
          <p:cNvPr id="18" name="Picture 17" descr="p02_sh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58900"/>
            <a:ext cx="4267200" cy="47117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91400" y="5740400"/>
            <a:ext cx="12014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ource_tag"/>
          <p:cNvSpPr txBox="1"/>
          <p:nvPr/>
        </p:nvSpPr>
        <p:spPr>
          <a:xfrm>
            <a:off x="7391400" y="5740400"/>
            <a:ext cx="12014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今年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制作与挑战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资源交付：出图规格与引擎设置需逐项重复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导出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9100" y="1358900"/>
            <a:ext cx="381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587500"/>
            <a:ext cx="6045200" cy="12700"/>
          </a:xfrm>
          <a:prstGeom prst="rect">
            <a:avLst/>
          </a:prstGeom>
          <a:solidFill>
            <a:srgbClr val="0FF796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9100" y="1587500"/>
            <a:ext cx="4813300" cy="12700"/>
          </a:xfrm>
          <a:prstGeom prst="rect">
            <a:avLst/>
          </a:prstGeom>
          <a:solidFill>
            <a:srgbClr val="0FF796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渲染出图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62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18415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取景裁切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81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30734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88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排格打包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100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43053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07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419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55372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626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双平台导出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38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67691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45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合入工程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57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80010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64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创建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376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92329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83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逐项设置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695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104648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902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24892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每种烟花需确定的规格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2870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" y="2870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取景与爆点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59050" y="2870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3350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52750" y="2870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帧数分配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34417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900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300" y="34417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格子排布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59050" y="34417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3350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2750" y="34417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多帧打包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4013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900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300" y="4013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</a:t>
            </a:r>
            <a:r>
              <a:rPr sz="12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59050" y="4013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3350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52750" y="4013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24400" y="24892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每个资源需完成的设置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24400" y="2870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38700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8100" y="2870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NeverStream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关闭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033" y="2870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54333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33733" y="2870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DistantVFX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贴图组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55667" y="2870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69967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9367" y="2870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主序列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24400" y="3441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38700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18100" y="3441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手游主序列带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0033" y="3441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54333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33733" y="3441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手游最大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1024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55667" y="3441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69967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49367" y="3441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手游压缩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ASTC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24400" y="4013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38700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18100" y="4013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Clamp、NoMip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40033" y="4013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54333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33733" y="4013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固定包围盒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55667" y="4013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69967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49367" y="4013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面片朝向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24400" y="4584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38700" y="4584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18100" y="4584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UV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翻转方式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0033" y="4584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54333" y="4584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3733" y="4584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0.98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55667" y="4584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69967" y="4584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49367" y="4584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LOD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方式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5308600"/>
            <a:ext cx="10972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9600" y="5448300"/>
            <a:ext cx="10972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原有方式：以上步骤逐个资源手工完成，效果一调整就需重做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9600" y="57531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漏设一项即出现问题：贴图常驻内存、星头方块、最亮处黑块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制作与挑战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编排：定序器手工排轨难以支撑今年规模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5_sequenc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4711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5740400"/>
            <a:ext cx="19634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5740400"/>
            <a:ext cx="19634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去年的定序器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去年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25600"/>
            <a:ext cx="42672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0"/>
              </a:lnSpc>
            </a:pPr>
            <a:r>
              <a:rPr sz="3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2726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条轨道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条子序列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2796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0300" y="21971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调整节奏需逐条对齐轨道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5717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0300" y="24892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无法直观预览整体构图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8638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0300" y="27813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各画质档需分别维护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1559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0300" y="30734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内存占用偏高（性能组反馈）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5306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7084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今年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0005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220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秒节目时长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831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个发射点位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9657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与手游各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档画质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24500"/>
            <a:ext cx="42672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节奏需随音乐反复调整，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手工排轨的修改成本过高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制作规模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烟花烘焙器：从模板快速生成效果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15621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原有方式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18415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脚本驱动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Blender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3600" y="2406650"/>
            <a:ext cx="88900" cy="88900"/>
          </a:xfrm>
          <a:prstGeom prst="rect">
            <a:avLst/>
          </a:prstGeom>
          <a:solidFill>
            <a:srgbClr val="F5F5F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4100" y="2324100"/>
            <a:ext cx="2667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每轮等待离线渲染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736850"/>
            <a:ext cx="88900" cy="88900"/>
          </a:xfrm>
          <a:prstGeom prst="rect">
            <a:avLst/>
          </a:prstGeom>
          <a:solidFill>
            <a:srgbClr val="F5F5F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4100" y="2654300"/>
            <a:ext cx="2667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预览与输出不一致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600" y="3111500"/>
            <a:ext cx="27813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32766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烘焙器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35687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" y="38227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实时调参，导出后回放复核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00" y="43307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快速输出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45847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即改即看，直接输出引擎格式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600" y="50927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项目定制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53467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按本项目舞台、视距与规范</a:t>
            </a:r>
          </a:p>
        </p:txBody>
      </p:sp>
      <p:pic>
        <p:nvPicPr>
          <p:cNvPr id="21" name="Picture 20" descr="p05_t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358900"/>
            <a:ext cx="3625850" cy="2095500"/>
          </a:xfrm>
          <a:prstGeom prst="rect">
            <a:avLst/>
          </a:prstGeom>
        </p:spPr>
      </p:pic>
      <p:pic>
        <p:nvPicPr>
          <p:cNvPr id="22" name="Picture 21" descr="p05_mult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0" y="1358900"/>
            <a:ext cx="3625850" cy="2095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03700" y="35052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单层花型模板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27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6550" y="35052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多层模板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</a:p>
        </p:txBody>
      </p:sp>
      <p:pic>
        <p:nvPicPr>
          <p:cNvPr id="25" name="Picture 24" descr="p05_f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3810000"/>
            <a:ext cx="3625850" cy="2095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03700" y="59563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效果库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基于模板调出的效果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6550" y="3810000"/>
            <a:ext cx="36258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制作流程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6550" y="41275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550" y="41275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4550" y="41275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选择模板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66300" y="4495800"/>
            <a:ext cx="0" cy="7620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7956550" y="45847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550" y="45847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4550" y="45847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调整参数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66300" y="4953000"/>
            <a:ext cx="0" cy="7620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7956550" y="50419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550" y="50419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4550" y="50419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保存为效果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66300" y="5410200"/>
            <a:ext cx="0" cy="7620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</a:ln>
        </p:spPr>
      </p:cxnSp>
      <p:sp>
        <p:nvSpPr>
          <p:cNvPr id="40" name="Rectangle 39"/>
          <p:cNvSpPr/>
          <p:nvPr/>
        </p:nvSpPr>
        <p:spPr>
          <a:xfrm>
            <a:off x="7956550" y="54991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3550" y="54991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4550" y="54991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派生与复用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导出规范：取景、打包与双平台输出自动完成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6_fix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2286000" cy="1739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1623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固定框（默认）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7100" y="3149600"/>
            <a:ext cx="698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pic>
        <p:nvPicPr>
          <p:cNvPr id="9" name="Picture 8" descr="p06_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358900"/>
            <a:ext cx="2286000" cy="1739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8000" y="31623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随开花放大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500" y="3149600"/>
            <a:ext cx="698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pic>
        <p:nvPicPr>
          <p:cNvPr id="12" name="Picture 11" descr="p06_anch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58900"/>
            <a:ext cx="2286000" cy="1739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0" y="31623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锚在爆点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3900" y="3149600"/>
            <a:ext cx="698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80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5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4</a:t>
            </a:r>
            <a:r>
              <a:rPr sz="15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479800"/>
            <a:ext cx="7162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取景示意：扇形开满时刻，绿点为爆点；数字为扇形测试中内容占面片的比例（中位数）</a:t>
            </a:r>
          </a:p>
        </p:txBody>
      </p:sp>
      <p:pic>
        <p:nvPicPr>
          <p:cNvPr id="16" name="Picture 15" descr="p06_pa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1358900"/>
            <a:ext cx="3657600" cy="2266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24800" y="3683000"/>
            <a:ext cx="3657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一张贴图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4×4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格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RGBA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=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4127500"/>
            <a:ext cx="38100" cy="133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三种方式按花型选择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55333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7733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7733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烘焙后收紧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7733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按每帧内容二次收紧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1067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467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467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排格打包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467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格子随形状，单张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6800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9200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9200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灰度查色；收益不足一成不出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92533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4933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4933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双平台导出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4933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与手游同时输出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38267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0667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0667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回放复核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0667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按导出贴图在引擎回放中检查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515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原本手工完成的取景、排格与合通道，现在每次导出自动执行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导入规范：检查、创建、设置与读回由工具完成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7_impo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3600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629150"/>
            <a:ext cx="19024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4629150"/>
            <a:ext cx="19024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烟花素材导入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335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00" y="13589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读取素材包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8600" y="16637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烘焙器导出后直接进入导入清单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352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2606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检查规范项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600" y="25654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命名、尺寸、平台，不合格先拦截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369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31623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创建与设置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34671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按平台创建贴图、材质实例、发射器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0386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8600" y="40640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确认写入，读回核对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600" y="43688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检查阶段不修改工程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1181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内置于工具的引擎规范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3975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NeverStream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关闭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21940" y="53975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2194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贴图组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DistantVFX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4280" y="53975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428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主序列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6620" y="53975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4662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Mip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≤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58960" y="53975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896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Clamp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57658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0.98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21940" y="57658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2194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固定包围盒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34280" y="57658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3428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面片朝向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46620" y="57658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662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UV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翻转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8960" y="5765800"/>
            <a:ext cx="2123440" cy="292100"/>
          </a:xfrm>
          <a:prstGeom prst="rect">
            <a:avLst/>
          </a:prstGeom>
          <a:solidFill>
            <a:srgbClr val="0FF796">
              <a:alpha val="10000"/>
            </a:srgbClr>
          </a:solidFill>
          <a:ln w="6350">
            <a:solidFill>
              <a:srgbClr val="0FF796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896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LOD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方式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编排推演：由舞台、花径与点距推导分档和极限帧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8_fr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350000" cy="3841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257800"/>
            <a:ext cx="635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极限帧推演（设计图）：同一时刻各档最大展开时的重叠关系；设计值，实机以实测校正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4400" y="1358900"/>
            <a:ext cx="431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4400" y="1651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0" y="1651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花径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8900" y="1651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开花高度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8900" y="16510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尾缀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4400" y="1866900"/>
            <a:ext cx="43180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4400" y="1930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2900" y="1930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90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8900" y="1930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+150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8900" y="19304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4400" y="2222500"/>
            <a:ext cx="43180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4400" y="228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900" y="228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8900" y="228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+210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8900" y="2286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4400" y="2578100"/>
            <a:ext cx="43180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4400" y="2641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2900" y="2641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8900" y="2641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+330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8900" y="26416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4400" y="2933700"/>
            <a:ext cx="43180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4400" y="2997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主角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900" y="2997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280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8900" y="2997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+400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8900" y="2997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Hero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4400" y="3289300"/>
            <a:ext cx="43180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4400" y="3479800"/>
            <a:ext cx="4318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花径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点距</a:t>
            </a:r>
          </a:p>
        </p:txBody>
      </p:sp>
      <p:sp>
        <p:nvSpPr>
          <p:cNvPr id="35" name="Oval 34"/>
          <p:cNvSpPr/>
          <p:nvPr/>
        </p:nvSpPr>
        <p:spPr>
          <a:xfrm>
            <a:off x="7624233" y="3911600"/>
            <a:ext cx="431800" cy="431800"/>
          </a:xfrm>
          <a:prstGeom prst="ellipse">
            <a:avLst/>
          </a:prstGeom>
          <a:noFill/>
          <a:ln w="1270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12100" y="3911600"/>
            <a:ext cx="431800" cy="431800"/>
          </a:xfrm>
          <a:prstGeom prst="ellipse">
            <a:avLst/>
          </a:prstGeom>
          <a:noFill/>
          <a:ln w="1270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4400" y="4533900"/>
            <a:ext cx="14393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5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4400" y="4800600"/>
            <a:ext cx="14393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可分辨单花</a:t>
            </a:r>
          </a:p>
        </p:txBody>
      </p:sp>
      <p:sp>
        <p:nvSpPr>
          <p:cNvPr id="39" name="Oval 38"/>
          <p:cNvSpPr/>
          <p:nvPr/>
        </p:nvSpPr>
        <p:spPr>
          <a:xfrm>
            <a:off x="9023068" y="3848480"/>
            <a:ext cx="558039" cy="558039"/>
          </a:xfrm>
          <a:prstGeom prst="ellipse">
            <a:avLst/>
          </a:prstGeom>
          <a:noFill/>
          <a:ln w="1270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65693" y="3848480"/>
            <a:ext cx="558039" cy="558039"/>
          </a:xfrm>
          <a:prstGeom prst="ellipse">
            <a:avLst/>
          </a:prstGeom>
          <a:noFill/>
          <a:ln w="1270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3733" y="4533900"/>
            <a:ext cx="14393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3733" y="4800600"/>
            <a:ext cx="14393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形成花墙</a:t>
            </a:r>
          </a:p>
        </p:txBody>
      </p:sp>
      <p:sp>
        <p:nvSpPr>
          <p:cNvPr id="43" name="Oval 42"/>
          <p:cNvSpPr/>
          <p:nvPr/>
        </p:nvSpPr>
        <p:spPr>
          <a:xfrm>
            <a:off x="10426409" y="3800257"/>
            <a:ext cx="654486" cy="654486"/>
          </a:xfrm>
          <a:prstGeom prst="ellipse">
            <a:avLst/>
          </a:prstGeom>
          <a:noFill/>
          <a:ln w="1270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644571" y="3800257"/>
            <a:ext cx="654486" cy="654486"/>
          </a:xfrm>
          <a:prstGeom prst="ellipse">
            <a:avLst/>
          </a:prstGeom>
          <a:noFill/>
          <a:ln w="1270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3067" y="4533900"/>
            <a:ext cx="14393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3067" y="4800600"/>
            <a:ext cx="14393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容易糊成一片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5575300"/>
            <a:ext cx="1991360" cy="393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700" y="5575300"/>
            <a:ext cx="191516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舞台与点位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39060" y="5772150"/>
            <a:ext cx="1778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50" name="Rectangle 49"/>
          <p:cNvSpPr/>
          <p:nvPr/>
        </p:nvSpPr>
        <p:spPr>
          <a:xfrm>
            <a:off x="2854960" y="5575300"/>
            <a:ext cx="1991360" cy="393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93060" y="5575300"/>
            <a:ext cx="191516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分档与高度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884420" y="5772150"/>
            <a:ext cx="1778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53" name="Rectangle 52"/>
          <p:cNvSpPr/>
          <p:nvPr/>
        </p:nvSpPr>
        <p:spPr>
          <a:xfrm>
            <a:off x="5100320" y="5575300"/>
            <a:ext cx="1991360" cy="393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38420" y="5575300"/>
            <a:ext cx="191516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极限帧检查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129780" y="5772150"/>
            <a:ext cx="1778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56" name="Rectangle 55"/>
          <p:cNvSpPr/>
          <p:nvPr/>
        </p:nvSpPr>
        <p:spPr>
          <a:xfrm>
            <a:off x="7345680" y="5575300"/>
            <a:ext cx="1991360" cy="393700"/>
          </a:xfrm>
          <a:prstGeom prst="rect">
            <a:avLst/>
          </a:prstGeom>
          <a:solidFill>
            <a:srgbClr val="161616"/>
          </a:solidFill>
          <a:ln w="12700">
            <a:solidFill>
              <a:srgbClr val="0FF796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83780" y="5575300"/>
            <a:ext cx="191516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编排宪章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375140" y="5772150"/>
            <a:ext cx="1778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59" name="Rectangle 58"/>
          <p:cNvSpPr/>
          <p:nvPr/>
        </p:nvSpPr>
        <p:spPr>
          <a:xfrm>
            <a:off x="9591040" y="5575300"/>
            <a:ext cx="1991360" cy="393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29140" y="5575300"/>
            <a:ext cx="191516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每版自动检查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烟花编排工作台：模板、片段到导演表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335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589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基础模板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37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资源表中的效果，统一比例参照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3900" y="1765300"/>
            <a:ext cx="0" cy="546100"/>
          </a:xfrm>
          <a:prstGeom prst="line">
            <a:avLst/>
          </a:prstGeom>
          <a:ln w="12700">
            <a:solidFill>
              <a:srgbClr val="F5F5F5">
                <a:alpha val="30000"/>
              </a:srgbClr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09600" y="24003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257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花型模板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305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组合尺寸、高度与尾缀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3900" y="2832100"/>
            <a:ext cx="0" cy="546100"/>
          </a:xfrm>
          <a:prstGeom prst="line">
            <a:avLst/>
          </a:prstGeom>
          <a:ln w="12700">
            <a:solidFill>
              <a:srgbClr val="F5F5F5">
                <a:alpha val="30000"/>
              </a:srgbClr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09600" y="34671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925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编排片段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973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模板放上时间轴，按音乐分段调整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3900" y="3898900"/>
            <a:ext cx="0" cy="546100"/>
          </a:xfrm>
          <a:prstGeom prst="line">
            <a:avLst/>
          </a:prstGeom>
          <a:ln w="12700">
            <a:solidFill>
              <a:srgbClr val="F5F5F5">
                <a:alpha val="30000"/>
              </a:srgbClr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09600" y="45339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593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641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一键生成三张表，导入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6896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可视化编排，程序化检查与输出</a:t>
            </a:r>
          </a:p>
        </p:txBody>
      </p:sp>
      <p:pic>
        <p:nvPicPr>
          <p:cNvPr id="22" name="Picture 21" descr="p09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358900"/>
            <a:ext cx="3625850" cy="2038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03700" y="34544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基础模板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33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个</a:t>
            </a:r>
          </a:p>
        </p:txBody>
      </p:sp>
      <p:pic>
        <p:nvPicPr>
          <p:cNvPr id="24" name="Picture 23" descr="p09_flo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0" y="1358900"/>
            <a:ext cx="3625850" cy="20383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56550" y="34544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花型模板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97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个</a:t>
            </a:r>
          </a:p>
        </p:txBody>
      </p:sp>
      <p:pic>
        <p:nvPicPr>
          <p:cNvPr id="26" name="Picture 25" descr="p09_cu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3810000"/>
            <a:ext cx="3625850" cy="20383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203700" y="59055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编排片段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492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段</a:t>
            </a:r>
          </a:p>
        </p:txBody>
      </p:sp>
      <p:pic>
        <p:nvPicPr>
          <p:cNvPr id="28" name="Picture 27" descr="p09_deliv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6550" y="3810000"/>
            <a:ext cx="3625850" cy="20383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56550" y="59055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交付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汇总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解决思路：三个问题，三个工具，一条交付链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06_b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365250"/>
            <a:ext cx="2273300" cy="1282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urce_tag"/>
          <p:cNvSpPr txBox="1"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问题一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模板生成效果，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按规范导出两套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91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28956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素材包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2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52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06_impor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1365250"/>
            <a:ext cx="2273300" cy="12827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ource_tag"/>
          <p:cNvSpPr txBox="1"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84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问题二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84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84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检查、创建、设置，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读回核对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47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57912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06_work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150" y="1365250"/>
            <a:ext cx="2273300" cy="12827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ource_tag"/>
          <p:cNvSpPr txBox="1"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问题三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0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推演规则，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生成导演表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503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86868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964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06_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750" y="1365250"/>
            <a:ext cx="2273300" cy="12827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ource_tag"/>
          <p:cNvSpPr txBox="1"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96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导演蓝图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96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按三张表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635500"/>
            <a:ext cx="64008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635500"/>
            <a:ext cx="38100" cy="1435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600" y="4800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600" y="5080000"/>
            <a:ext cx="584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目标、审美与引擎约束由我确定；工具由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开发；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关键结果在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验收（一人对接，约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2200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次提交）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635500"/>
            <a:ext cx="42672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69200" y="4800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跨组协作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9200" y="5080000"/>
            <a:ext cx="3810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导演蓝图：与程序共同设计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贴图规范：与性能组共同确定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制作规模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资源成果：球花、扇形、尾缀与窜天猴全部入表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2032000" cy="203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429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金蕊柠</a:t>
            </a:r>
          </a:p>
        </p:txBody>
      </p:sp>
      <p:pic>
        <p:nvPicPr>
          <p:cNvPr id="8" name="Picture 7" descr="p11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358900"/>
            <a:ext cx="2032000" cy="203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94000" y="3429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金锦菊</a:t>
            </a:r>
          </a:p>
        </p:txBody>
      </p:sp>
      <p:pic>
        <p:nvPicPr>
          <p:cNvPr id="10" name="Picture 9" descr="p11_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0" y="1358900"/>
            <a:ext cx="2032000" cy="203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78400" y="3429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小青柠</a:t>
            </a:r>
          </a:p>
        </p:txBody>
      </p:sp>
      <p:pic>
        <p:nvPicPr>
          <p:cNvPr id="12" name="Picture 11" descr="p11_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721100"/>
            <a:ext cx="2032000" cy="20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791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小金花</a:t>
            </a:r>
          </a:p>
        </p:txBody>
      </p:sp>
      <p:pic>
        <p:nvPicPr>
          <p:cNvPr id="14" name="Picture 13" descr="p11_1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3721100"/>
            <a:ext cx="2032000" cy="203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94000" y="5791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银白菊</a:t>
            </a:r>
          </a:p>
        </p:txBody>
      </p:sp>
      <p:pic>
        <p:nvPicPr>
          <p:cNvPr id="16" name="Picture 15" descr="p11_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721100"/>
            <a:ext cx="2032000" cy="203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78400" y="5791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爆裂星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08700"/>
            <a:ext cx="6400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资产试放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跨年烟花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3.0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花型示例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6510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种开花（球花与扇形）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0193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档升空尾缀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3876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套窜天猴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210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手游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2131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种开花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814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档升空尾缀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9497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套窜天猴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4831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46355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引用贴图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914900"/>
            <a:ext cx="4267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133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33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共用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245100"/>
            <a:ext cx="4267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20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种开花保留烘焙器配方，可调参重新导出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接入成果：两轮批量修正，读回一致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2_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35941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622800"/>
            <a:ext cx="13538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4622800"/>
            <a:ext cx="13538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修正后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143500"/>
            <a:ext cx="64008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规则已内置于导入器，新资源导入时自动执行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贴图规范确定后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63700"/>
            <a:ext cx="42672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00"/>
              </a:lnSpc>
            </a:pPr>
            <a:r>
              <a:rPr sz="6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149</a:t>
            </a:r>
            <a:r>
              <a:rPr sz="3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/149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540000"/>
            <a:ext cx="4267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张贴图批量重设，读回一致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0480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2258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更早一轮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530600"/>
            <a:ext cx="4267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115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114800"/>
            <a:ext cx="42672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粒子系统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个、材质实例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67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读回无错误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编排成果：同一编排按平台与画质分档输出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10972800" cy="2984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1524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各档一场的播放次数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5600" y="2095500"/>
            <a:ext cx="952500" cy="1714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8600" y="1828800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2100" y="2534232"/>
            <a:ext cx="952500" cy="1275768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5100" y="2267532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850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21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8600" y="3154148"/>
            <a:ext cx="952500" cy="655852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11600" y="2887448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6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5600" y="40640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1100" y="3139174"/>
            <a:ext cx="952500" cy="670826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4100" y="2872474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11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67600" y="3287414"/>
            <a:ext cx="952500" cy="522586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0600" y="3020714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76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74100" y="3538974"/>
            <a:ext cx="952500" cy="271026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7100" y="3272274"/>
            <a:ext cx="1206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4100" y="3860800"/>
            <a:ext cx="9525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1100" y="40640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810000"/>
            <a:ext cx="9448800" cy="6350"/>
          </a:xfrm>
          <a:prstGeom prst="rect">
            <a:avLst/>
          </a:prstGeom>
          <a:solidFill>
            <a:srgbClr val="F5F5F5">
              <a:alpha val="2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4533900"/>
            <a:ext cx="6400800" cy="1536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" y="4533900"/>
            <a:ext cx="38100" cy="1536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600" y="4699000"/>
            <a:ext cx="5715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80"/>
              </a:lnSpc>
            </a:pPr>
            <a:r>
              <a:rPr sz="3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个大版本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600" y="5372100"/>
            <a:ext cx="5842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每版自动检查；调整节奏只需重新出表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4533900"/>
            <a:ext cx="4267200" cy="1536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9200" y="46990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待改进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9200" y="5016500"/>
            <a:ext cx="3810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节拍对齐指标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尚未达到宪章目标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技术案例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仙女棒：13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类火星合成一张序列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549400"/>
            <a:ext cx="28575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00"/>
              </a:lnSpc>
            </a:pPr>
            <a:r>
              <a:rPr sz="5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362200"/>
            <a:ext cx="27305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每平台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张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帧主序列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2984500"/>
            <a:ext cx="2743200" cy="154305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2984500"/>
            <a:ext cx="2743200" cy="1543050"/>
          </a:xfrm>
          <a:prstGeom prst="rect">
            <a:avLst/>
          </a:prstGeom>
          <a:noFill/>
          <a:ln w="19050">
            <a:solidFill>
              <a:srgbClr val="0FF796">
                <a:alpha val="6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311525"/>
            <a:ext cx="22352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实录位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3781425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16:9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视频或动图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699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以往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4927600"/>
            <a:ext cx="2730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窜天猴拖尾用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个发射器拼合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52705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本次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5499100"/>
            <a:ext cx="2730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通用母子分叉，烘焙时合成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700" y="1358900"/>
            <a:ext cx="7378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类火星（源自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工程）</a:t>
            </a:r>
          </a:p>
        </p:txBody>
      </p:sp>
      <p:pic>
        <p:nvPicPr>
          <p:cNvPr id="19" name="Picture 18" descr="p14_l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625600"/>
            <a:ext cx="7378700" cy="1193800"/>
          </a:xfrm>
          <a:prstGeom prst="rect">
            <a:avLst/>
          </a:prstGeom>
        </p:spPr>
      </p:pic>
      <p:pic>
        <p:nvPicPr>
          <p:cNvPr id="20" name="Picture 19" descr="p14_l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00" y="2870200"/>
            <a:ext cx="7378700" cy="11938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553700" y="2895600"/>
            <a:ext cx="100330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FF796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p14_sparkler_13to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2933700"/>
            <a:ext cx="876300" cy="876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53700" y="3835400"/>
            <a:ext cx="1003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合</a:t>
            </a:r>
            <a:r>
              <a:rPr sz="11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700" y="4203700"/>
            <a:ext cx="7378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合成后的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帧主序列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导出贴图（UE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观感待验收）</a:t>
            </a:r>
          </a:p>
        </p:txBody>
      </p:sp>
      <p:pic>
        <p:nvPicPr>
          <p:cNvPr id="25" name="Picture 24" descr="p14_shee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700" y="4470400"/>
            <a:ext cx="7378700" cy="1600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技术案例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升空尾缀：近段与远段拆分，按屏幕位移分配帧数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5_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3556000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37719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37719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406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4318000"/>
            <a:ext cx="3365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近段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4584700"/>
            <a:ext cx="336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循环面片，随弹体移动，表现新喷出的火星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51054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400" y="5016500"/>
            <a:ext cx="3365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远段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5283200"/>
            <a:ext cx="336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一次性序列，表现留在空中、缓慢下落的老火星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791200"/>
            <a:ext cx="355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并非按相机距离切换</a:t>
            </a:r>
          </a:p>
        </p:txBody>
      </p:sp>
      <p:pic>
        <p:nvPicPr>
          <p:cNvPr id="16" name="Picture 15" descr="p15_trail_5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0" y="1358900"/>
            <a:ext cx="1498600" cy="4445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45000" y="5854700"/>
            <a:ext cx="1498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实拍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模拟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3000" y="13589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帧数分配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1651000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Δp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=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∫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v(t)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dt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每米像素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000" y="2006600"/>
            <a:ext cx="53594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m、1080p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观看条件换算每帧屏幕位移；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0.77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像素为本项目经验线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3000" y="26035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6000" y="26035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S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总帧数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1000" y="26035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上升段最慢帧率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3000" y="2832100"/>
            <a:ext cx="5359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3000" y="2908300"/>
            <a:ext cx="1079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4.9.26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6000" y="29083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253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1000" y="29083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按阶段重新分配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3000" y="3225800"/>
            <a:ext cx="5359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3000" y="3302000"/>
            <a:ext cx="1079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4.9.31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6000" y="33020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256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96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1000" y="33020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15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fps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3000" y="3619500"/>
            <a:ext cx="53594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3000" y="3937000"/>
            <a:ext cx="5359400" cy="1016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3000" y="3937000"/>
            <a:ext cx="38100" cy="1016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1600" y="4064000"/>
            <a:ext cx="497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1.9</a:t>
            </a:r>
            <a:r>
              <a:rPr sz="22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22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fps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档上升段最慢帧率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1600" y="4521200"/>
            <a:ext cx="4978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远景流畅；代价是单格高度降低，近看略软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3000" y="5143500"/>
            <a:ext cx="53594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大档：近段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远段两个发射器；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Tiny、XS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与手游：一个全段发射器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问题排查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方头与黑点：定位原因，写入导出与导入规则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方头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低配出现</a:t>
            </a:r>
          </a:p>
        </p:txBody>
      </p:sp>
      <p:pic>
        <p:nvPicPr>
          <p:cNvPr id="7" name="Picture 6" descr="p16_sq_n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51000"/>
            <a:ext cx="1676400" cy="2984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1651000"/>
            <a:ext cx="482600" cy="241300"/>
          </a:xfrm>
          <a:prstGeom prst="rect">
            <a:avLst/>
          </a:prstGeom>
          <a:solidFill>
            <a:srgbClr val="0A0A0A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651000"/>
            <a:ext cx="4826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修前</a:t>
            </a:r>
          </a:p>
        </p:txBody>
      </p:sp>
      <p:pic>
        <p:nvPicPr>
          <p:cNvPr id="10" name="Picture 9" descr="p16_sq_fi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651000"/>
            <a:ext cx="1676400" cy="2984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62200" y="1651000"/>
            <a:ext cx="482600" cy="241300"/>
          </a:xfrm>
          <a:prstGeom prst="rect">
            <a:avLst/>
          </a:prstGeom>
          <a:solidFill>
            <a:srgbClr val="0A0A0A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2200" y="1651000"/>
            <a:ext cx="4826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9900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低档同机位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升空尾缀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0800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4600" y="50800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长条格压扁后采样到低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Mip，星头变方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4229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4600" y="54229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主序列不使用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Mip；手游保留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0" y="1358900"/>
            <a:ext cx="675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黑点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最亮处出现黑块</a:t>
            </a:r>
          </a:p>
        </p:txBody>
      </p:sp>
      <p:pic>
        <p:nvPicPr>
          <p:cNvPr id="19" name="Picture 18" descr="p16_ram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945368"/>
            <a:ext cx="6756400" cy="23957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6000" y="4699000"/>
            <a:ext cx="6756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机制复现（模拟，非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UE）：左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旧序列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末格黑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Ramp；中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末格不黑；右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现序列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末格黑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50800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原因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0" y="5080000"/>
            <a:ext cx="612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最亮处采样落到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末格的黑色（末格涂黑用于去除光晕灰线）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0" y="54229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0" y="5422900"/>
            <a:ext cx="612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设为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0.98，确认有效后写入导出与导入规则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流程演示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流程演示：从模板到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dem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7620000" cy="428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solidFill>
            <a:srgbClr val="0A0A0A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noFill/>
          <a:ln w="19050">
            <a:solidFill>
              <a:srgbClr val="0FF796">
                <a:alpha val="6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3057525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录屏位：完整操作（约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27425"/>
            <a:ext cx="685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模板调参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回放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导入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编排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13589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0800" y="13589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选择模板、调参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0800" y="16256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烘焙器实时模拟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20447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0800" y="20447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引擎回放复核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0800" y="2311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按导出的贴图播放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2730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0800" y="27305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双平台导出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0800" y="29972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与手游素材包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34163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0800" y="34163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检查并导入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0800" y="3683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确认后写入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4400" y="41021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0800" y="41021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编排与播放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0800" y="43688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生成导演表，UE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34400" y="4889500"/>
            <a:ext cx="3048000" cy="76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34400" y="4889500"/>
            <a:ext cx="38100" cy="762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0" y="4889500"/>
            <a:ext cx="27305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1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实际用时</a:t>
            </a: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分享与方法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工作方法：批量需求的三阶段协作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13589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3589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93900"/>
            <a:ext cx="114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明确需求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6600" y="13843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需求定义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目标、约束、验收标准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6600" y="17780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技术选型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梳理技术，取最简方案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6600" y="21717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原理先行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先拆结构，再调参数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6600" y="2730500"/>
            <a:ext cx="5003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9600" y="29464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9464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81400"/>
            <a:ext cx="114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建立规范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6600" y="29718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任务拆分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按效果、工具、编排分配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负责人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6600" y="33655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宪章规范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参数、交互、编排规则成文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6600" y="37592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执行前读取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先读规范与交接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06600" y="4318000"/>
            <a:ext cx="5003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9600" y="45339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45339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168900"/>
            <a:ext cx="114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结果把关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6600" y="45593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自动检查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标准检查、回放检查、合入门禁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6600" y="49530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状态分离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执行、自检、验收分开记录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6600" y="53467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版本锁定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通过后锁定，复用派生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358900"/>
            <a:ext cx="42672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4600" y="15875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4600" y="2247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159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重复性设置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451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开发工具，批量处理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94600" y="3009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921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复杂效果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213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拆结构后模拟、烘焙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94600" y="3771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683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大规模编排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975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以表驱动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94600" y="4572000"/>
            <a:ext cx="37084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94600" y="47244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工具包存放位置：xx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94600" y="50292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首批：烘焙器与案例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4600" y="54610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从一项重复性工作开始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4" name="Picture 3" descr="th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394440" y="762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rce_tag"/>
          <p:cNvSpPr txBox="1"/>
          <p:nvPr/>
        </p:nvSpPr>
        <p:spPr>
          <a:xfrm>
            <a:off x="11394440" y="762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81500"/>
            <a:ext cx="109728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800"/>
              </a:lnSpc>
            </a:pPr>
            <a:r>
              <a:rPr sz="8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THANK</a:t>
            </a:r>
            <a:r>
              <a:rPr sz="8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8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5715000"/>
            <a:ext cx="6096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5880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谢谢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欢迎交流</a:t>
            </a:r>
          </a:p>
        </p:txBody>
      </p:sp>
      <p:sp>
        <p:nvSpPr>
          <p:cNvPr id="10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烟花秀 AI 全流程</dc:title>
  <dc:subject>VFX 组内分享 · 2026-10-30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