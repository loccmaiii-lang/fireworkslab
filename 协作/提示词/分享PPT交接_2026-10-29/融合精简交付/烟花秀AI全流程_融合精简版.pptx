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33c732f3a4661" /><Relationship Type="http://schemas.openxmlformats.org/officeDocument/2006/relationships/extended-properties" Target="/docProps/app.xml" Id="Rba9a618448464a15" /><Relationship Type="http://schemas.openxmlformats.org/officeDocument/2006/relationships/officeDocument" Target="/ppt/presentation.xml" Id="R61e9e84ead2143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752a36c88c4ff1"/>
  </p:sldMasterIdLst>
  <p:notesMasterIdLst>
    <p:notesMasterId xmlns:r="http://schemas.openxmlformats.org/officeDocument/2006/relationships" r:id="R3f1c306609284317"/>
  </p:notesMasterIdLst>
  <p:sldIdLst>
    <p:sldId xmlns:r="http://schemas.openxmlformats.org/officeDocument/2006/relationships" id="256" r:id="R5e34556aa30e4674"/>
    <p:sldId xmlns:r="http://schemas.openxmlformats.org/officeDocument/2006/relationships" id="257" r:id="R43e2f4cfa8694c92"/>
    <p:sldId xmlns:r="http://schemas.openxmlformats.org/officeDocument/2006/relationships" id="258" r:id="R1716329c7ce948d9"/>
    <p:sldId xmlns:r="http://schemas.openxmlformats.org/officeDocument/2006/relationships" id="259" r:id="Rc6fdbd8907f1425f"/>
    <p:sldId xmlns:r="http://schemas.openxmlformats.org/officeDocument/2006/relationships" id="260" r:id="R434dd8ed77e54a3d"/>
    <p:sldId xmlns:r="http://schemas.openxmlformats.org/officeDocument/2006/relationships" id="261" r:id="R636ca0eaf0a14f23"/>
    <p:sldId xmlns:r="http://schemas.openxmlformats.org/officeDocument/2006/relationships" id="262" r:id="R6ac159d35706462c"/>
    <p:sldId xmlns:r="http://schemas.openxmlformats.org/officeDocument/2006/relationships" id="263" r:id="Re37a4b88473c409b"/>
    <p:sldId xmlns:r="http://schemas.openxmlformats.org/officeDocument/2006/relationships" id="264" r:id="R6250af90e28847c9"/>
    <p:sldId xmlns:r="http://schemas.openxmlformats.org/officeDocument/2006/relationships" id="265" r:id="R680273b6ff514859"/>
    <p:sldId xmlns:r="http://schemas.openxmlformats.org/officeDocument/2006/relationships" id="266" r:id="R14fd1b27d9b74725"/>
    <p:sldId xmlns:r="http://schemas.openxmlformats.org/officeDocument/2006/relationships" id="267" r:id="Rde23f77decfd4a71"/>
    <p:sldId xmlns:r="http://schemas.openxmlformats.org/officeDocument/2006/relationships" id="268" r:id="R7e734d3c1cb943a9"/>
    <p:sldId xmlns:r="http://schemas.openxmlformats.org/officeDocument/2006/relationships" id="269" r:id="R8b0c8308e847435b"/>
    <p:sldId xmlns:r="http://schemas.openxmlformats.org/officeDocument/2006/relationships" id="270" r:id="R72a6eb3cccb040a6"/>
    <p:sldId xmlns:r="http://schemas.openxmlformats.org/officeDocument/2006/relationships" id="271" r:id="R440182c18ba94e7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516c2d15044a06" /><Relationship Type="http://schemas.openxmlformats.org/officeDocument/2006/relationships/slideMaster" Target="/ppt/slideMasters/slideMaster1.xml" Id="Rb3752a36c88c4ff1" /><Relationship Type="http://schemas.openxmlformats.org/officeDocument/2006/relationships/notesMaster" Target="/ppt/notesMasters/notesMaster1.xml" Id="R3f1c306609284317" /><Relationship Type="http://schemas.openxmlformats.org/officeDocument/2006/relationships/presProps" Target="/ppt/presProps.xml" Id="Redc0c84bc7404b65" /><Relationship Type="http://schemas.openxmlformats.org/officeDocument/2006/relationships/viewProps" Target="/ppt/viewProps.xml" Id="Rbbbf7a7fa8964b8c" /><Relationship Type="http://schemas.openxmlformats.org/officeDocument/2006/relationships/tableStyles" Target="/ppt/tableStyles.xml" Id="Rbeae5419c5e34881" /><Relationship Type="http://schemas.openxmlformats.org/officeDocument/2006/relationships/slide" Target="/ppt/slides/slide1.xml" Id="R5e34556aa30e4674" /><Relationship Type="http://schemas.openxmlformats.org/officeDocument/2006/relationships/slide" Target="/ppt/slides/slide2.xml" Id="R43e2f4cfa8694c92" /><Relationship Type="http://schemas.openxmlformats.org/officeDocument/2006/relationships/slide" Target="/ppt/slides/slide3.xml" Id="R1716329c7ce948d9" /><Relationship Type="http://schemas.openxmlformats.org/officeDocument/2006/relationships/slide" Target="/ppt/slides/slide4.xml" Id="Rc6fdbd8907f1425f" /><Relationship Type="http://schemas.openxmlformats.org/officeDocument/2006/relationships/slide" Target="/ppt/slides/slide5.xml" Id="R434dd8ed77e54a3d" /><Relationship Type="http://schemas.openxmlformats.org/officeDocument/2006/relationships/slide" Target="/ppt/slides/slide6.xml" Id="R636ca0eaf0a14f23" /><Relationship Type="http://schemas.openxmlformats.org/officeDocument/2006/relationships/slide" Target="/ppt/slides/slide7.xml" Id="R6ac159d35706462c" /><Relationship Type="http://schemas.openxmlformats.org/officeDocument/2006/relationships/slide" Target="/ppt/slides/slide8.xml" Id="Re37a4b88473c409b" /><Relationship Type="http://schemas.openxmlformats.org/officeDocument/2006/relationships/slide" Target="/ppt/slides/slide9.xml" Id="R6250af90e28847c9" /><Relationship Type="http://schemas.openxmlformats.org/officeDocument/2006/relationships/slide" Target="/ppt/slides/slide10.xml" Id="R680273b6ff514859" /><Relationship Type="http://schemas.openxmlformats.org/officeDocument/2006/relationships/slide" Target="/ppt/slides/slide11.xml" Id="R14fd1b27d9b74725" /><Relationship Type="http://schemas.openxmlformats.org/officeDocument/2006/relationships/slide" Target="/ppt/slides/slide12.xml" Id="Rde23f77decfd4a71" /><Relationship Type="http://schemas.openxmlformats.org/officeDocument/2006/relationships/slide" Target="/ppt/slides/slide13.xml" Id="R7e734d3c1cb943a9" /><Relationship Type="http://schemas.openxmlformats.org/officeDocument/2006/relationships/slide" Target="/ppt/slides/slide14.xml" Id="R8b0c8308e847435b" /><Relationship Type="http://schemas.openxmlformats.org/officeDocument/2006/relationships/slide" Target="/ppt/slides/slide15.xml" Id="R72a6eb3cccb040a6" /><Relationship Type="http://schemas.openxmlformats.org/officeDocument/2006/relationships/slide" Target="/ppt/slides/slide16.xml" Id="R440182c18ba94e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aa5ce7732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fc961fb87142c0" /><Relationship Type="http://schemas.openxmlformats.org/officeDocument/2006/relationships/notesMaster" Target="/ppt/notesMasters/notesMaster1.xml" Id="R87c3f7ea9e26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d7bac1f1e14431" /><Relationship Type="http://schemas.openxmlformats.org/officeDocument/2006/relationships/notesMaster" Target="/ppt/notesMasters/notesMaster1.xml" Id="Rf2a8ee2d876f41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6ff9a19c7b47c7" /><Relationship Type="http://schemas.openxmlformats.org/officeDocument/2006/relationships/notesMaster" Target="/ppt/notesMasters/notesMaster1.xml" Id="R56892ecab8b2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f9e037f5b3472c" /><Relationship Type="http://schemas.openxmlformats.org/officeDocument/2006/relationships/notesMaster" Target="/ppt/notesMasters/notesMaster1.xml" Id="Rd151ef567908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c3834a7691411c" /><Relationship Type="http://schemas.openxmlformats.org/officeDocument/2006/relationships/notesMaster" Target="/ppt/notesMasters/notesMaster1.xml" Id="Ra168d1a0e9564a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6eb7381df2443f" /><Relationship Type="http://schemas.openxmlformats.org/officeDocument/2006/relationships/notesMaster" Target="/ppt/notesMasters/notesMaster1.xml" Id="Rf57f1cafd1af42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55bb217d14620" /><Relationship Type="http://schemas.openxmlformats.org/officeDocument/2006/relationships/notesMaster" Target="/ppt/notesMasters/notesMaster1.xml" Id="R8c00dad696274b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39b5b592994c79" /><Relationship Type="http://schemas.openxmlformats.org/officeDocument/2006/relationships/notesMaster" Target="/ppt/notesMasters/notesMaster1.xml" Id="Rddfb8ed822064f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b327c0a7f2467d" /><Relationship Type="http://schemas.openxmlformats.org/officeDocument/2006/relationships/notesMaster" Target="/ppt/notesMasters/notesMaster1.xml" Id="R2479ec5547fa4e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3f7186e4c84d51" /><Relationship Type="http://schemas.openxmlformats.org/officeDocument/2006/relationships/notesMaster" Target="/ppt/notesMasters/notesMaster1.xml" Id="Rf02ede71c90d43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8d7a1054b8464b" /><Relationship Type="http://schemas.openxmlformats.org/officeDocument/2006/relationships/notesMaster" Target="/ppt/notesMasters/notesMaster1.xml" Id="R19806a119be146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2ecc4a55ee48d3" /><Relationship Type="http://schemas.openxmlformats.org/officeDocument/2006/relationships/notesMaster" Target="/ppt/notesMasters/notesMaster1.xml" Id="Rb668e9f7d25a43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dbc27936734d78" /><Relationship Type="http://schemas.openxmlformats.org/officeDocument/2006/relationships/notesMaster" Target="/ppt/notesMasters/notesMaster1.xml" Id="Rce2312f4556c4e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1187aa016f4e6e" /><Relationship Type="http://schemas.openxmlformats.org/officeDocument/2006/relationships/notesMaster" Target="/ppt/notesMasters/notesMaster1.xml" Id="R92ea1b6c53cc4c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ce09b82a234f75" /><Relationship Type="http://schemas.openxmlformats.org/officeDocument/2006/relationships/notesMaster" Target="/ppt/notesMasters/notesMaster1.xml" Id="Rf08d8204e5f44f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098afc1be345fa" /><Relationship Type="http://schemas.openxmlformats.org/officeDocument/2006/relationships/notesMaster" Target="/ppt/notesMasters/notesMaster1.xml" Id="R0b85e2faab8948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今天想分享的是这次跨年烟花制作里，我怎么把资源制作、项目接入和音乐编排串到一起。过程中做了几块工具，也走了一些弯路。我会先讲它们为什么出现，再看实际产出，最后用几个具体问题讲清楚技术上怎么取舍，以及这些经验怎样留到下一次继续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封面沿用第一版示意背景。两版共同模板，源稿均保留。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第一版封面与模板；封面背景为原有示意图。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次跨年烟花3.0，PC按名称归并有26种开花花型，手游采用其中12种，尾缀和组件另算。每改一个效果，都要重新处理出图规格、引擎设置和节目匹配。去年手工维护定序器，12个子序列有2726条轨道，音乐一变就要重新对齐，也有资源与内存压力。今年版本时间紧，虽然我与程序共同设计了新导演蓝图，手工对拍仍然困难。于是把这三类重复工作分别交给烘焙器、导入器和编排工作台，再用固定格式把它们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当前节目B11r3设计219.5秒。去年3种及70秒演出时长尚未核实，不计算增长倍数。2726为旧快照总轨道，不能当粒子花型数。导演蓝图与程序共同设计，贴图规范与性能组共同确定。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F:/FireWorksLab/协作/提示词/分享PPT交接_2026-10-29/第二版重制交付/核验依据/verify_A1_A2.md</a:t>
            </a:r>
          </a:p>
          <a:p xmlns:a="http://schemas.openxmlformats.org/drawingml/2006/main">
            <a:r>
              <a:t>F:/FireWorksLab/协作/提示词/分享PPT交接_2026-10-29/第二版重制交付/核验依据/verify_A3_A5_A6.md</a:t>
            </a:r>
          </a:p>
          <a:p xmlns:a="http://schemas.openxmlformats.org/drawingml/2006/main">
            <a:r>
              <a:t>F:/FireWorksLab/协作/提示词/分享PPT交接_2026-10-29/第三版素材/去年节目.md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资源制作并不是从零开始。本机原本就有一套 Blender 烟花工程，里面有现成的粒子结构和多轮版本，可以帮助我理解花型和运动是怎样形成的。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继续做下去以后，我发现自己需要更快地判断：这个花在目标镜头里是否清楚，改完能不能稳定地导出，导出的东西怎样进入游戏。原有流程里，预览、等待和导入导出的边界会打断这个过程。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我把需求收窄到这次项目：围绕游戏的舞台、距离和交付规格，做一个专用的二维序列烘焙器。重点是让每轮迭代围绕同一组目标进行，预览、输出和接入能接得上。这里最大的收获，也是开始把“想要什么画面”写成能检查的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Blender原项目只读。模拟仍保留运动和深度，2D是最终输出视角。没有跨软件等条件基准，不宣称提速倍数。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D:/Blender/Firework_FX_Lab；assets/Sparkler/V05/parameters.json</a:t>
            </a:r>
          </a:p>
          <a:p xmlns:a="http://schemas.openxmlformats.org/drawingml/2006/main">
            <a:r>
              <a:t>核验依据/verify_A1_A2.md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出图首先要处理取景。固定框覆盖整段最大范围，位置稳定，但小形态阶段会留下空白。随开花放大让画幅跟着花径变化。单侧花型还可以把锚点放在爆点，只向有内容的一侧展开。图里展示的是三种方式，不是所有花型都用同一套。烘焙后再按内容收紧、精简尺寸曲线，并把更多帧分给运动快的阶段。这样，裁切、画幅与曲线会随着每次导出一起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沿用云端FC6O扇形示意，不当作UE实测。原2成/4成只是候选取景计划估算，已删。空中花型锚爆点，Full尾缀可锚发射点；选项与实际导出模块须分别核对。紧凑取景已因引擎抖动停用。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F:/FireWorksLab/协作/提示词/分享PPT交接_2026-10-29/第三版交付/img/p08_fixed.jpg</a:t>
            </a:r>
          </a:p>
          <a:p xmlns:a="http://schemas.openxmlformats.org/drawingml/2006/main">
            <a:r>
              <a:t>F:/FireWorksLab/协作/提示词/分享PPT交接_2026-10-29/第三版交付/img/p08_zoom.jpg</a:t>
            </a:r>
          </a:p>
          <a:p xmlns:a="http://schemas.openxmlformats.org/drawingml/2006/main">
            <a:r>
              <a:t>F:/FireWorksLab/协作/提示词/分享PPT交接_2026-10-29/第三版交付/img/p08_anchor.jpg</a:t>
            </a:r>
          </a:p>
          <a:p xmlns:a="http://schemas.openxmlformats.org/drawingml/2006/main">
            <a:r>
              <a:t>F:/FireWorksLab/协作/提示词/分享PPT交接_2026-10-29/第三版素材/取景与格子.md</a:t>
            </a:r>
          </a:p>
          <a:p xmlns:a="http://schemas.openxmlformats.org/drawingml/2006/main">
            <a:r>
              <a:t>F:/FireWorksLab/tool/CHANGELOG.md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打包时，格子跟着形状选择，帧数跟着运动选择。这里的64帧是一个例子：4乘4个格子，按R、G、B、A四个通道依次存灰度，一张图可容纳64帧。其他资源也有长条格和不同帧数，不能一律套成64。颜色由Ramp查色，Cutout减少透明区域的绘制。主序列、Ramp、Cutout和配置一起输出PC与手游两套，再按导出结果回放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图为烘焙器回放诊断，非UE实机。64仅说明4×4×RGBA容量，实际导出可为15/58/63/96/128/256等帧数。手游主贴图≤1024；不得将所有平台/资源强写固定2048。Cutout的8顶点和收益阈值属具体导出规则。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F:/FireWorksLab/协作/提示词/分享PPT交接_2026-10-29/第三版素材/取景与格子.md</a:t>
            </a:r>
          </a:p>
          <a:p xmlns:a="http://schemas.openxmlformats.org/drawingml/2006/main">
            <a:r>
              <a:t>F:/FireWorksLab/协作/提示词/分享PPT交接_2026-10-29/第三版交付/img/p09_fan_atlas.jpg</a:t>
            </a:r>
          </a:p>
          <a:p xmlns:a="http://schemas.openxmlformats.org/drawingml/2006/main">
            <a:r>
              <a:t>F:/FireWorksLab/协作/提示词/分享PPT交接_2026-10-29/第三版交付/img/p09_trail_atlas.jpg</a:t>
            </a:r>
          </a:p>
          <a:p xmlns:a="http://schemas.openxmlformats.org/drawingml/2006/main">
            <a:r>
              <a:t>F:/FireWorksLab/spec/cascade_params_v1.md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完成出图后，素材包要能稳定进入项目。导入器先读包，检查命名、尺寸和规范，再把待创建的资源与设置列成清单。确认后才写入UE，并读回结果。这样每次更新都走同一个入口，贴图规范也跟着工具执行，减少人工逐项设置和漏项。图里是流程测试数据，用来说明入口和检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画面为Fixture测试记录，不冒充正式仙女棒导入。历史149/149贴图和115资源包读回是两轮独立修正，不计为本次整库或一次导入器操作。三工具完整分发包尚需整理。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F:/FireWorksLab/协作/提示词/分享PPT交接_2026-10-29/第三版交付/img/p10_importer.jpg</a:t>
            </a:r>
          </a:p>
          <a:p xmlns:a="http://schemas.openxmlformats.org/drawingml/2006/main">
            <a:r>
              <a:t>F:/FireWorksLab/协作/提示词/分享PPT交接_2026-10-29/第二版重制交付/核验依据/verify_A3_A5_A6.md</a:t>
            </a:r>
          </a:p>
          <a:p xmlns:a="http://schemas.openxmlformats.org/drawingml/2006/main">
            <a:r>
              <a:t>F:/FireWorksLab/analysis/results/TEX_SPEC_20261018/verify.json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编排之前先定共同尺度。坝体宽800米、坝顶高150米，主点间距约100米，再加坝顶点间与前台低位，共24个设计点。右边是S、M、L和Hero的参考花径与高度。有了点距，才能判断花径和重叠：大约1.5倍还辨得出单花，2.3倍更像花墙，3倍容易糊。这个关系同时约束开花资源、尾缀高度和点位组合，最后写进编排宪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图是可编辑的尺度示意，不是实机测量。P与B同为坝顶，F前台低位，不解释为三排等距纵深。参考高度相对坝顶；墙面构图另用中心高度，不能把所有L都定为+330。现行宪章版本v2.15。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F:/FireWorksLab/协作/提示词/分享PPT交接_2026-10-29/第二版重制交付/核验依据/verify_A3_A5_A6.md</a:t>
            </a:r>
          </a:p>
          <a:p xmlns:a="http://schemas.openxmlformats.org/drawingml/2006/main">
            <a:r>
              <a:t>F:/FireWorksLab/协作/跨年秀编排宪章.md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工作台把音乐、点位和模板放在同一条时间线上。调整段落与节奏后，由工具展开并生成导演表，不需要再逐档手工编排。PC和手游各有高、中、低档，出表时按各自的资源与预算处理。自动检查已经覆盖一部分规则，但音乐对拍仍有未达目标的指标，最终画面和整场性能也要回到UE和目标设备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B11r3 219.5秒，24点，492编排槽。各档事件数PC1145/852/438、手游448/349/181，互不相加为一场。11大版本/37发布为记录口径，不再在页面用工作量证明收益。对拍78.3%/强拍46.6%低于85%/80%目标。无整场目标机及手机性能通过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F:/FireWorksLab/协作/提示词/分享PPT交接_2026-10-29/第三版交付/img/p12_workbench.jpg</a:t>
            </a:r>
          </a:p>
          <a:p xmlns:a="http://schemas.openxmlformats.org/drawingml/2006/main">
            <a:r>
              <a:t>F:/FireWorksLab/协作/提示词/分享PPT交接_2026-10-29/第二版重制交付/核验依据/verify_A3_A5_A6.md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里直接看已有的UE资产试放。六种花型能看到双色、放射、亮点和爆裂的差别。资源表按开花名称归并，PC为26种，手游采用其中12种，另有6档尾缀和一套窜天猴组件。26种里，20种能找到烘焙器相关材料，其中包括复用和派生。成果不只是做出一张图，而是修改后还能沿同一套规格重新输出和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46/24为资源表行数，26/12为花名，30为PC开花规格。212直接引用贴图、115材质实例均含LOD等。累计466份现存导出清单记录4022份素材PNG（另155检查图），含迭代，不是独立成品或导出点击次数。T26的20组材料仅17组有修订manifest，另3组旧包，不保证每种都有最新可重放配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F:/FireWorksLab/协作/提示词/分享PPT交接_2026-10-29/第二版重制交付/素材索引.json</a:t>
            </a:r>
          </a:p>
          <a:p xmlns:a="http://schemas.openxmlformats.org/drawingml/2006/main">
            <a:r>
              <a:t>F:/FireWorksLab/协作/提示词/分享PPT交接_2026-10-29/第三版素材/资源分类.md</a:t>
            </a:r>
          </a:p>
          <a:p xmlns:a="http://schemas.openxmlformats.org/drawingml/2006/main">
            <a:r>
              <a:t>F:/FireWorksLab/协作/提示词/分享PPT交接_2026-10-29/第二版重制交付/核验依据/verify_A1_A2.md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下面讲两个制作上的具体取舍。仙女棒看起来是一束连续的火星，但拆开以后，里面有主火星、细火星和由父粒子继续产生的子粒子，不同部分的速度和寿命也不一样。原来的 Blender 版本把这些内容分成了十三层。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我希望把复杂度留在制作阶段：先用父子关系、出生位置和部分速度继承，把运动组织出来，再把组合结果烘焙成主序列。这样交付到项目时，可以用一个 Main 发射器承载主要表现，而不用逐层重建同样的关系。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也不是把参数逐个照抄就结束。运动是否自然、密度是否合适、在目标镜头里还能不能看见，都需要围绕最终画面继续调整。这页大图是烘焙器历史回放，用来展示形态。4.9.118候选包已核对为每平台一个Main发射器和一张64帧主序列，另有Ramp、Cutout；候选游戏观感仍待UE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13类来自Blender V05，一个system中13个emitters，非13个系统。图为沿用的历史回放，确切版本未恢复；结构来自4.9.118候选ZIP：每平台1CPU Main、1张64帧4×4 RGBA主序列，另Ramp/Cutout。两者不能拼为当前包UE验证。不用不同效果的发射器数作性能比较。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D:/Blender/Firework_FX_Lab/assets/Sparkler/V05/parameters.json</a:t>
            </a:r>
          </a:p>
          <a:p xmlns:a="http://schemas.openxmlformats.org/drawingml/2006/main">
            <a:r>
              <a:t>analysis/results/GraphFraming/SGS1/candidate/Sparkler_Graph.zip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尾缀要同时处理运动与表示方式。这里以历史分段方案为例，近段跟着弹体移动，远段保留较老火星，近远说的是年龄和表现范围。然后按观看距离，把速度换算成每帧屏幕位移。快速上升处多留帧，减速和余火阶段再减帧。但帧数增加也占贴图预算，单格变小会影响近看锐度，所以必须一起权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Δp=∫v90(t)dt×pixelsPerMeter；0.77px为项目样本经验线，不是普适阈值。4.9.31 L/M/S为256/128/96帧，上升段最慢30/15/30fps；L单格曾128×2048变128×512。新本机包已有Hero Full、L/M/S PC loop+far、M手游loop等，历史UE与最新导出不可合成一种现状。没有整场流畅或性能结论。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F:/FireWorksLab/协作/提示词/分享PPT交接_2026-10-29/第二版重制交付/核验依据/verify_A4.md</a:t>
            </a:r>
          </a:p>
          <a:p xmlns:a="http://schemas.openxmlformats.org/drawingml/2006/main">
            <a:r>
              <a:t>F:/FireWorksLab/协作/提示词/分享PPT交接_2026-10-29/第三版素材/取景与格子.md</a:t>
            </a:r>
          </a:p>
          <a:p xmlns:a="http://schemas.openxmlformats.org/drawingml/2006/main">
            <a:r>
              <a:t>F:/FireWorksLab/analysis/原理/升空尾缀.md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里是实际UE的同条件对照。一开始看起来都是“不清楚”，继续拆查后，发现原因不同。左边是尾缀方头：细长序列格在缩放和Mip选择中丢失了形状细节。右边是金芒菊首次激活时模糊：主图分辨率还没有到位，后续播放才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所以修复也要分别处理采样和流送，再用同机位、同档位、同一时刻回看。最终接入规则按平台区分：PC主序列NoMip；手游保留Mip与流送，最大1024。这次经验是先把症状拆开，才知道应该固定哪一条规则。 黑点与Ramp末格是另外两类问题，技术附录保留了参数变化和验证范围。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已有UE同机位、同档位、同播放时刻的受控对比，裁切未改色亮度。不是所有平台都NoMip，也不概括为只会在低配发生。末格0.98规则有用户确认；黑点新Alpha写法尚待UE验证。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analysis/results/LOWQ_FIX_20261018/方案与对比.md</a:t>
            </a:r>
          </a:p>
          <a:p xmlns:a="http://schemas.openxmlformats.org/drawingml/2006/main">
            <a:r>
              <a:t>同目录两幅UE对照原图；素材索引记录精确裁切坐标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做工具时，界面会直接影响调参效率。一个参数放在哪里、什么条件下有效、改动之后该看哪里，如果这些关系不清楚，就容易出现反复拖动一个当前不起作用的参数。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所以我把参数按使用任务分组，并尽量让失效条件和相关说明直接可见。常用操作保持稳定入口，预览和输出各自有明确位置。视觉上沿用团队工具的 DF 风格，把可以共享的颜色等基础规则集中起来。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这里的目标很具体：让工具在反复修改以后，仍然容易找、容易用，也能保持统一的观感。已经落地的公共基础继续复用，更大的界面方案则逐步验证。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生产截图为4.9.124，V5隔离设计不冒充已上线。共享颜色令牌v0.1.1已接入，组件/形状/字阶仍逐步统一。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tool/design-system/tokens.json v0.1.1</a:t>
            </a:r>
          </a:p>
          <a:p xmlns:a="http://schemas.openxmlformats.org/drawingml/2006/main">
            <a:r>
              <a:t>analysis/results/20261028_V5视觉交互复核/01_124_编辑_1920.jpg</a:t>
            </a:r>
          </a:p>
          <a:p xmlns:a="http://schemas.openxmlformats.org/drawingml/2006/main">
            <a:r>
              <a:t>核验依据/verify_A3_A5_A6.md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次经历里，我的工作贯穿目标、审美、规范、整合和验收。AI按效果、底层工具和编排分工，靠任务边界和交接继续推进。比较有效的做法是，先把需求与限制说清楚，技术方案先做最小可用，再把稳定的规则写进宪章。最后，执行完成、自检通过和用户认可要分开，不能用一个通过代替另一个。对同事来说，可以从批量设置、复杂效果拆层，或者一组重复播放开始，让一次解决的问题下次还能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投入记录供讲者按需要取用：约2200次仓库提交，含352次GPU自动回传，烘焙器近200条版本记录，不等于人工操作数或独立功能数。程序共同设计导演蓝图，性能组共同确定贴图规范。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F:/FireWorksLab/协作/提示词/分享PPT交接_2026-10-29/第三版交付/讲稿_第三版.md</a:t>
            </a:r>
          </a:p>
          <a:p xmlns:a="http://schemas.openxmlformats.org/drawingml/2006/main">
            <a:r>
              <a:t>F:/FireWorksLab/协作/提示词/分享PPT交接_2026-10-29/第二版重制交付/核验依据/verify_A1_A2.md</a:t>
            </a:r>
          </a:p>
          <a:p xmlns:a="http://schemas.openxmlformats.org/drawingml/2006/main">
            <a:r>
              <a:t>F:/FireWorksLab/CLAUDE.md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这次沉淀下来的，是资源制作、项目接入和编排三块工具，以及配套的规格、检查方法和问题案例。现有烘焙器分享包带18个案例，可以先选一个效果跑完整制作流程。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把重复工作变成工具，把关键判断留给人。今天先分享到这里；如果大家对某个花型、尾缀采样或接入方式感兴趣，可以再结合附录和工程展开聊。谢谢。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现有分享包包含烘焙器+18案例。完整导入器/服务/编排分发包和发布入口尚需讲者确认，不保留xx占位。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第一版工具分享包说明；核验依据/verify_A3_A5_A6.md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黑点与末格黑块分开处理。黑点旧写法让RGB变黑，Alpha却仍是一。新写法保持颜色，让透明度负责淡出和闪烁，参数已修订，但仍待UE验证。Ramp末格问题则有用户确认：EmissiveDissolve设为0.98后有效，规则已经进入导出与导入。右图是修后UE实播，现存资料不足以提供同条件前后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【补充资料与核验备注，不朗读】</a:t>
            </a:r>
          </a:p>
          <a:p xmlns:a="http://schemas.openxmlformats.org/drawingml/2006/main">
            <a:r>
              <a:t>黑末格与主序列灰度封顶253护栏仍保留，不能描述为删除护栏。末格采样为机制解释，BC7/旧序列错配未确证为根因。不得把黑点参数修订、Ramp用户确认和单侧实播合写为两项均完成实机配对验收。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analysis/results/RT6LE3/RiseTailL_cascade.json；RT6LE4/RiseTailL_cascade.json</a:t>
            </a:r>
          </a:p>
          <a:p xmlns:a="http://schemas.openxmlformats.org/drawingml/2006/main">
            <a:r>
              <a:t>analysis/results/资源规范统一_20261016/第2步UE证据.jpg</a:t>
            </a:r>
          </a:p>
          <a:p xmlns:a="http://schemas.openxmlformats.org/drawingml/2006/main">
            <a:r>
              <a:t>对话记录/对话框23.md；核验依据/verify_A4.md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f6399d32942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f6fe7b61a48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ffac4421442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09e6e135642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b43e24e0049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0fcb7ccb346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6d66c92194da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f153966b84e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ba357491c482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e7f7e064242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e3ee1c4b441a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53C027-6184-4CA0-AC70-33628C6E02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38A1FA7-2E6F-40CB-A98B-5B6E4BBA53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EE8B66-91FD-473E-8452-3159A0CAE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B3743D-54C6-4F77-94FA-BCD0523000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B2AA4C-DFFF-49D2-898F-6E608513D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A0344E-3E82-4257-B311-39D5A4336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0087E0-31ED-45B0-97A2-8C894C2F26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155FB8-C6BA-49DA-9710-9D31B3E5C7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019546-EFAA-4B78-9D1D-9906531FB2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54F93F-7AED-425B-BC8A-4C52E47F5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E056AE-2B5E-4F33-A8A2-69F592F44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F1F4A0-7B53-4550-8E3F-142A463D1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F164A6-5704-4F24-A404-4850FA0EC9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A90697-B394-4564-AC0E-59F4CCD0B2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C10416-17B1-4CCA-A23F-C233D87214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9CBD69-A9A1-477A-8EA8-DA10E7FDF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CE667F-DD5A-4040-9FF7-C946A43A94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663E211-2AB1-4347-BF69-40D244D3E0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9D4183F-B4DC-4557-9D5B-E5B70238C2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436B35-C4CC-4BCC-9811-ABF8BDEDF7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ACECC4-C73A-4EEA-9851-911116957A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31C467-743D-46BC-92F0-E567E7B1BE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73D637-A6BF-4AF6-B76E-F708267CE6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EB5372A-A8D4-47E8-843D-E84C71E1DC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584C408-517B-4E0B-930B-FDBD39A9087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A1FF5F-E691-4DF8-B97A-F2A17977F2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979DB78-583C-43EE-8CDB-D0585B0F24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016DA10-CDD9-4485-88BC-8550891759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28146B8-7889-492A-8AE0-AF7BF8D79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80C9FE-0BF7-41A9-A57F-68608A30A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BD353EA-78FC-4FC4-B524-AAAFED2384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F7528BD-4C40-4383-8813-B4E65A35D5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0A363FA-B896-4991-992B-F7707E804F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7135057-9483-47E6-A7B1-E80BBCA90A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A0656B1-43A8-4F5C-9E8C-295BA70DB3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A3FCD2-7FAE-4B8C-95F1-CD2E93AF8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3EB71B-7DD8-4E56-A927-EA4964F75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6FEAED-027B-462A-B7F5-EBF2863401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2BED3C6-B79C-40AF-9BF5-A56A6E1688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D6A6D4-7699-4FB1-8BE8-CB3FFDBD36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DF1577-C374-4101-9A11-519ED80B7F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DFD3366-C9BC-4E66-934F-C8E990AE4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7012AF-991F-4A00-9D61-727EE17D50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D67AE86-222C-40D9-89AC-9686C9C398F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9BF1F5-D6E2-449D-8543-854DE4E69A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4FB17B-B11B-46FC-B1AB-DC6B4B00B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EF7465F-C23F-45F9-BA69-59928AA3B4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3FDC92-4CD6-4457-A374-01FAD6CA2D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F9F295-4FD9-4ABA-AC16-37979D301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A44407-6D8C-4359-B6C0-083F1DE7F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CFA42F-2706-40E3-9107-560432A731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423564-8E78-477A-9D0B-8F490507D7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E5B3BE-59F0-4783-A072-EE78889971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E68E9F4-2FDF-4479-B7C0-E61F7C04E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792398-75DA-4422-BDEE-0F41A1853E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8B87DB-BD88-4639-94D9-0FAD0C16CC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B2EAC0-3DC1-414E-99ED-B0B27B13C4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A612BA-4EC2-45FC-826B-B7829EC5C7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35104c541483f" /><Relationship Type="http://schemas.openxmlformats.org/officeDocument/2006/relationships/slideLayout" Target="/ppt/slideLayouts/slideLayout1.xml" Id="R299b739802634b42" /><Relationship Type="http://schemas.openxmlformats.org/officeDocument/2006/relationships/slideLayout" Target="/ppt/slideLayouts/slideLayout2.xml" Id="R6ec67aff89264360" /><Relationship Type="http://schemas.openxmlformats.org/officeDocument/2006/relationships/slideLayout" Target="/ppt/slideLayouts/slideLayout3.xml" Id="R121cace053834b80" /><Relationship Type="http://schemas.openxmlformats.org/officeDocument/2006/relationships/slideLayout" Target="/ppt/slideLayouts/slideLayout4.xml" Id="R515a4b8ef15b4fa9" /><Relationship Type="http://schemas.openxmlformats.org/officeDocument/2006/relationships/slideLayout" Target="/ppt/slideLayouts/slideLayout5.xml" Id="R03504986dfb44544" /><Relationship Type="http://schemas.openxmlformats.org/officeDocument/2006/relationships/slideLayout" Target="/ppt/slideLayouts/slideLayout6.xml" Id="R9f040aab5c17479b" /><Relationship Type="http://schemas.openxmlformats.org/officeDocument/2006/relationships/slideLayout" Target="/ppt/slideLayouts/slideLayout7.xml" Id="Rac25bc113d374419" /><Relationship Type="http://schemas.openxmlformats.org/officeDocument/2006/relationships/slideLayout" Target="/ppt/slideLayouts/slideLayout8.xml" Id="R04b62e607a2543f6" /><Relationship Type="http://schemas.openxmlformats.org/officeDocument/2006/relationships/slideLayout" Target="/ppt/slideLayouts/slideLayout9.xml" Id="R50868f52e78a4b4a" /><Relationship Type="http://schemas.openxmlformats.org/officeDocument/2006/relationships/slideLayout" Target="/ppt/slideLayouts/slideLayout10.xml" Id="R34c63eabbc214dd8" /><Relationship Type="http://schemas.openxmlformats.org/officeDocument/2006/relationships/slideLayout" Target="/ppt/slideLayouts/slideLayout11.xml" Id="R01bf7385c82c42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4F10D28-5EE4-4D8F-84D0-1B34BB0DB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F40F19-1F9B-4C8A-97A8-9143D49BD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8AA546-7B7C-4303-82AC-AB1B19690F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E21DC4-1007-43BB-A2F9-3401C5DEB9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55C29C-DFE1-4552-A914-FA4F6DCC82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b739802634b42"/>
    <p:sldLayoutId xmlns:r="http://schemas.openxmlformats.org/officeDocument/2006/relationships" id="2147483650" r:id="R6ec67aff89264360"/>
    <p:sldLayoutId xmlns:r="http://schemas.openxmlformats.org/officeDocument/2006/relationships" id="2147483651" r:id="R121cace053834b80"/>
    <p:sldLayoutId xmlns:r="http://schemas.openxmlformats.org/officeDocument/2006/relationships" id="2147483652" r:id="R515a4b8ef15b4fa9"/>
    <p:sldLayoutId xmlns:r="http://schemas.openxmlformats.org/officeDocument/2006/relationships" id="2147483653" r:id="R03504986dfb44544"/>
    <p:sldLayoutId xmlns:r="http://schemas.openxmlformats.org/officeDocument/2006/relationships" id="2147483654" r:id="R9f040aab5c17479b"/>
    <p:sldLayoutId xmlns:r="http://schemas.openxmlformats.org/officeDocument/2006/relationships" id="2147483655" r:id="Rac25bc113d374419"/>
    <p:sldLayoutId xmlns:r="http://schemas.openxmlformats.org/officeDocument/2006/relationships" id="2147483656" r:id="R04b62e607a2543f6"/>
    <p:sldLayoutId xmlns:r="http://schemas.openxmlformats.org/officeDocument/2006/relationships" id="2147483657" r:id="R50868f52e78a4b4a"/>
    <p:sldLayoutId xmlns:r="http://schemas.openxmlformats.org/officeDocument/2006/relationships" id="2147483658" r:id="R34c63eabbc214dd8"/>
    <p:sldLayoutId xmlns:r="http://schemas.openxmlformats.org/officeDocument/2006/relationships" id="2147483659" r:id="R01bf7385c82c426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78b6b018534baf" /><Relationship Type="http://schemas.openxmlformats.org/officeDocument/2006/relationships/image" Target="/ppt/media/image.jpeg" Id="Rc523942100cf4e6f" /><Relationship Type="http://schemas.openxmlformats.org/officeDocument/2006/relationships/notesSlide" Target="/ppt/notesSlides/notesSlide1.xml" Id="R86d2544a0170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3bd41e6c954a0a" /><Relationship Type="http://schemas.openxmlformats.org/officeDocument/2006/relationships/image" Target="/ppt/media/image2.jpeg" Id="R742cfb95881343f1" /><Relationship Type="http://schemas.openxmlformats.org/officeDocument/2006/relationships/image" Target="/ppt/media/image3.jpeg" Id="R454147ee5d69465d" /><Relationship Type="http://schemas.openxmlformats.org/officeDocument/2006/relationships/image" Target="/ppt/media/image4.jpeg" Id="R66641c393b004bf8" /><Relationship Type="http://schemas.openxmlformats.org/officeDocument/2006/relationships/image" Target="/ppt/media/image5.jpeg" Id="R910bb33300bc4f37" /><Relationship Type="http://schemas.openxmlformats.org/officeDocument/2006/relationships/notesSlide" Target="/ppt/notesSlides/notesSlide2.xml" Id="Refa55108dcaf4b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038db5a5d440ba" /><Relationship Type="http://schemas.openxmlformats.org/officeDocument/2006/relationships/image" Target="/ppt/media/image6.jpeg" Id="R926abab611504019" /><Relationship Type="http://schemas.openxmlformats.org/officeDocument/2006/relationships/image" Target="/ppt/media/image7.jpeg" Id="Ra732bb9e711b4dc0" /><Relationship Type="http://schemas.openxmlformats.org/officeDocument/2006/relationships/notesSlide" Target="/ppt/notesSlides/notesSlide3.xml" Id="R3022a818b6f444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5c11fb42074b97" /><Relationship Type="http://schemas.openxmlformats.org/officeDocument/2006/relationships/image" Target="/ppt/media/image8.jpeg" Id="R5f658a970c1842ba" /><Relationship Type="http://schemas.openxmlformats.org/officeDocument/2006/relationships/image" Target="/ppt/media/image9.jpeg" Id="R3474a7daa1364911" /><Relationship Type="http://schemas.openxmlformats.org/officeDocument/2006/relationships/image" Target="/ppt/media/image10.jpeg" Id="Rcdf728474e754972" /><Relationship Type="http://schemas.openxmlformats.org/officeDocument/2006/relationships/notesSlide" Target="/ppt/notesSlides/notesSlide4.xml" Id="Rdd1a1c7c971b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bd087ad524f36" /><Relationship Type="http://schemas.openxmlformats.org/officeDocument/2006/relationships/image" Target="/ppt/media/image11.jpeg" Id="R9bfb968e9b204516" /><Relationship Type="http://schemas.openxmlformats.org/officeDocument/2006/relationships/image" Target="/ppt/media/image12.jpeg" Id="R5cce661e7dc74f69" /><Relationship Type="http://schemas.openxmlformats.org/officeDocument/2006/relationships/notesSlide" Target="/ppt/notesSlides/notesSlide5.xml" Id="R2a4d1d50835240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ebb3b4f8fc4d4d" /><Relationship Type="http://schemas.openxmlformats.org/officeDocument/2006/relationships/image" Target="/ppt/media/image13.jpeg" Id="R72fce2f087ea456e" /><Relationship Type="http://schemas.openxmlformats.org/officeDocument/2006/relationships/notesSlide" Target="/ppt/notesSlides/notesSlide6.xml" Id="R667c43e548ee47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ae5019df8c4abd" /><Relationship Type="http://schemas.openxmlformats.org/officeDocument/2006/relationships/notesSlide" Target="/ppt/notesSlides/notesSlide7.xml" Id="R8a6287d582fa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e83573a1464772" /><Relationship Type="http://schemas.openxmlformats.org/officeDocument/2006/relationships/image" Target="/ppt/media/image14.jpeg" Id="Rfd415ab95272446e" /><Relationship Type="http://schemas.openxmlformats.org/officeDocument/2006/relationships/notesSlide" Target="/ppt/notesSlides/notesSlide8.xml" Id="R03dfb5272f9b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c1e0a1606d4da3" /><Relationship Type="http://schemas.openxmlformats.org/officeDocument/2006/relationships/image" Target="/ppt/media/image15.jpeg" Id="R04889f779a234e46" /><Relationship Type="http://schemas.openxmlformats.org/officeDocument/2006/relationships/image" Target="/ppt/media/image16.jpeg" Id="R7e570f33712c44e1" /><Relationship Type="http://schemas.openxmlformats.org/officeDocument/2006/relationships/image" Target="/ppt/media/image17.jpeg" Id="R9a5769c69bc94851" /><Relationship Type="http://schemas.openxmlformats.org/officeDocument/2006/relationships/image" Target="/ppt/media/image18.jpeg" Id="Ra0221d4896a64dde" /><Relationship Type="http://schemas.openxmlformats.org/officeDocument/2006/relationships/image" Target="/ppt/media/image19.jpeg" Id="Rd24167cd47f1425b" /><Relationship Type="http://schemas.openxmlformats.org/officeDocument/2006/relationships/image" Target="/ppt/media/image20.jpeg" Id="R509cce0d88cb430e" /><Relationship Type="http://schemas.openxmlformats.org/officeDocument/2006/relationships/notesSlide" Target="/ppt/notesSlides/notesSlide9.xml" Id="Re6d31bfdd0f84e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5a4ec9cc6041b3" /><Relationship Type="http://schemas.openxmlformats.org/officeDocument/2006/relationships/image" Target="/ppt/media/image21.jpeg" Id="R98663256702c445b" /><Relationship Type="http://schemas.openxmlformats.org/officeDocument/2006/relationships/notesSlide" Target="/ppt/notesSlides/notesSlide10.xml" Id="R26c6239617404d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c977bb2737481b" /><Relationship Type="http://schemas.openxmlformats.org/officeDocument/2006/relationships/image" Target="/ppt/media/image22.jpeg" Id="R16d23ec508174475" /><Relationship Type="http://schemas.openxmlformats.org/officeDocument/2006/relationships/notesSlide" Target="/ppt/notesSlides/notesSlide11.xml" Id="R9daa179c355c4d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cd0766f4f34515" /><Relationship Type="http://schemas.openxmlformats.org/officeDocument/2006/relationships/image" Target="/ppt/media/image23.jpeg" Id="Rc356552ef0e24443" /><Relationship Type="http://schemas.openxmlformats.org/officeDocument/2006/relationships/image" Target="/ppt/media/image24.jpeg" Id="R37b38fc25a5c44bc" /><Relationship Type="http://schemas.openxmlformats.org/officeDocument/2006/relationships/image" Target="/ppt/media/image25.jpeg" Id="R7c7abdf3bbc347df" /><Relationship Type="http://schemas.openxmlformats.org/officeDocument/2006/relationships/image" Target="/ppt/media/image26.jpeg" Id="Rf158e4db68344f90" /><Relationship Type="http://schemas.openxmlformats.org/officeDocument/2006/relationships/notesSlide" Target="/ppt/notesSlides/notesSlide12.xml" Id="Rcf7b85ac64a54e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a1c4b996874c97" /><Relationship Type="http://schemas.openxmlformats.org/officeDocument/2006/relationships/image" Target="/ppt/media/image27.jpeg" Id="Rf840c833c677454a" /><Relationship Type="http://schemas.openxmlformats.org/officeDocument/2006/relationships/image" Target="/ppt/media/image28.jpeg" Id="R4d48cc4961844ab7" /><Relationship Type="http://schemas.openxmlformats.org/officeDocument/2006/relationships/notesSlide" Target="/ppt/notesSlides/notesSlide13.xml" Id="R5f29d61192054f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d4138fd4804f71" /><Relationship Type="http://schemas.openxmlformats.org/officeDocument/2006/relationships/notesSlide" Target="/ppt/notesSlides/notesSlide14.xml" Id="R6bc0a50756334d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302c21677447d6" /><Relationship Type="http://schemas.openxmlformats.org/officeDocument/2006/relationships/image" Target="/ppt/media/image29.jpeg" Id="R93603c19bf164087" /><Relationship Type="http://schemas.openxmlformats.org/officeDocument/2006/relationships/notesSlide" Target="/ppt/notesSlides/notesSlide15.xml" Id="R2b0c96c2e24440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a76764aa5a44d2" /><Relationship Type="http://schemas.openxmlformats.org/officeDocument/2006/relationships/image" Target="/ppt/media/image30.jpeg" Id="R15e57d6305924f3d" /><Relationship Type="http://schemas.openxmlformats.org/officeDocument/2006/relationships/notesSlide" Target="/ppt/notesSlides/notesSlide16.xml" Id="Rdc379559ef4d44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C7AA1BB-10A1-4417-A855-3DC65BF2C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3942100cf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AC5AEB-D013-469F-B373-B648AB51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6527800"/>
            <a:ext cx="660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source_tag">
            <a:extLst xmlns:a="http://schemas.openxmlformats.org/drawingml/2006/main">
              <a:ext uri="{FF2B5EF4-FFF2-40B4-BE49-F238E27FC236}">
                <a16:creationId xmlns:a16="http://schemas.microsoft.com/office/drawing/2014/main" id="{B27C2B84-B672-47E0-9E59-4F428313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6527800"/>
            <a:ext cx="660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示意图</a:t>
            </a:r>
          </a:p>
        </p:txBody>
      </p:sp>
      <p:sp>
        <p:nvSpPr>
          <p:cNvPr id="7" name="footer_mark">
            <a:extLst xmlns:a="http://schemas.openxmlformats.org/drawingml/2006/main">
              <a:ext uri="{FF2B5EF4-FFF2-40B4-BE49-F238E27FC236}">
                <a16:creationId xmlns:a16="http://schemas.microsoft.com/office/drawing/2014/main" id="{6CDB7EFC-1FF3-408D-88D0-2B44DC02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772479-7643-4102-AA58-3F552617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32C3-8772-4331-ACE6-A4AFAA91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7600"/>
            <a:ext cx="698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VFX 组内分享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9145D1A-E92F-4BFA-9A7E-714BCC5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5100"/>
            <a:ext cx="825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39"/>
              </a:lnSpc>
              <a:buNone/>
            </a:pP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烟花秀</a:t>
            </a: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AI</a:t>
            </a: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全流程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5659A2-8975-45D0-B25A-DF634C2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1100"/>
            <a:ext cx="698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烟花烘焙器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导入器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烟花编排工作台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5AD8E9-17AB-4B73-B0B8-18B0A974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488A4ED-8A7F-4B32-A316-033C3B86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0"/>
            <a:ext cx="203200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4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FC18AC-A06E-4E9F-AB71-B2FB7B3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C737DD-7FD3-40E7-BE16-615C6EAC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6736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问题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151EFD5-C526-4032-B6A2-6C92193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57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5C56EBC-B082-4D0F-B1F9-0F7A15C3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9657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解决思路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3B376E7-AD17-44E4-92E2-0FB5502D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B256E3F-5B08-4702-AECC-3F8D507D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2578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实践成果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CDE98E3-B529-4153-B72D-15AB3F41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99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9A96429-A7D8-487F-B1C8-A2ACB056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5499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经验与方法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EDAA933-FF78-4D51-87B5-B6789E7F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A08C9F9-E5B5-4006-97D9-927CE030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8420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分享</a:t>
            </a:r>
          </a:p>
        </p:txBody>
      </p:sp>
    </p:spTree>
    <p:extLst>
      <p:ext uri="{BB962C8B-B14F-4D97-AF65-F5344CB8AC3E}">
        <p14:creationId xmlns:p14="http://schemas.microsoft.com/office/powerpoint/2010/main" val="551557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AA76E2BB-56D3-407B-A998-50F10B5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 · 问题与工具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82464E-308E-4C63-A3D6-0AAF498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批量需求，贯穿出图、接入与编排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B63E7F82-F32B-47C5-A030-2A6EEF44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7DBE30-82BB-44DD-8567-AC59E67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14CC63-ED5C-4189-9830-4F4B5653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C19994-F483-42D0-A7CF-E5B2F6B3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8900"/>
            <a:ext cx="381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97AE3B96-5C96-4627-9C31-380DD6214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cfb95881343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9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C2A29F-784B-43F1-8695-B24897B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" y="231775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source_tag">
            <a:extLst xmlns:a="http://schemas.openxmlformats.org/drawingml/2006/main">
              <a:ext uri="{FF2B5EF4-FFF2-40B4-BE49-F238E27FC236}">
                <a16:creationId xmlns:a16="http://schemas.microsoft.com/office/drawing/2014/main" id="{F0D944E6-9FBE-4638-B905-F9B7A6C6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" y="231775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2DA495-E89A-429A-8507-0662BB81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latin typeface="微软雅黑"/>
                <a:ea typeface="微软雅黑"/>
                <a:cs typeface="微软雅黑"/>
              </a:defRPr>
            </a:defPPr>
            <a:lvl1pPr>
              <a:defRPr sz="1350">
                <a:latin typeface="微软雅黑"/>
                <a:ea typeface="微软雅黑"/>
                <a:cs typeface="微软雅黑"/>
              </a:defRPr>
            </a:lvl1pPr>
            <a:lvl2pPr>
              <a:defRPr sz="1350">
                <a:latin typeface="微软雅黑"/>
                <a:ea typeface="微软雅黑"/>
                <a:cs typeface="微软雅黑"/>
              </a:defRPr>
            </a:lvl2pPr>
            <a:lvl3pPr>
              <a:defRPr sz="1350">
                <a:latin typeface="微软雅黑"/>
                <a:ea typeface="微软雅黑"/>
                <a:cs typeface="微软雅黑"/>
              </a:defRPr>
            </a:lvl3pPr>
            <a:lvl4pPr>
              <a:defRPr sz="1350">
                <a:latin typeface="微软雅黑"/>
                <a:ea typeface="微软雅黑"/>
                <a:cs typeface="微软雅黑"/>
              </a:defRPr>
            </a:lvl4pPr>
            <a:lvl5pPr>
              <a:defRPr sz="1350">
                <a:latin typeface="微软雅黑"/>
                <a:ea typeface="微软雅黑"/>
                <a:cs typeface="微软雅黑"/>
              </a:defRPr>
            </a:lvl5pPr>
            <a:lvl6pPr>
              <a:defRPr sz="1350">
                <a:latin typeface="微软雅黑"/>
                <a:ea typeface="微软雅黑"/>
                <a:cs typeface="微软雅黑"/>
              </a:defRPr>
            </a:lvl6pPr>
            <a:lvl7pPr>
              <a:defRPr sz="1350">
                <a:latin typeface="微软雅黑"/>
                <a:ea typeface="微软雅黑"/>
                <a:cs typeface="微软雅黑"/>
              </a:defRPr>
            </a:lvl7pPr>
            <a:lvl8pPr>
              <a:defRPr sz="1350">
                <a:latin typeface="微软雅黑"/>
                <a:ea typeface="微软雅黑"/>
                <a:cs typeface="微软雅黑"/>
              </a:defRPr>
            </a:lvl8pPr>
            <a:lvl9pPr>
              <a:defRPr sz="13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 sz="1350">
                <a:latin typeface="微软雅黑"/>
                <a:ea typeface="微软雅黑"/>
                <a:cs typeface="微软雅黑"/>
              </a:defRPr>
            </a:pPr>
            <a:r>
              <a:rPr sz="135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出图 · 规格反复处理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82C32B-E3A3-44F3-938F-E5A0DFE7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烟花烘焙器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404D07-952F-45C5-8943-34D7561D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模拟、取景与打包</a:t>
            </a:r>
          </a:p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输出双平台素材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B0333138-D069-473C-9090-1913440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20066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1BD9D2C-9F46-4C93-ACE0-6C2108B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82800"/>
            <a:ext cx="6096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素材包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BA7BDA-325B-4A73-890B-103137C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9F2FE5-1871-4453-8919-42E36C1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58900"/>
            <a:ext cx="381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CE30A512-D2CC-4B8C-9682-5BFB4AC97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147ee5d6946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15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FEC4536-7962-43BE-A1DD-A835ECF9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231775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source_tag">
            <a:extLst xmlns:a="http://schemas.openxmlformats.org/drawingml/2006/main">
              <a:ext uri="{FF2B5EF4-FFF2-40B4-BE49-F238E27FC236}">
                <a16:creationId xmlns:a16="http://schemas.microsoft.com/office/drawing/2014/main" id="{D338C273-F802-4594-8F50-9DE771F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231775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5310416-72F7-43F3-8283-B15DAB4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latin typeface="微软雅黑"/>
                <a:ea typeface="微软雅黑"/>
                <a:cs typeface="微软雅黑"/>
              </a:defRPr>
            </a:defPPr>
            <a:lvl1pPr>
              <a:defRPr sz="1350">
                <a:latin typeface="微软雅黑"/>
                <a:ea typeface="微软雅黑"/>
                <a:cs typeface="微软雅黑"/>
              </a:defRPr>
            </a:lvl1pPr>
            <a:lvl2pPr>
              <a:defRPr sz="1350">
                <a:latin typeface="微软雅黑"/>
                <a:ea typeface="微软雅黑"/>
                <a:cs typeface="微软雅黑"/>
              </a:defRPr>
            </a:lvl2pPr>
            <a:lvl3pPr>
              <a:defRPr sz="1350">
                <a:latin typeface="微软雅黑"/>
                <a:ea typeface="微软雅黑"/>
                <a:cs typeface="微软雅黑"/>
              </a:defRPr>
            </a:lvl3pPr>
            <a:lvl4pPr>
              <a:defRPr sz="1350">
                <a:latin typeface="微软雅黑"/>
                <a:ea typeface="微软雅黑"/>
                <a:cs typeface="微软雅黑"/>
              </a:defRPr>
            </a:lvl4pPr>
            <a:lvl5pPr>
              <a:defRPr sz="1350">
                <a:latin typeface="微软雅黑"/>
                <a:ea typeface="微软雅黑"/>
                <a:cs typeface="微软雅黑"/>
              </a:defRPr>
            </a:lvl5pPr>
            <a:lvl6pPr>
              <a:defRPr sz="1350">
                <a:latin typeface="微软雅黑"/>
                <a:ea typeface="微软雅黑"/>
                <a:cs typeface="微软雅黑"/>
              </a:defRPr>
            </a:lvl6pPr>
            <a:lvl7pPr>
              <a:defRPr sz="1350">
                <a:latin typeface="微软雅黑"/>
                <a:ea typeface="微软雅黑"/>
                <a:cs typeface="微软雅黑"/>
              </a:defRPr>
            </a:lvl7pPr>
            <a:lvl8pPr>
              <a:defRPr sz="1350">
                <a:latin typeface="微软雅黑"/>
                <a:ea typeface="微软雅黑"/>
                <a:cs typeface="微软雅黑"/>
              </a:defRPr>
            </a:lvl8pPr>
            <a:lvl9pPr>
              <a:defRPr sz="13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 sz="1350">
                <a:latin typeface="微软雅黑"/>
                <a:ea typeface="微软雅黑"/>
                <a:cs typeface="微软雅黑"/>
              </a:defRPr>
            </a:pPr>
            <a:r>
              <a:rPr sz="135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接入 · 设置容易漏项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27BF732-48E7-4885-8896-8F8B8541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导入器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15EC796-E5E2-4479-B39C-3F277225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检查素材包</a:t>
            </a:r>
          </a:p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批量创建与读回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1B28051A-186D-4839-8B70-6E07C68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0" y="20066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443B102-226B-4D45-BD45-877FC6C3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82800"/>
            <a:ext cx="6096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资源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0B399B5-C3D9-4E99-9454-9197993F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B17F8F9-B15E-4FF2-9BE2-D556020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8900"/>
            <a:ext cx="381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AD28476E-BF04-4299-94E2-495A91147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41c393b00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71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7903662-4FDC-43AC-9FC4-93ECDD0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231775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source_tag">
            <a:extLst xmlns:a="http://schemas.openxmlformats.org/drawingml/2006/main">
              <a:ext uri="{FF2B5EF4-FFF2-40B4-BE49-F238E27FC236}">
                <a16:creationId xmlns:a16="http://schemas.microsoft.com/office/drawing/2014/main" id="{DDA4923C-390F-40B1-BC0C-CD71A0D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231775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9FB5D9A-7005-42E1-9F13-7ACF9BA3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latin typeface="微软雅黑"/>
                <a:ea typeface="微软雅黑"/>
                <a:cs typeface="微软雅黑"/>
              </a:defRPr>
            </a:defPPr>
            <a:lvl1pPr>
              <a:defRPr sz="1350">
                <a:latin typeface="微软雅黑"/>
                <a:ea typeface="微软雅黑"/>
                <a:cs typeface="微软雅黑"/>
              </a:defRPr>
            </a:lvl1pPr>
            <a:lvl2pPr>
              <a:defRPr sz="1350">
                <a:latin typeface="微软雅黑"/>
                <a:ea typeface="微软雅黑"/>
                <a:cs typeface="微软雅黑"/>
              </a:defRPr>
            </a:lvl2pPr>
            <a:lvl3pPr>
              <a:defRPr sz="1350">
                <a:latin typeface="微软雅黑"/>
                <a:ea typeface="微软雅黑"/>
                <a:cs typeface="微软雅黑"/>
              </a:defRPr>
            </a:lvl3pPr>
            <a:lvl4pPr>
              <a:defRPr sz="1350">
                <a:latin typeface="微软雅黑"/>
                <a:ea typeface="微软雅黑"/>
                <a:cs typeface="微软雅黑"/>
              </a:defRPr>
            </a:lvl4pPr>
            <a:lvl5pPr>
              <a:defRPr sz="1350">
                <a:latin typeface="微软雅黑"/>
                <a:ea typeface="微软雅黑"/>
                <a:cs typeface="微软雅黑"/>
              </a:defRPr>
            </a:lvl5pPr>
            <a:lvl6pPr>
              <a:defRPr sz="1350">
                <a:latin typeface="微软雅黑"/>
                <a:ea typeface="微软雅黑"/>
                <a:cs typeface="微软雅黑"/>
              </a:defRPr>
            </a:lvl6pPr>
            <a:lvl7pPr>
              <a:defRPr sz="1350">
                <a:latin typeface="微软雅黑"/>
                <a:ea typeface="微软雅黑"/>
                <a:cs typeface="微软雅黑"/>
              </a:defRPr>
            </a:lvl7pPr>
            <a:lvl8pPr>
              <a:defRPr sz="1350">
                <a:latin typeface="微软雅黑"/>
                <a:ea typeface="微软雅黑"/>
                <a:cs typeface="微软雅黑"/>
              </a:defRPr>
            </a:lvl8pPr>
            <a:lvl9pPr>
              <a:defRPr sz="13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 sz="1350">
                <a:latin typeface="微软雅黑"/>
                <a:ea typeface="微软雅黑"/>
                <a:cs typeface="微软雅黑"/>
              </a:defRPr>
            </a:pPr>
            <a:r>
              <a:rPr sz="135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编排 · 手工对拍繁重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EBDA34D-80B6-42F1-82A8-6B65B06B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烟花编排工作台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1630D11-F220-4A97-925F-CBA4A1AD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在音乐时间线上编排</a:t>
            </a:r>
          </a:p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按平台与档位出表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A60236DE-74AD-4E1E-831D-50DC96CF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0066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82935DA-952D-4FD3-A70A-405B6821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82800"/>
            <a:ext cx="6096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导演表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3F60A7F-F64A-4ADD-85E6-694A1ECA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36">
            <a:extLst xmlns:a="http://schemas.openxmlformats.org/drawingml/2006/main">
              <a:ext uri="{FF2B5EF4-FFF2-40B4-BE49-F238E27FC236}">
                <a16:creationId xmlns:a16="http://schemas.microsoft.com/office/drawing/2014/main" id="{50BB2269-0C98-4649-B1FE-8E552D8B8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bb33300bc4f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27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C78C9E8-FCC0-494F-A9C5-0AC0AA69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317750"/>
            <a:ext cx="72136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source_tag">
            <a:extLst xmlns:a="http://schemas.openxmlformats.org/drawingml/2006/main">
              <a:ext uri="{FF2B5EF4-FFF2-40B4-BE49-F238E27FC236}">
                <a16:creationId xmlns:a16="http://schemas.microsoft.com/office/drawing/2014/main" id="{BA67BBC1-00B5-4AE5-8DB0-688B5B5E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317750"/>
            <a:ext cx="72136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实机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279BAA3-ECAC-4BAC-B4BA-864487FA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播放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A09E48F-DCB6-430E-9382-661CC73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导演蓝图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EAEADD4-677A-4098-9711-ACACA824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读取导演表</a:t>
            </a:r>
          </a:p>
          <a:p xmlns:a="http://schemas.openxmlformats.org/drawingml/2006/main">
            <a:pPr algn="l">
              <a:lnSpc>
                <a:spcPts val="192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在游戏中播放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6D41E101-A703-4E71-8DFA-292FFFB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5500"/>
            <a:ext cx="6400800" cy="143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73BF082-A0E6-484B-9759-88AFE4B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5500"/>
            <a:ext cx="38100" cy="143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EFF26D2B-5E2E-4597-8430-1F03D9E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800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latin typeface="微软雅黑"/>
                <a:ea typeface="微软雅黑"/>
                <a:cs typeface="微软雅黑"/>
              </a:defRPr>
            </a:defPPr>
            <a:lvl1pPr>
              <a:defRPr sz="1575">
                <a:latin typeface="微软雅黑"/>
                <a:ea typeface="微软雅黑"/>
                <a:cs typeface="微软雅黑"/>
              </a:defRPr>
            </a:lvl1pPr>
            <a:lvl2pPr>
              <a:defRPr sz="1575">
                <a:latin typeface="微软雅黑"/>
                <a:ea typeface="微软雅黑"/>
                <a:cs typeface="微软雅黑"/>
              </a:defRPr>
            </a:lvl2pPr>
            <a:lvl3pPr>
              <a:defRPr sz="1575">
                <a:latin typeface="微软雅黑"/>
                <a:ea typeface="微软雅黑"/>
                <a:cs typeface="微软雅黑"/>
              </a:defRPr>
            </a:lvl3pPr>
            <a:lvl4pPr>
              <a:defRPr sz="1575">
                <a:latin typeface="微软雅黑"/>
                <a:ea typeface="微软雅黑"/>
                <a:cs typeface="微软雅黑"/>
              </a:defRPr>
            </a:lvl4pPr>
            <a:lvl5pPr>
              <a:defRPr sz="1575">
                <a:latin typeface="微软雅黑"/>
                <a:ea typeface="微软雅黑"/>
                <a:cs typeface="微软雅黑"/>
              </a:defRPr>
            </a:lvl5pPr>
            <a:lvl6pPr>
              <a:defRPr sz="1575">
                <a:latin typeface="微软雅黑"/>
                <a:ea typeface="微软雅黑"/>
                <a:cs typeface="微软雅黑"/>
              </a:defRPr>
            </a:lvl6pPr>
            <a:lvl7pPr>
              <a:defRPr sz="1575">
                <a:latin typeface="微软雅黑"/>
                <a:ea typeface="微软雅黑"/>
                <a:cs typeface="微软雅黑"/>
              </a:defRPr>
            </a:lvl7pPr>
            <a:lvl8pPr>
              <a:defRPr sz="1575">
                <a:latin typeface="微软雅黑"/>
                <a:ea typeface="微软雅黑"/>
                <a:cs typeface="微软雅黑"/>
              </a:defRPr>
            </a:lvl8pPr>
            <a:lvl9pPr>
              <a:defRPr sz="15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 sz="1575">
                <a:latin typeface="微软雅黑"/>
                <a:ea typeface="微软雅黑"/>
                <a:cs typeface="微软雅黑"/>
              </a:defRPr>
            </a:pPr>
            <a:r>
              <a:rPr sz="1575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跨年烟花 3.0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C66BA444-E5BF-49A8-8746-F3D3EE49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080000"/>
            <a:ext cx="58420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latin typeface="微软雅黑"/>
                <a:ea typeface="微软雅黑"/>
                <a:cs typeface="微软雅黑"/>
              </a:defRPr>
            </a:defPPr>
            <a:lvl1pPr>
              <a:defRPr sz="1800">
                <a:latin typeface="微软雅黑"/>
                <a:ea typeface="微软雅黑"/>
                <a:cs typeface="微软雅黑"/>
              </a:defRPr>
            </a:lvl1pPr>
            <a:lvl2pPr>
              <a:defRPr sz="1800">
                <a:latin typeface="微软雅黑"/>
                <a:ea typeface="微软雅黑"/>
                <a:cs typeface="微软雅黑"/>
              </a:defRPr>
            </a:lvl2pPr>
            <a:lvl3pPr>
              <a:defRPr sz="1800">
                <a:latin typeface="微软雅黑"/>
                <a:ea typeface="微软雅黑"/>
                <a:cs typeface="微软雅黑"/>
              </a:defRPr>
            </a:lvl3pPr>
            <a:lvl4pPr>
              <a:defRPr sz="1800">
                <a:latin typeface="微软雅黑"/>
                <a:ea typeface="微软雅黑"/>
                <a:cs typeface="微软雅黑"/>
              </a:defRPr>
            </a:lvl4pPr>
            <a:lvl5pPr>
              <a:defRPr sz="1800">
                <a:latin typeface="微软雅黑"/>
                <a:ea typeface="微软雅黑"/>
                <a:cs typeface="微软雅黑"/>
              </a:defRPr>
            </a:lvl5pPr>
            <a:lvl6pPr>
              <a:defRPr sz="1800">
                <a:latin typeface="微软雅黑"/>
                <a:ea typeface="微软雅黑"/>
                <a:cs typeface="微软雅黑"/>
              </a:defRPr>
            </a:lvl6pPr>
            <a:lvl7pPr>
              <a:defRPr sz="1800">
                <a:latin typeface="微软雅黑"/>
                <a:ea typeface="微软雅黑"/>
                <a:cs typeface="微软雅黑"/>
              </a:defRPr>
            </a:lvl7pPr>
            <a:lvl8pPr>
              <a:defRPr sz="1800">
                <a:latin typeface="微软雅黑"/>
                <a:ea typeface="微软雅黑"/>
                <a:cs typeface="微软雅黑"/>
              </a:defRPr>
            </a:lvl8pPr>
            <a:lvl9pPr>
              <a:defRPr sz="180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240"/>
              </a:lnSpc>
              <a:buNone/>
              <a:defRPr sz="1800"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PC 26 种开花，手游采用其中 12 种</a:t>
            </a:r>
          </a:p>
          <a:p xmlns:a="http://schemas.openxmlformats.org/drawingml/2006/main">
            <a:pPr algn="l">
              <a:lnSpc>
                <a:spcPts val="2240"/>
              </a:lnSpc>
              <a:buNone/>
              <a:defRPr sz="1800"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当前节目设计约 220 秒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3FE76A7-9179-4AF5-833F-7F30B308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35500"/>
            <a:ext cx="4267200" cy="143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639C403-0E17-47E7-BD66-86CA5488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800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latin typeface="微软雅黑"/>
                <a:ea typeface="微软雅黑"/>
                <a:cs typeface="微软雅黑"/>
              </a:defRPr>
            </a:defPPr>
            <a:lvl1pPr>
              <a:defRPr sz="1575">
                <a:latin typeface="微软雅黑"/>
                <a:ea typeface="微软雅黑"/>
                <a:cs typeface="微软雅黑"/>
              </a:defRPr>
            </a:lvl1pPr>
            <a:lvl2pPr>
              <a:defRPr sz="1575">
                <a:latin typeface="微软雅黑"/>
                <a:ea typeface="微软雅黑"/>
                <a:cs typeface="微软雅黑"/>
              </a:defRPr>
            </a:lvl2pPr>
            <a:lvl3pPr>
              <a:defRPr sz="1575">
                <a:latin typeface="微软雅黑"/>
                <a:ea typeface="微软雅黑"/>
                <a:cs typeface="微软雅黑"/>
              </a:defRPr>
            </a:lvl3pPr>
            <a:lvl4pPr>
              <a:defRPr sz="1575">
                <a:latin typeface="微软雅黑"/>
                <a:ea typeface="微软雅黑"/>
                <a:cs typeface="微软雅黑"/>
              </a:defRPr>
            </a:lvl4pPr>
            <a:lvl5pPr>
              <a:defRPr sz="1575">
                <a:latin typeface="微软雅黑"/>
                <a:ea typeface="微软雅黑"/>
                <a:cs typeface="微软雅黑"/>
              </a:defRPr>
            </a:lvl5pPr>
            <a:lvl6pPr>
              <a:defRPr sz="1575">
                <a:latin typeface="微软雅黑"/>
                <a:ea typeface="微软雅黑"/>
                <a:cs typeface="微软雅黑"/>
              </a:defRPr>
            </a:lvl6pPr>
            <a:lvl7pPr>
              <a:defRPr sz="1575">
                <a:latin typeface="微软雅黑"/>
                <a:ea typeface="微软雅黑"/>
                <a:cs typeface="微软雅黑"/>
              </a:defRPr>
            </a:lvl7pPr>
            <a:lvl8pPr>
              <a:defRPr sz="1575">
                <a:latin typeface="微软雅黑"/>
                <a:ea typeface="微软雅黑"/>
                <a:cs typeface="微软雅黑"/>
              </a:defRPr>
            </a:lvl8pPr>
            <a:lvl9pPr>
              <a:defRPr sz="15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 sz="1575">
                <a:latin typeface="微软雅黑"/>
                <a:ea typeface="微软雅黑"/>
                <a:cs typeface="微软雅黑"/>
              </a:defRPr>
            </a:pPr>
            <a:r>
              <a:rPr sz="1575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固定交付格式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0F37902-4EA0-43AE-8DDE-048CE942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080000"/>
            <a:ext cx="38100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latin typeface="微软雅黑"/>
                <a:ea typeface="微软雅黑"/>
                <a:cs typeface="微软雅黑"/>
              </a:defRPr>
            </a:defPPr>
            <a:lvl1pPr>
              <a:defRPr sz="1800">
                <a:latin typeface="微软雅黑"/>
                <a:ea typeface="微软雅黑"/>
                <a:cs typeface="微软雅黑"/>
              </a:defRPr>
            </a:lvl1pPr>
            <a:lvl2pPr>
              <a:defRPr sz="1800">
                <a:latin typeface="微软雅黑"/>
                <a:ea typeface="微软雅黑"/>
                <a:cs typeface="微软雅黑"/>
              </a:defRPr>
            </a:lvl2pPr>
            <a:lvl3pPr>
              <a:defRPr sz="1800">
                <a:latin typeface="微软雅黑"/>
                <a:ea typeface="微软雅黑"/>
                <a:cs typeface="微软雅黑"/>
              </a:defRPr>
            </a:lvl3pPr>
            <a:lvl4pPr>
              <a:defRPr sz="1800">
                <a:latin typeface="微软雅黑"/>
                <a:ea typeface="微软雅黑"/>
                <a:cs typeface="微软雅黑"/>
              </a:defRPr>
            </a:lvl4pPr>
            <a:lvl5pPr>
              <a:defRPr sz="1800">
                <a:latin typeface="微软雅黑"/>
                <a:ea typeface="微软雅黑"/>
                <a:cs typeface="微软雅黑"/>
              </a:defRPr>
            </a:lvl5pPr>
            <a:lvl6pPr>
              <a:defRPr sz="1800">
                <a:latin typeface="微软雅黑"/>
                <a:ea typeface="微软雅黑"/>
                <a:cs typeface="微软雅黑"/>
              </a:defRPr>
            </a:lvl6pPr>
            <a:lvl7pPr>
              <a:defRPr sz="1800">
                <a:latin typeface="微软雅黑"/>
                <a:ea typeface="微软雅黑"/>
                <a:cs typeface="微软雅黑"/>
              </a:defRPr>
            </a:lvl7pPr>
            <a:lvl8pPr>
              <a:defRPr sz="1800">
                <a:latin typeface="微软雅黑"/>
                <a:ea typeface="微软雅黑"/>
                <a:cs typeface="微软雅黑"/>
              </a:defRPr>
            </a:lvl8pPr>
            <a:lvl9pPr>
              <a:defRPr sz="180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 sz="1800"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修改后仍能重复交接</a:t>
            </a:r>
          </a:p>
          <a:p xmlns:a="http://schemas.openxmlformats.org/drawingml/2006/main">
            <a:pPr algn="l">
              <a:lnSpc>
                <a:spcPts val="2080"/>
              </a:lnSpc>
              <a:buNone/>
              <a:defRPr sz="1800"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每一步都有检查入口</a:t>
            </a:r>
          </a:p>
        </p:txBody>
      </p:sp>
      <p:sp>
        <p:nvSpPr>
          <p:cNvPr id="50" name="融合文本_175">
            <a:extLst xmlns:a="http://schemas.openxmlformats.org/drawingml/2006/main">
              <a:ext uri="{FF2B5EF4-FFF2-40B4-BE49-F238E27FC236}">
                <a16:creationId xmlns:a16="http://schemas.microsoft.com/office/drawing/2014/main" id="{E08BDDF5-3933-41E4-8154-7E7994A1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539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4DC52F3A-7C35-452E-81F6-3E909A4D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出图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7258F6-EBE6-41F9-A1D7-65D5CAC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从 Blender 经验，做成面向游戏镜头的烘焙器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37DCAA60-CB44-4799-AD7C-A7BA730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ECA46A-5B35-4C0A-AAC6-4F84167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706C1-7E29-4E77-AA5D-46037BC0D6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abab611504019"/>
          <a:stretch xmlns:a="http://schemas.openxmlformats.org/drawingml/2006/main"/>
        </p:blipFill>
        <p:spPr>
          <a:xfrm xmlns:a="http://schemas.openxmlformats.org/drawingml/2006/main">
            <a:off x="800100" y="13525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关系_1">
            <a:extLst xmlns:a="http://schemas.openxmlformats.org/drawingml/2006/main">
              <a:ext uri="{FF2B5EF4-FFF2-40B4-BE49-F238E27FC236}">
                <a16:creationId xmlns:a16="http://schemas.microsoft.com/office/drawing/2014/main" id="{C66F711E-4ED2-4486-8A28-3ECA05B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融合文本_2">
            <a:extLst xmlns:a="http://schemas.openxmlformats.org/drawingml/2006/main">
              <a:ext uri="{FF2B5EF4-FFF2-40B4-BE49-F238E27FC236}">
                <a16:creationId xmlns:a16="http://schemas.microsoft.com/office/drawing/2014/main" id="{03FB1731-92FC-42E6-8AFE-5D766A3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Blender 原工程渲染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8B7D6-8B0E-4FA9-B7F8-F9C0AD735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2bb9e711b4dc0"/>
          <a:stretch xmlns:a="http://schemas.openxmlformats.org/drawingml/2006/main"/>
        </p:blipFill>
        <p:spPr>
          <a:xfrm xmlns:a="http://schemas.openxmlformats.org/drawingml/2006/main">
            <a:off x="5095875" y="13525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关系_3">
            <a:extLst xmlns:a="http://schemas.openxmlformats.org/drawingml/2006/main">
              <a:ext uri="{FF2B5EF4-FFF2-40B4-BE49-F238E27FC236}">
                <a16:creationId xmlns:a16="http://schemas.microsoft.com/office/drawing/2014/main" id="{E2425C3D-E0EA-4665-B0B1-C6ED5E3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101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融合文本_4">
            <a:extLst xmlns:a="http://schemas.openxmlformats.org/drawingml/2006/main">
              <a:ext uri="{FF2B5EF4-FFF2-40B4-BE49-F238E27FC236}">
                <a16:creationId xmlns:a16="http://schemas.microsoft.com/office/drawing/2014/main" id="{E6CA7187-5D05-468A-8DF1-DA48DA76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 · 历史界面</a:t>
            </a:r>
          </a:p>
        </p:txBody>
      </p:sp>
      <p:sp>
        <p:nvSpPr>
          <p:cNvPr id="12" name="融合文本_5">
            <a:extLst xmlns:a="http://schemas.openxmlformats.org/drawingml/2006/main">
              <a:ext uri="{FF2B5EF4-FFF2-40B4-BE49-F238E27FC236}">
                <a16:creationId xmlns:a16="http://schemas.microsoft.com/office/drawing/2014/main" id="{49B4D27F-BADF-4647-8066-95042EE7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829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已有模拟，迭代仍有阻力</a:t>
            </a:r>
          </a:p>
        </p:txBody>
      </p:sp>
      <p:sp>
        <p:nvSpPr>
          <p:cNvPr id="13" name="融合文本_6">
            <a:extLst xmlns:a="http://schemas.openxmlformats.org/drawingml/2006/main">
              <a:ext uri="{FF2B5EF4-FFF2-40B4-BE49-F238E27FC236}">
                <a16:creationId xmlns:a16="http://schemas.microsoft.com/office/drawing/2014/main" id="{2D7B24D9-92E1-40B6-BCEC-E483F411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82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等待渲染、交互卡顿，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预览与最终输出不够直观。</a:t>
            </a:r>
          </a:p>
        </p:txBody>
      </p:sp>
      <p:sp>
        <p:nvSpPr>
          <p:cNvPr id="14" name="融合文本_7">
            <a:extLst xmlns:a="http://schemas.openxmlformats.org/drawingml/2006/main">
              <a:ext uri="{FF2B5EF4-FFF2-40B4-BE49-F238E27FC236}">
                <a16:creationId xmlns:a16="http://schemas.microsoft.com/office/drawing/2014/main" id="{D0EDE188-45DE-41E2-88A0-4FA9D28C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实时调参，导出后回放复核</a:t>
            </a:r>
          </a:p>
        </p:txBody>
      </p:sp>
      <p:sp>
        <p:nvSpPr>
          <p:cNvPr id="15" name="融合文本_8">
            <a:extLst xmlns:a="http://schemas.openxmlformats.org/drawingml/2006/main">
              <a:ext uri="{FF2B5EF4-FFF2-40B4-BE49-F238E27FC236}">
                <a16:creationId xmlns:a16="http://schemas.microsoft.com/office/drawing/2014/main" id="{95892102-457C-46F8-8BE6-C74674F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38825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围绕舞台、视距与双平台规格，定制 2D 输出。</a:t>
            </a:r>
          </a:p>
        </p:txBody>
      </p:sp>
      <p:sp>
        <p:nvSpPr>
          <p:cNvPr id="16" name="融合文本_176">
            <a:extLst xmlns:a="http://schemas.openxmlformats.org/drawingml/2006/main">
              <a:ext uri="{FF2B5EF4-FFF2-40B4-BE49-F238E27FC236}">
                <a16:creationId xmlns:a16="http://schemas.microsoft.com/office/drawing/2014/main" id="{2162D2AD-68F7-4E76-8030-4CA47EE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0286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B2038FA0-A3BA-4277-90DA-8CCF77AD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出图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25ECB3-19F2-42B3-90F0-C90D4699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取景与裁剪：减少空白，保留稳定的运动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F6D9AF5C-C8D8-4F88-8761-0156D023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0A5728-3F0F-43A2-B832-308DE9DC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924A371-155D-423C-9244-2087288A1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58a970c18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8900"/>
            <a:ext cx="3505200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CB2C37-44FC-41D0-AEC8-DD0756C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1447800"/>
            <a:ext cx="1905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39"/>
              </a:lnSpc>
              <a:buNone/>
            </a:pPr>
            <a:r>
              <a:rPr sz="12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1E0823-F00C-45A3-A1A2-B4FFF9B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505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固定框（默认）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F27A7E-BB7B-4EE4-85CF-46FF3F66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5000"/>
            <a:ext cx="35052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取整段最大范围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E13C5DF2-FCD7-4BEC-AD1E-395A491B3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4a7daa1364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358900"/>
            <a:ext cx="3505200" cy="26670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45AB13-0384-4413-A2BE-5FF94DE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447800"/>
            <a:ext cx="1905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39"/>
              </a:lnSpc>
              <a:buNone/>
            </a:pPr>
            <a:r>
              <a:rPr sz="12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ACD42A-159A-49DE-9137-B18572D2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3505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随开花放大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6E9154-4037-4532-B1ED-80F3DF9F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45000"/>
            <a:ext cx="35052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以爆点为中心放大</a:t>
            </a:r>
          </a:p>
        </p:txBody>
      </p:sp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F9DFC55B-E76E-4D50-947A-ED0B95D33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728474e75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1358900"/>
            <a:ext cx="3505200" cy="2667000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7F0B7A-124C-4E45-B459-03874F81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47800"/>
            <a:ext cx="1905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39"/>
              </a:lnSpc>
              <a:buNone/>
            </a:pPr>
            <a:r>
              <a:rPr sz="12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5FB32A-F5B3-4BC4-B736-D0B3351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3505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锚在爆点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71C02AE-BEBD-42F4-85D0-B1B9459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5000"/>
            <a:ext cx="35052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7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只向内容方向放大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5E8C9ED-DD2A-40B0-B1E2-902189F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latin typeface="微软雅黑"/>
                <a:ea typeface="微软雅黑"/>
                <a:cs typeface="微软雅黑"/>
              </a:defRPr>
            </a:defPPr>
            <a:lvl1pPr>
              <a:defRPr sz="1275">
                <a:latin typeface="微软雅黑"/>
                <a:ea typeface="微软雅黑"/>
                <a:cs typeface="微软雅黑"/>
              </a:defRPr>
            </a:lvl1pPr>
            <a:lvl2pPr>
              <a:defRPr sz="1275">
                <a:latin typeface="微软雅黑"/>
                <a:ea typeface="微软雅黑"/>
                <a:cs typeface="微软雅黑"/>
              </a:defRPr>
            </a:lvl2pPr>
            <a:lvl3pPr>
              <a:defRPr sz="1275">
                <a:latin typeface="微软雅黑"/>
                <a:ea typeface="微软雅黑"/>
                <a:cs typeface="微软雅黑"/>
              </a:defRPr>
            </a:lvl3pPr>
            <a:lvl4pPr>
              <a:defRPr sz="1275">
                <a:latin typeface="微软雅黑"/>
                <a:ea typeface="微软雅黑"/>
                <a:cs typeface="微软雅黑"/>
              </a:defRPr>
            </a:lvl4pPr>
            <a:lvl5pPr>
              <a:defRPr sz="1275">
                <a:latin typeface="微软雅黑"/>
                <a:ea typeface="微软雅黑"/>
                <a:cs typeface="微软雅黑"/>
              </a:defRPr>
            </a:lvl5pPr>
            <a:lvl6pPr>
              <a:defRPr sz="1275">
                <a:latin typeface="微软雅黑"/>
                <a:ea typeface="微软雅黑"/>
                <a:cs typeface="微软雅黑"/>
              </a:defRPr>
            </a:lvl6pPr>
            <a:lvl7pPr>
              <a:defRPr sz="1275">
                <a:latin typeface="微软雅黑"/>
                <a:ea typeface="微软雅黑"/>
                <a:cs typeface="微软雅黑"/>
              </a:defRPr>
            </a:lvl7pPr>
            <a:lvl8pPr>
              <a:defRPr sz="1275">
                <a:latin typeface="微软雅黑"/>
                <a:ea typeface="微软雅黑"/>
                <a:cs typeface="微软雅黑"/>
              </a:defRPr>
            </a:lvl8pPr>
            <a:lvl9pPr>
              <a:defRPr sz="12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300"/>
              </a:lnSpc>
              <a:buNone/>
              <a:defRPr sz="1275"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三种取景方式示意 · 扇形测试候选，并非正式资源收益对比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9E278AC-3325-4A24-90FB-2B194D4A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0"/>
            <a:ext cx="1097280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4789E5C-877F-4EA4-AC08-D1C992AA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488267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20"/>
              </a:lnSpc>
              <a:buNone/>
            </a:pPr>
            <a:r>
              <a:rPr sz="14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烘焙后收紧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CF87941-2354-4DC5-B0B4-EE87E0DF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5300"/>
            <a:ext cx="3488267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按每帧实际内容二次收紧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8481A0-4C5C-4EC3-B583-1D300DAB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867" y="5257800"/>
            <a:ext cx="3488267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20"/>
              </a:lnSpc>
              <a:buNone/>
            </a:pPr>
            <a:r>
              <a:rPr sz="14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曲线精简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6C360A7-B65C-4355-9A8F-00D3555A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867" y="5575300"/>
            <a:ext cx="3488267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latin typeface="微软雅黑"/>
                <a:ea typeface="微软雅黑"/>
                <a:cs typeface="微软雅黑"/>
              </a:defRPr>
            </a:defPPr>
            <a:lvl1pPr>
              <a:defRPr sz="1575">
                <a:latin typeface="微软雅黑"/>
                <a:ea typeface="微软雅黑"/>
                <a:cs typeface="微软雅黑"/>
              </a:defRPr>
            </a:lvl1pPr>
            <a:lvl2pPr>
              <a:defRPr sz="1575">
                <a:latin typeface="微软雅黑"/>
                <a:ea typeface="微软雅黑"/>
                <a:cs typeface="微软雅黑"/>
              </a:defRPr>
            </a:lvl2pPr>
            <a:lvl3pPr>
              <a:defRPr sz="1575">
                <a:latin typeface="微软雅黑"/>
                <a:ea typeface="微软雅黑"/>
                <a:cs typeface="微软雅黑"/>
              </a:defRPr>
            </a:lvl3pPr>
            <a:lvl4pPr>
              <a:defRPr sz="1575">
                <a:latin typeface="微软雅黑"/>
                <a:ea typeface="微软雅黑"/>
                <a:cs typeface="微软雅黑"/>
              </a:defRPr>
            </a:lvl4pPr>
            <a:lvl5pPr>
              <a:defRPr sz="1575">
                <a:latin typeface="微软雅黑"/>
                <a:ea typeface="微软雅黑"/>
                <a:cs typeface="微软雅黑"/>
              </a:defRPr>
            </a:lvl5pPr>
            <a:lvl6pPr>
              <a:defRPr sz="1575">
                <a:latin typeface="微软雅黑"/>
                <a:ea typeface="微软雅黑"/>
                <a:cs typeface="微软雅黑"/>
              </a:defRPr>
            </a:lvl6pPr>
            <a:lvl7pPr>
              <a:defRPr sz="1575">
                <a:latin typeface="微软雅黑"/>
                <a:ea typeface="微软雅黑"/>
                <a:cs typeface="微软雅黑"/>
              </a:defRPr>
            </a:lvl7pPr>
            <a:lvl8pPr>
              <a:defRPr sz="1575">
                <a:latin typeface="微软雅黑"/>
                <a:ea typeface="微软雅黑"/>
                <a:cs typeface="微软雅黑"/>
              </a:defRPr>
            </a:lvl8pPr>
            <a:lvl9pPr>
              <a:defRPr sz="15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575"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精简尺寸曲线，便于引擎播放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B901114-E066-4E47-8DB9-99F9AA37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133" y="5257800"/>
            <a:ext cx="3488267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20"/>
              </a:lnSpc>
              <a:buNone/>
            </a:pPr>
            <a:r>
              <a:rPr sz="14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帧数分配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D1F0FD7-1FF4-4ABB-AA51-3B6B152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133" y="5575300"/>
            <a:ext cx="3488267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运动快的阶段分配更多帧</a:t>
            </a:r>
          </a:p>
        </p:txBody>
      </p:sp>
      <p:sp>
        <p:nvSpPr>
          <p:cNvPr id="29" name="融合文本_177">
            <a:extLst xmlns:a="http://schemas.openxmlformats.org/drawingml/2006/main">
              <a:ext uri="{FF2B5EF4-FFF2-40B4-BE49-F238E27FC236}">
                <a16:creationId xmlns:a16="http://schemas.microsoft.com/office/drawing/2014/main" id="{2153270A-D482-4753-A5C5-D6531AE0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8668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D65B82AC-44FD-4A4C-8E44-59628832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出图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30F6CE-5393-412C-A8E7-4F26FF6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打包规范：格子随形状，帧数随运动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98C41AF7-7037-4AEB-B8B9-D572DFD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8C2127-F0A5-4D39-9286-2255915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610604-724B-4E56-9B09-3E147B16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8900"/>
            <a:ext cx="3289300" cy="471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11F580-D943-4732-A5D1-AEAAA825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8900"/>
            <a:ext cx="38100" cy="471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82A283-4D55-4AC0-B0AF-3141F98F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00200"/>
            <a:ext cx="2794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500"/>
              </a:lnSpc>
              <a:buNone/>
            </a:pPr>
            <a:r>
              <a:rPr sz="85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64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AD6BE49-9244-44A2-B9AE-8E6D7633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768600"/>
            <a:ext cx="2794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latin typeface="微软雅黑"/>
                <a:ea typeface="微软雅黑"/>
                <a:cs typeface="微软雅黑"/>
              </a:defRPr>
            </a:defPPr>
            <a:lvl1pPr>
              <a:defRPr sz="1950">
                <a:latin typeface="微软雅黑"/>
                <a:ea typeface="微软雅黑"/>
                <a:cs typeface="微软雅黑"/>
              </a:defRPr>
            </a:lvl1pPr>
            <a:lvl2pPr>
              <a:defRPr sz="1950">
                <a:latin typeface="微软雅黑"/>
                <a:ea typeface="微软雅黑"/>
                <a:cs typeface="微软雅黑"/>
              </a:defRPr>
            </a:lvl2pPr>
            <a:lvl3pPr>
              <a:defRPr sz="1950">
                <a:latin typeface="微软雅黑"/>
                <a:ea typeface="微软雅黑"/>
                <a:cs typeface="微软雅黑"/>
              </a:defRPr>
            </a:lvl3pPr>
            <a:lvl4pPr>
              <a:defRPr sz="1950">
                <a:latin typeface="微软雅黑"/>
                <a:ea typeface="微软雅黑"/>
                <a:cs typeface="微软雅黑"/>
              </a:defRPr>
            </a:lvl4pPr>
            <a:lvl5pPr>
              <a:defRPr sz="1950">
                <a:latin typeface="微软雅黑"/>
                <a:ea typeface="微软雅黑"/>
                <a:cs typeface="微软雅黑"/>
              </a:defRPr>
            </a:lvl5pPr>
            <a:lvl6pPr>
              <a:defRPr sz="1950">
                <a:latin typeface="微软雅黑"/>
                <a:ea typeface="微软雅黑"/>
                <a:cs typeface="微软雅黑"/>
              </a:defRPr>
            </a:lvl6pPr>
            <a:lvl7pPr>
              <a:defRPr sz="1950">
                <a:latin typeface="微软雅黑"/>
                <a:ea typeface="微软雅黑"/>
                <a:cs typeface="微软雅黑"/>
              </a:defRPr>
            </a:lvl7pPr>
            <a:lvl8pPr>
              <a:defRPr sz="1950">
                <a:latin typeface="微软雅黑"/>
                <a:ea typeface="微软雅黑"/>
                <a:cs typeface="微软雅黑"/>
              </a:defRPr>
            </a:lvl8pPr>
            <a:lvl9pPr>
              <a:defRPr sz="19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210"/>
              </a:lnSpc>
              <a:buNone/>
              <a:defRPr sz="1950"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帧容量示例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7CEBB4-1C73-4468-82F0-4DBCAB3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175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4×4 格 × RGBA 四通道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1D8454-93FC-45A6-8FF2-06E5207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810000"/>
            <a:ext cx="266700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11151B-8BFD-44FE-B685-1189CCAB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987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defRPr sz="1650">
                <a:latin typeface="微软雅黑"/>
                <a:ea typeface="微软雅黑"/>
                <a:cs typeface="微软雅黑"/>
              </a:defRPr>
            </a:lvl1pPr>
            <a:lvl2pPr>
              <a:defRPr sz="1650">
                <a:latin typeface="微软雅黑"/>
                <a:ea typeface="微软雅黑"/>
                <a:cs typeface="微软雅黑"/>
              </a:defRPr>
            </a:lvl2pPr>
            <a:lvl3pPr>
              <a:defRPr sz="1650">
                <a:latin typeface="微软雅黑"/>
                <a:ea typeface="微软雅黑"/>
                <a:cs typeface="微软雅黑"/>
              </a:defRPr>
            </a:lvl3pPr>
            <a:lvl4pPr>
              <a:defRPr sz="1650">
                <a:latin typeface="微软雅黑"/>
                <a:ea typeface="微软雅黑"/>
                <a:cs typeface="微软雅黑"/>
              </a:defRPr>
            </a:lvl4pPr>
            <a:lvl5pPr>
              <a:defRPr sz="1650">
                <a:latin typeface="微软雅黑"/>
                <a:ea typeface="微软雅黑"/>
                <a:cs typeface="微软雅黑"/>
              </a:defRPr>
            </a:lvl5pPr>
            <a:lvl6pPr>
              <a:defRPr sz="1650">
                <a:latin typeface="微软雅黑"/>
                <a:ea typeface="微软雅黑"/>
                <a:cs typeface="微软雅黑"/>
              </a:defRPr>
            </a:lvl6pPr>
            <a:lvl7pPr>
              <a:defRPr sz="1650">
                <a:latin typeface="微软雅黑"/>
                <a:ea typeface="微软雅黑"/>
                <a:cs typeface="微软雅黑"/>
              </a:defRPr>
            </a:lvl7pPr>
            <a:lvl8pPr>
              <a:defRPr sz="1650">
                <a:latin typeface="微软雅黑"/>
                <a:ea typeface="微软雅黑"/>
                <a:cs typeface="微软雅黑"/>
              </a:defRPr>
            </a:lvl8pPr>
            <a:lvl9pPr>
              <a:defRPr sz="1650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灰度存储，Ramp 查色</a:t>
            </a:r>
          </a:p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同一灰度结构可复用换色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AD039E4-ACCB-4678-9753-65AF9BBC4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b968e9b204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3700" y="1358900"/>
            <a:ext cx="3625850" cy="22479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62DDD641-5AC2-4310-9713-23EFB801A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e661e7dc7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6550" y="1358900"/>
            <a:ext cx="3625850" cy="2247900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8AE05DC-CD34-4AF5-A543-6EEC8EB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3670300"/>
            <a:ext cx="362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latin typeface="微软雅黑"/>
                <a:ea typeface="微软雅黑"/>
                <a:cs typeface="微软雅黑"/>
              </a:defRPr>
            </a:defPPr>
            <a:lvl1pPr>
              <a:defRPr sz="1275">
                <a:latin typeface="微软雅黑"/>
                <a:ea typeface="微软雅黑"/>
                <a:cs typeface="微软雅黑"/>
              </a:defRPr>
            </a:lvl1pPr>
            <a:lvl2pPr>
              <a:defRPr sz="1275">
                <a:latin typeface="微软雅黑"/>
                <a:ea typeface="微软雅黑"/>
                <a:cs typeface="微软雅黑"/>
              </a:defRPr>
            </a:lvl2pPr>
            <a:lvl3pPr>
              <a:defRPr sz="1275">
                <a:latin typeface="微软雅黑"/>
                <a:ea typeface="微软雅黑"/>
                <a:cs typeface="微软雅黑"/>
              </a:defRPr>
            </a:lvl3pPr>
            <a:lvl4pPr>
              <a:defRPr sz="1275">
                <a:latin typeface="微软雅黑"/>
                <a:ea typeface="微软雅黑"/>
                <a:cs typeface="微软雅黑"/>
              </a:defRPr>
            </a:lvl4pPr>
            <a:lvl5pPr>
              <a:defRPr sz="1275">
                <a:latin typeface="微软雅黑"/>
                <a:ea typeface="微软雅黑"/>
                <a:cs typeface="微软雅黑"/>
              </a:defRPr>
            </a:lvl5pPr>
            <a:lvl6pPr>
              <a:defRPr sz="1275">
                <a:latin typeface="微软雅黑"/>
                <a:ea typeface="微软雅黑"/>
                <a:cs typeface="微软雅黑"/>
              </a:defRPr>
            </a:lvl6pPr>
            <a:lvl7pPr>
              <a:defRPr sz="1275">
                <a:latin typeface="微软雅黑"/>
                <a:ea typeface="微软雅黑"/>
                <a:cs typeface="微软雅黑"/>
              </a:defRPr>
            </a:lvl7pPr>
            <a:lvl8pPr>
              <a:defRPr sz="1275">
                <a:latin typeface="微软雅黑"/>
                <a:ea typeface="微软雅黑"/>
                <a:cs typeface="微软雅黑"/>
              </a:defRPr>
            </a:lvl8pPr>
            <a:lvl9pPr>
              <a:defRPr sz="12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ts val="1430"/>
              </a:lnSpc>
              <a:buNone/>
              <a:defRPr sz="1275"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烘焙器回放 · 扇形 4×4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F565239-C94D-4D86-BFDD-7F9EE1C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670300"/>
            <a:ext cx="362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latin typeface="微软雅黑"/>
                <a:ea typeface="微软雅黑"/>
                <a:cs typeface="微软雅黑"/>
              </a:defRPr>
            </a:defPPr>
            <a:lvl1pPr>
              <a:defRPr sz="1275">
                <a:latin typeface="微软雅黑"/>
                <a:ea typeface="微软雅黑"/>
                <a:cs typeface="微软雅黑"/>
              </a:defRPr>
            </a:lvl1pPr>
            <a:lvl2pPr>
              <a:defRPr sz="1275">
                <a:latin typeface="微软雅黑"/>
                <a:ea typeface="微软雅黑"/>
                <a:cs typeface="微软雅黑"/>
              </a:defRPr>
            </a:lvl2pPr>
            <a:lvl3pPr>
              <a:defRPr sz="1275">
                <a:latin typeface="微软雅黑"/>
                <a:ea typeface="微软雅黑"/>
                <a:cs typeface="微软雅黑"/>
              </a:defRPr>
            </a:lvl3pPr>
            <a:lvl4pPr>
              <a:defRPr sz="1275">
                <a:latin typeface="微软雅黑"/>
                <a:ea typeface="微软雅黑"/>
                <a:cs typeface="微软雅黑"/>
              </a:defRPr>
            </a:lvl4pPr>
            <a:lvl5pPr>
              <a:defRPr sz="1275">
                <a:latin typeface="微软雅黑"/>
                <a:ea typeface="微软雅黑"/>
                <a:cs typeface="微软雅黑"/>
              </a:defRPr>
            </a:lvl5pPr>
            <a:lvl6pPr>
              <a:defRPr sz="1275">
                <a:latin typeface="微软雅黑"/>
                <a:ea typeface="微软雅黑"/>
                <a:cs typeface="微软雅黑"/>
              </a:defRPr>
            </a:lvl6pPr>
            <a:lvl7pPr>
              <a:defRPr sz="1275">
                <a:latin typeface="微软雅黑"/>
                <a:ea typeface="微软雅黑"/>
                <a:cs typeface="微软雅黑"/>
              </a:defRPr>
            </a:lvl7pPr>
            <a:lvl8pPr>
              <a:defRPr sz="1275">
                <a:latin typeface="微软雅黑"/>
                <a:ea typeface="微软雅黑"/>
                <a:cs typeface="微软雅黑"/>
              </a:defRPr>
            </a:lvl8pPr>
            <a:lvl9pPr>
              <a:defRPr sz="12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ts val="1430"/>
              </a:lnSpc>
              <a:buNone/>
              <a:defRPr sz="1275"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烘焙器回放 · 尾缀 16×1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22B2876-08E6-4860-AF19-92975BC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27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F04CFAE-E652-4726-AF80-68EE263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4191000"/>
            <a:ext cx="337185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82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4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形状决定排格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E501A5E-3E92-4189-A8DD-C54C535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44958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latin typeface="微软雅黑"/>
                <a:ea typeface="微软雅黑"/>
                <a:cs typeface="微软雅黑"/>
              </a:defRPr>
            </a:defPPr>
            <a:lvl1pPr>
              <a:defRPr sz="1575">
                <a:latin typeface="微软雅黑"/>
                <a:ea typeface="微软雅黑"/>
                <a:cs typeface="微软雅黑"/>
              </a:defRPr>
            </a:lvl1pPr>
            <a:lvl2pPr>
              <a:defRPr sz="1575">
                <a:latin typeface="微软雅黑"/>
                <a:ea typeface="微软雅黑"/>
                <a:cs typeface="微软雅黑"/>
              </a:defRPr>
            </a:lvl2pPr>
            <a:lvl3pPr>
              <a:defRPr sz="1575">
                <a:latin typeface="微软雅黑"/>
                <a:ea typeface="微软雅黑"/>
                <a:cs typeface="微软雅黑"/>
              </a:defRPr>
            </a:lvl3pPr>
            <a:lvl4pPr>
              <a:defRPr sz="1575">
                <a:latin typeface="微软雅黑"/>
                <a:ea typeface="微软雅黑"/>
                <a:cs typeface="微软雅黑"/>
              </a:defRPr>
            </a:lvl4pPr>
            <a:lvl5pPr>
              <a:defRPr sz="1575">
                <a:latin typeface="微软雅黑"/>
                <a:ea typeface="微软雅黑"/>
                <a:cs typeface="微软雅黑"/>
              </a:defRPr>
            </a:lvl5pPr>
            <a:lvl6pPr>
              <a:defRPr sz="1575">
                <a:latin typeface="微软雅黑"/>
                <a:ea typeface="微软雅黑"/>
                <a:cs typeface="微软雅黑"/>
              </a:defRPr>
            </a:lvl6pPr>
            <a:lvl7pPr>
              <a:defRPr sz="1575">
                <a:latin typeface="微软雅黑"/>
                <a:ea typeface="微软雅黑"/>
                <a:cs typeface="微软雅黑"/>
              </a:defRPr>
            </a:lvl7pPr>
            <a:lvl8pPr>
              <a:defRPr sz="1575">
                <a:latin typeface="微软雅黑"/>
                <a:ea typeface="微软雅黑"/>
                <a:cs typeface="微软雅黑"/>
              </a:defRPr>
            </a:lvl8pPr>
            <a:lvl9pPr>
              <a:defRPr sz="15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575"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方格与长条格，按资源选择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76172E1-DABC-4E24-996C-CB2417F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7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FFC3CD7-0B83-49D4-85A6-5060E87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37185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20"/>
              </a:lnSpc>
              <a:buNone/>
            </a:pPr>
            <a:r>
              <a:rPr sz="14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Cutout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B532425-554E-4B87-8F66-C557B263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latin typeface="微软雅黑"/>
                <a:ea typeface="微软雅黑"/>
                <a:cs typeface="微软雅黑"/>
              </a:defRPr>
            </a:defPPr>
            <a:lvl1pPr>
              <a:defRPr sz="1575">
                <a:latin typeface="微软雅黑"/>
                <a:ea typeface="微软雅黑"/>
                <a:cs typeface="微软雅黑"/>
              </a:defRPr>
            </a:lvl1pPr>
            <a:lvl2pPr>
              <a:defRPr sz="1575">
                <a:latin typeface="微软雅黑"/>
                <a:ea typeface="微软雅黑"/>
                <a:cs typeface="微软雅黑"/>
              </a:defRPr>
            </a:lvl2pPr>
            <a:lvl3pPr>
              <a:defRPr sz="1575">
                <a:latin typeface="微软雅黑"/>
                <a:ea typeface="微软雅黑"/>
                <a:cs typeface="微软雅黑"/>
              </a:defRPr>
            </a:lvl3pPr>
            <a:lvl4pPr>
              <a:defRPr sz="1575">
                <a:latin typeface="微软雅黑"/>
                <a:ea typeface="微软雅黑"/>
                <a:cs typeface="微软雅黑"/>
              </a:defRPr>
            </a:lvl4pPr>
            <a:lvl5pPr>
              <a:defRPr sz="1575">
                <a:latin typeface="微软雅黑"/>
                <a:ea typeface="微软雅黑"/>
                <a:cs typeface="微软雅黑"/>
              </a:defRPr>
            </a:lvl5pPr>
            <a:lvl6pPr>
              <a:defRPr sz="1575">
                <a:latin typeface="微软雅黑"/>
                <a:ea typeface="微软雅黑"/>
                <a:cs typeface="微软雅黑"/>
              </a:defRPr>
            </a:lvl6pPr>
            <a:lvl7pPr>
              <a:defRPr sz="1575">
                <a:latin typeface="微软雅黑"/>
                <a:ea typeface="微软雅黑"/>
                <a:cs typeface="微软雅黑"/>
              </a:defRPr>
            </a:lvl7pPr>
            <a:lvl8pPr>
              <a:defRPr sz="1575">
                <a:latin typeface="微软雅黑"/>
                <a:ea typeface="微软雅黑"/>
                <a:cs typeface="微软雅黑"/>
              </a:defRPr>
            </a:lvl8pPr>
            <a:lvl9pPr>
              <a:defRPr sz="15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575"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按轮廓减小透明绘制区域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72BA0C0-0204-4881-AF4E-AACD1430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23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F3B1E4F-92CA-43FD-A136-B34A65A2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5143500"/>
            <a:ext cx="337185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20"/>
              </a:lnSpc>
              <a:buNone/>
            </a:pPr>
            <a:r>
              <a:rPr sz="14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双平台导出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222B0AB-EA7B-4048-8217-DFBDCC5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54483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手游贴图不超过</a:t>
            </a:r>
            <a:r>
              <a:rPr sz="12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1024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9AAC0FB-4DC1-437E-A44A-5606EF6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3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8DFF0F2-32C2-4A18-A45B-F2DF06E5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337185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20"/>
              </a:lnSpc>
              <a:buNone/>
            </a:pPr>
            <a:r>
              <a:rPr sz="14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回放复核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E4E1616-4D89-4291-87A6-2F50728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483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latin typeface="微软雅黑"/>
                <a:ea typeface="微软雅黑"/>
                <a:cs typeface="微软雅黑"/>
              </a:defRPr>
            </a:defPPr>
            <a:lvl1pPr>
              <a:defRPr sz="1575">
                <a:latin typeface="微软雅黑"/>
                <a:ea typeface="微软雅黑"/>
                <a:cs typeface="微软雅黑"/>
              </a:defRPr>
            </a:lvl1pPr>
            <a:lvl2pPr>
              <a:defRPr sz="1575">
                <a:latin typeface="微软雅黑"/>
                <a:ea typeface="微软雅黑"/>
                <a:cs typeface="微软雅黑"/>
              </a:defRPr>
            </a:lvl2pPr>
            <a:lvl3pPr>
              <a:defRPr sz="1575">
                <a:latin typeface="微软雅黑"/>
                <a:ea typeface="微软雅黑"/>
                <a:cs typeface="微软雅黑"/>
              </a:defRPr>
            </a:lvl3pPr>
            <a:lvl4pPr>
              <a:defRPr sz="1575">
                <a:latin typeface="微软雅黑"/>
                <a:ea typeface="微软雅黑"/>
                <a:cs typeface="微软雅黑"/>
              </a:defRPr>
            </a:lvl4pPr>
            <a:lvl5pPr>
              <a:defRPr sz="1575">
                <a:latin typeface="微软雅黑"/>
                <a:ea typeface="微软雅黑"/>
                <a:cs typeface="微软雅黑"/>
              </a:defRPr>
            </a:lvl5pPr>
            <a:lvl6pPr>
              <a:defRPr sz="1575">
                <a:latin typeface="微软雅黑"/>
                <a:ea typeface="微软雅黑"/>
                <a:cs typeface="微软雅黑"/>
              </a:defRPr>
            </a:lvl6pPr>
            <a:lvl7pPr>
              <a:defRPr sz="1575">
                <a:latin typeface="微软雅黑"/>
                <a:ea typeface="微软雅黑"/>
                <a:cs typeface="微软雅黑"/>
              </a:defRPr>
            </a:lvl7pPr>
            <a:lvl8pPr>
              <a:defRPr sz="1575">
                <a:latin typeface="微软雅黑"/>
                <a:ea typeface="微软雅黑"/>
                <a:cs typeface="微软雅黑"/>
              </a:defRPr>
            </a:lvl8pPr>
            <a:lvl9pPr>
              <a:defRPr sz="1575"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875"/>
              </a:lnSpc>
              <a:buNone/>
              <a:defRPr sz="1575"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按导出贴图与配置回放</a:t>
            </a:r>
          </a:p>
        </p:txBody>
      </p:sp>
      <p:sp>
        <p:nvSpPr>
          <p:cNvPr id="29" name="融合文本_178">
            <a:extLst xmlns:a="http://schemas.openxmlformats.org/drawingml/2006/main">
              <a:ext uri="{FF2B5EF4-FFF2-40B4-BE49-F238E27FC236}">
                <a16:creationId xmlns:a16="http://schemas.microsoft.com/office/drawing/2014/main" id="{36B985BB-DADA-43D3-8DFD-EFB4DB2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0301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487FD772-5737-41ED-ACE2-5CEB868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接入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A22BCC-EE0A-4039-A4F2-AE33CA4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导入器：读包检查，确认后写入 UE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62FAFE83-871E-4275-86CF-B50522C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07F1E71-5C05-4F64-95AF-4407EF3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824E6D2-333C-4E8D-A79C-64BD995D6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ce2f087ea45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8900"/>
            <a:ext cx="64008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E3610ED-EB4F-4ED7-ABED-B853AEB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9766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source_tag">
            <a:extLst xmlns:a="http://schemas.openxmlformats.org/drawingml/2006/main">
              <a:ext uri="{FF2B5EF4-FFF2-40B4-BE49-F238E27FC236}">
                <a16:creationId xmlns:a16="http://schemas.microsoft.com/office/drawing/2014/main" id="{9D1E1384-FF44-477E-9882-A3C7F7B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9766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测试数据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453959-846D-40F0-A92A-95F8C5B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0"/>
            <a:ext cx="6400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39"/>
              </a:lnSpc>
              <a:buNone/>
            </a:pPr>
            <a:r>
              <a:rPr sz="11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入口在特效工作台；烘焙器交付页可直接进入导入清单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5077BD0-A530-4501-B2C9-71646154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716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20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5A96482-1A37-4D31-B6BE-76EF3B9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7000"/>
            <a:ext cx="37338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配置素材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D458ED-4CB0-45D6-8311-510DE4A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01800"/>
            <a:ext cx="37338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检查命名、尺寸与规范项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53E397-9AB3-405D-B84D-EE83C116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241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20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CF37EAA-5AFE-479F-AA5B-02F6B790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9500"/>
            <a:ext cx="37338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核对清单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65B17B-2FC9-4E2D-816C-07C3D3C8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54300"/>
            <a:ext cx="37338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列出待创建的资源与设置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BA2A27-3D50-4108-BFF3-17BD9C5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20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6E6BC57-FDDA-4490-BD17-28F9EC11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2000"/>
            <a:ext cx="37338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执行导入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9ECEC77-E97A-4BBA-BA7C-20E0DEE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6800"/>
            <a:ext cx="37338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写入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UE，并读回核对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7C499E1-B626-4EB0-A34E-77B4F12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4267200" cy="14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A1C3DAB-DC0F-4BE5-8AC9-9760F4D6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8100" cy="14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73D866F-4F07-4967-B612-D0DB42B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737100"/>
            <a:ext cx="381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确认后才写入</a:t>
            </a: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UE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267F1D6-490E-4F7D-A52D-7AB283F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092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00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检查阶段不修改工程；</a:t>
            </a:r>
          </a:p>
          <a:p xmlns:a="http://schemas.openxmlformats.org/drawingml/2006/main">
            <a:pPr algn="l">
              <a:lnSpc>
                <a:spcPts val="2000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与性能组确定的规范由工具执行</a:t>
            </a:r>
          </a:p>
        </p:txBody>
      </p:sp>
      <p:sp>
        <p:nvSpPr>
          <p:cNvPr id="23" name="融合文本_179">
            <a:extLst xmlns:a="http://schemas.openxmlformats.org/drawingml/2006/main">
              <a:ext uri="{FF2B5EF4-FFF2-40B4-BE49-F238E27FC236}">
                <a16:creationId xmlns:a16="http://schemas.microsoft.com/office/drawing/2014/main" id="{AC0A5EBE-22C2-465B-BDA1-7D79B3F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3074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A27A60E4-234D-4497-A570-B975802F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编排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780EF2-E42A-4A3C-A30A-872D74D9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舞台尺度，决定点位、花径与构图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B0B457FE-35F2-43B2-89D5-70DC71D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B679C7-08EC-4254-9B81-873236E4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融合文本_9">
            <a:extLst xmlns:a="http://schemas.openxmlformats.org/drawingml/2006/main">
              <a:ext uri="{FF2B5EF4-FFF2-40B4-BE49-F238E27FC236}">
                <a16:creationId xmlns:a16="http://schemas.microsoft.com/office/drawing/2014/main" id="{90AD0299-8C94-4573-A8F6-B0FE9B0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舞台正面 · 设计示意</a:t>
            </a:r>
          </a:p>
        </p:txBody>
      </p:sp>
      <p:sp>
        <p:nvSpPr>
          <p:cNvPr id="7" name="融合文本_10">
            <a:extLst xmlns:a="http://schemas.openxmlformats.org/drawingml/2006/main">
              <a:ext uri="{FF2B5EF4-FFF2-40B4-BE49-F238E27FC236}">
                <a16:creationId xmlns:a16="http://schemas.microsoft.com/office/drawing/2014/main" id="{8EDF22AB-AD65-4BA5-B31D-628CCB4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宽 800 m · 坝顶高 150 m</a:t>
            </a:r>
          </a:p>
        </p:txBody>
      </p:sp>
      <p:sp>
        <p:nvSpPr>
          <p:cNvPr id="8" name="关系_11">
            <a:extLst xmlns:a="http://schemas.openxmlformats.org/drawingml/2006/main">
              <a:ext uri="{FF2B5EF4-FFF2-40B4-BE49-F238E27FC236}">
                <a16:creationId xmlns:a16="http://schemas.microsoft.com/office/drawing/2014/main" id="{B3CB55AA-3302-4C42-9DC2-CB3E5623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057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9" name="关系_12">
            <a:extLst xmlns:a="http://schemas.openxmlformats.org/drawingml/2006/main">
              <a:ext uri="{FF2B5EF4-FFF2-40B4-BE49-F238E27FC236}">
                <a16:creationId xmlns:a16="http://schemas.microsoft.com/office/drawing/2014/main" id="{9AAB73B4-105D-488C-97DE-BBABC7AE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0" name="关系_13">
            <a:extLst xmlns:a="http://schemas.openxmlformats.org/drawingml/2006/main">
              <a:ext uri="{FF2B5EF4-FFF2-40B4-BE49-F238E27FC236}">
                <a16:creationId xmlns:a16="http://schemas.microsoft.com/office/drawing/2014/main" id="{E6359455-396F-4479-B4F2-26F633C2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6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1" name="关系_14">
            <a:extLst xmlns:a="http://schemas.openxmlformats.org/drawingml/2006/main">
              <a:ext uri="{FF2B5EF4-FFF2-40B4-BE49-F238E27FC236}">
                <a16:creationId xmlns:a16="http://schemas.microsoft.com/office/drawing/2014/main" id="{0C835453-E6C3-465B-AF03-E9407F4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3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2" name="关系_15">
            <a:extLst xmlns:a="http://schemas.openxmlformats.org/drawingml/2006/main">
              <a:ext uri="{FF2B5EF4-FFF2-40B4-BE49-F238E27FC236}">
                <a16:creationId xmlns:a16="http://schemas.microsoft.com/office/drawing/2014/main" id="{8958F8C2-3EC5-415D-AF50-926F6682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619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3" name="关系_16">
            <a:extLst xmlns:a="http://schemas.openxmlformats.org/drawingml/2006/main">
              <a:ext uri="{FF2B5EF4-FFF2-40B4-BE49-F238E27FC236}">
                <a16:creationId xmlns:a16="http://schemas.microsoft.com/office/drawing/2014/main" id="{A686EFF3-BC93-4BF1-93C2-3132B38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4" name="关系_17">
            <a:extLst xmlns:a="http://schemas.openxmlformats.org/drawingml/2006/main">
              <a:ext uri="{FF2B5EF4-FFF2-40B4-BE49-F238E27FC236}">
                <a16:creationId xmlns:a16="http://schemas.microsoft.com/office/drawing/2014/main" id="{6C5E07F7-5840-46A6-9A3C-C71F432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1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5" name="关系_18">
            <a:extLst xmlns:a="http://schemas.openxmlformats.org/drawingml/2006/main">
              <a:ext uri="{FF2B5EF4-FFF2-40B4-BE49-F238E27FC236}">
                <a16:creationId xmlns:a16="http://schemas.microsoft.com/office/drawing/2014/main" id="{B0F732DC-BFAE-40EA-84C3-36BF59C8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6" name="关系_19">
            <a:extLst xmlns:a="http://schemas.openxmlformats.org/drawingml/2006/main">
              <a:ext uri="{FF2B5EF4-FFF2-40B4-BE49-F238E27FC236}">
                <a16:creationId xmlns:a16="http://schemas.microsoft.com/office/drawing/2014/main" id="{40A26358-7CE9-4882-8CB6-548D7F4C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444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7" name="关系_20">
            <a:extLst xmlns:a="http://schemas.openxmlformats.org/drawingml/2006/main">
              <a:ext uri="{FF2B5EF4-FFF2-40B4-BE49-F238E27FC236}">
                <a16:creationId xmlns:a16="http://schemas.microsoft.com/office/drawing/2014/main" id="{1B61E43A-0EC3-49C3-B0E5-E51BD80D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18" name="关系_21">
            <a:extLst xmlns:a="http://schemas.openxmlformats.org/drawingml/2006/main">
              <a:ext uri="{FF2B5EF4-FFF2-40B4-BE49-F238E27FC236}">
                <a16:creationId xmlns:a16="http://schemas.microsoft.com/office/drawing/2014/main" id="{2957621E-7C8A-4502-A0D1-9777E577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19" name="关系_22">
            <a:extLst xmlns:a="http://schemas.openxmlformats.org/drawingml/2006/main">
              <a:ext uri="{FF2B5EF4-FFF2-40B4-BE49-F238E27FC236}">
                <a16:creationId xmlns:a16="http://schemas.microsoft.com/office/drawing/2014/main" id="{99AFDD0E-BF52-4D94-AFB5-5BCCDCB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0" name="关系_23">
            <a:extLst xmlns:a="http://schemas.openxmlformats.org/drawingml/2006/main">
              <a:ext uri="{FF2B5EF4-FFF2-40B4-BE49-F238E27FC236}">
                <a16:creationId xmlns:a16="http://schemas.microsoft.com/office/drawing/2014/main" id="{88EEE973-61D2-4FF7-9A99-06E2598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1" name="关系_24">
            <a:extLst xmlns:a="http://schemas.openxmlformats.org/drawingml/2006/main">
              <a:ext uri="{FF2B5EF4-FFF2-40B4-BE49-F238E27FC236}">
                <a16:creationId xmlns:a16="http://schemas.microsoft.com/office/drawing/2014/main" id="{1FB68505-42FA-4B93-B261-122F19F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2" name="关系_25">
            <a:extLst xmlns:a="http://schemas.openxmlformats.org/drawingml/2006/main">
              <a:ext uri="{FF2B5EF4-FFF2-40B4-BE49-F238E27FC236}">
                <a16:creationId xmlns:a16="http://schemas.microsoft.com/office/drawing/2014/main" id="{1D61E1E5-32A1-4BE0-AC98-356E7D3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3" name="关系_26">
            <a:extLst xmlns:a="http://schemas.openxmlformats.org/drawingml/2006/main">
              <a:ext uri="{FF2B5EF4-FFF2-40B4-BE49-F238E27FC236}">
                <a16:creationId xmlns:a16="http://schemas.microsoft.com/office/drawing/2014/main" id="{C3F6224E-99AE-4C12-B0C3-8C3CFB5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4" name="关系_27">
            <a:extLst xmlns:a="http://schemas.openxmlformats.org/drawingml/2006/main">
              <a:ext uri="{FF2B5EF4-FFF2-40B4-BE49-F238E27FC236}">
                <a16:creationId xmlns:a16="http://schemas.microsoft.com/office/drawing/2014/main" id="{85AF49C7-8206-4C89-B25B-B2BF033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5" name="关系_28">
            <a:extLst xmlns:a="http://schemas.openxmlformats.org/drawingml/2006/main">
              <a:ext uri="{FF2B5EF4-FFF2-40B4-BE49-F238E27FC236}">
                <a16:creationId xmlns:a16="http://schemas.microsoft.com/office/drawing/2014/main" id="{33D7850A-505D-400B-94D9-3BDB4CF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952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26" name="关系_29">
            <a:extLst xmlns:a="http://schemas.openxmlformats.org/drawingml/2006/main">
              <a:ext uri="{FF2B5EF4-FFF2-40B4-BE49-F238E27FC236}">
                <a16:creationId xmlns:a16="http://schemas.microsoft.com/office/drawing/2014/main" id="{190E8D7B-8049-42E9-AACA-564F7F15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27" name="关系_30">
            <a:extLst xmlns:a="http://schemas.openxmlformats.org/drawingml/2006/main">
              <a:ext uri="{FF2B5EF4-FFF2-40B4-BE49-F238E27FC236}">
                <a16:creationId xmlns:a16="http://schemas.microsoft.com/office/drawing/2014/main" id="{B317BF8A-9A8D-4B95-BD1F-5A7EEA1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28" name="关系_31">
            <a:extLst xmlns:a="http://schemas.openxmlformats.org/drawingml/2006/main">
              <a:ext uri="{FF2B5EF4-FFF2-40B4-BE49-F238E27FC236}">
                <a16:creationId xmlns:a16="http://schemas.microsoft.com/office/drawing/2014/main" id="{6DD36CE4-8740-44F5-93A1-E73781A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29" name="关系_32">
            <a:extLst xmlns:a="http://schemas.openxmlformats.org/drawingml/2006/main">
              <a:ext uri="{FF2B5EF4-FFF2-40B4-BE49-F238E27FC236}">
                <a16:creationId xmlns:a16="http://schemas.microsoft.com/office/drawing/2014/main" id="{9828E2FA-3746-4EDB-BD18-DDFB14B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30" name="关系_33">
            <a:extLst xmlns:a="http://schemas.openxmlformats.org/drawingml/2006/main">
              <a:ext uri="{FF2B5EF4-FFF2-40B4-BE49-F238E27FC236}">
                <a16:creationId xmlns:a16="http://schemas.microsoft.com/office/drawing/2014/main" id="{3B6C45CB-544A-4ACF-A710-E6F12B3B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31" name="关系_34">
            <a:extLst xmlns:a="http://schemas.openxmlformats.org/drawingml/2006/main">
              <a:ext uri="{FF2B5EF4-FFF2-40B4-BE49-F238E27FC236}">
                <a16:creationId xmlns:a16="http://schemas.microsoft.com/office/drawing/2014/main" id="{3EB6BCCC-AD05-4128-9273-B212F7A6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32" name="关系_35">
            <a:extLst xmlns:a="http://schemas.openxmlformats.org/drawingml/2006/main">
              <a:ext uri="{FF2B5EF4-FFF2-40B4-BE49-F238E27FC236}">
                <a16:creationId xmlns:a16="http://schemas.microsoft.com/office/drawing/2014/main" id="{7FDBBE11-D6C4-4200-99E8-731DAF0A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13335">
            <a:solidFill>
              <a:srgbClr val="888888"/>
            </a:solidFill>
          </a:ln>
        </p:spPr>
      </p:sp>
      <p:sp>
        <p:nvSpPr>
          <p:cNvPr id="33" name="融合文本_36">
            <a:extLst xmlns:a="http://schemas.openxmlformats.org/drawingml/2006/main">
              <a:ext uri="{FF2B5EF4-FFF2-40B4-BE49-F238E27FC236}">
                <a16:creationId xmlns:a16="http://schemas.microsoft.com/office/drawing/2014/main" id="{B1E7605E-9E11-4B87-9B62-D715DA23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P0–P8 · 主点间距约 100 m</a:t>
            </a:r>
          </a:p>
        </p:txBody>
      </p:sp>
      <p:sp>
        <p:nvSpPr>
          <p:cNvPr id="34" name="融合文本_37">
            <a:extLst xmlns:a="http://schemas.openxmlformats.org/drawingml/2006/main">
              <a:ext uri="{FF2B5EF4-FFF2-40B4-BE49-F238E27FC236}">
                <a16:creationId xmlns:a16="http://schemas.microsoft.com/office/drawing/2014/main" id="{C4A103BD-1C62-4C7F-87C3-A98DADFE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坝顶 P 主点 9 + B 点间 8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前台 F 低位 7，共 24 个设计点</a:t>
            </a:r>
          </a:p>
        </p:txBody>
      </p:sp>
      <p:sp>
        <p:nvSpPr>
          <p:cNvPr id="35" name="关系_38">
            <a:extLst xmlns:a="http://schemas.openxmlformats.org/drawingml/2006/main">
              <a:ext uri="{FF2B5EF4-FFF2-40B4-BE49-F238E27FC236}">
                <a16:creationId xmlns:a16="http://schemas.microsoft.com/office/drawing/2014/main" id="{D535AD31-3C47-4DF1-9EAD-53526B4B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09700"/>
            <a:ext cx="95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融合文本_39">
            <a:extLst xmlns:a="http://schemas.openxmlformats.org/drawingml/2006/main">
              <a:ext uri="{FF2B5EF4-FFF2-40B4-BE49-F238E27FC236}">
                <a16:creationId xmlns:a16="http://schemas.microsoft.com/office/drawing/2014/main" id="{B3CCF420-EFEE-4C58-9337-CA6984A2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81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开花分档 · 高度以坝顶为基准</a:t>
            </a:r>
          </a:p>
        </p:txBody>
      </p:sp>
      <p:sp>
        <p:nvSpPr>
          <p:cNvPr id="37" name="关系_40">
            <a:extLst xmlns:a="http://schemas.openxmlformats.org/drawingml/2006/main">
              <a:ext uri="{FF2B5EF4-FFF2-40B4-BE49-F238E27FC236}">
                <a16:creationId xmlns:a16="http://schemas.microsoft.com/office/drawing/2014/main" id="{D53E82C7-6330-468E-82A2-B85748E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38538"/>
            <a:ext cx="9525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38" name="关系_41">
            <a:extLst xmlns:a="http://schemas.openxmlformats.org/drawingml/2006/main">
              <a:ext uri="{FF2B5EF4-FFF2-40B4-BE49-F238E27FC236}">
                <a16:creationId xmlns:a16="http://schemas.microsoft.com/office/drawing/2014/main" id="{0129167A-EDEB-4B59-B264-C3D4D7D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736" y="3371374"/>
            <a:ext cx="334328" cy="3343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39" name="融合文本_42">
            <a:extLst xmlns:a="http://schemas.openxmlformats.org/drawingml/2006/main">
              <a:ext uri="{FF2B5EF4-FFF2-40B4-BE49-F238E27FC236}">
                <a16:creationId xmlns:a16="http://schemas.microsoft.com/office/drawing/2014/main" id="{1D7A2B05-42E3-4B3D-ADD9-A6CE591C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S 90m</a:t>
            </a:r>
          </a:p>
        </p:txBody>
      </p:sp>
      <p:sp>
        <p:nvSpPr>
          <p:cNvPr id="40" name="融合文本_43">
            <a:extLst xmlns:a="http://schemas.openxmlformats.org/drawingml/2006/main">
              <a:ext uri="{FF2B5EF4-FFF2-40B4-BE49-F238E27FC236}">
                <a16:creationId xmlns:a16="http://schemas.microsoft.com/office/drawing/2014/main" id="{78EA57B7-1A68-43DC-A81B-75E902BA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+150 m</a:t>
            </a:r>
          </a:p>
        </p:txBody>
      </p:sp>
      <p:sp>
        <p:nvSpPr>
          <p:cNvPr id="41" name="关系_44">
            <a:extLst xmlns:a="http://schemas.openxmlformats.org/drawingml/2006/main">
              <a:ext uri="{FF2B5EF4-FFF2-40B4-BE49-F238E27FC236}">
                <a16:creationId xmlns:a16="http://schemas.microsoft.com/office/drawing/2014/main" id="{E781F31F-8488-42D9-ADBF-E4D482F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15653"/>
            <a:ext cx="9525" cy="780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2" name="关系_45">
            <a:extLst xmlns:a="http://schemas.openxmlformats.org/drawingml/2006/main">
              <a:ext uri="{FF2B5EF4-FFF2-40B4-BE49-F238E27FC236}">
                <a16:creationId xmlns:a16="http://schemas.microsoft.com/office/drawing/2014/main" id="{A032E84D-B70A-451F-898E-844A7F8C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719" y="3037046"/>
            <a:ext cx="557213" cy="5572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F5F5">
                <a:alpha val="68000"/>
              </a:srgbClr>
            </a:solidFill>
          </a:ln>
        </p:spPr>
      </p:sp>
      <p:sp>
        <p:nvSpPr>
          <p:cNvPr id="43" name="融合文本_46">
            <a:extLst xmlns:a="http://schemas.openxmlformats.org/drawingml/2006/main">
              <a:ext uri="{FF2B5EF4-FFF2-40B4-BE49-F238E27FC236}">
                <a16:creationId xmlns:a16="http://schemas.microsoft.com/office/drawing/2014/main" id="{FFAD915B-8138-4804-9F25-1CE7F07D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M 150m</a:t>
            </a:r>
          </a:p>
        </p:txBody>
      </p:sp>
      <p:sp>
        <p:nvSpPr>
          <p:cNvPr id="44" name="融合文本_47">
            <a:extLst xmlns:a="http://schemas.openxmlformats.org/drawingml/2006/main">
              <a:ext uri="{FF2B5EF4-FFF2-40B4-BE49-F238E27FC236}">
                <a16:creationId xmlns:a16="http://schemas.microsoft.com/office/drawing/2014/main" id="{AFE19683-02D8-4505-A153-D3F5BC32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+210 m</a:t>
            </a:r>
          </a:p>
        </p:txBody>
      </p:sp>
      <p:sp>
        <p:nvSpPr>
          <p:cNvPr id="45" name="关系_48">
            <a:extLst xmlns:a="http://schemas.openxmlformats.org/drawingml/2006/main">
              <a:ext uri="{FF2B5EF4-FFF2-40B4-BE49-F238E27FC236}">
                <a16:creationId xmlns:a16="http://schemas.microsoft.com/office/drawing/2014/main" id="{08146557-FA5A-436D-99BC-3C878AE3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69882"/>
            <a:ext cx="9525" cy="1225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6" name="关系_49">
            <a:extLst xmlns:a="http://schemas.openxmlformats.org/drawingml/2006/main">
              <a:ext uri="{FF2B5EF4-FFF2-40B4-BE49-F238E27FC236}">
                <a16:creationId xmlns:a16="http://schemas.microsoft.com/office/drawing/2014/main" id="{0D95184C-74DA-470F-9A7C-33DAF7FB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554" y="2442686"/>
            <a:ext cx="854393" cy="8543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47" name="融合文本_50">
            <a:extLst xmlns:a="http://schemas.openxmlformats.org/drawingml/2006/main">
              <a:ext uri="{FF2B5EF4-FFF2-40B4-BE49-F238E27FC236}">
                <a16:creationId xmlns:a16="http://schemas.microsoft.com/office/drawing/2014/main" id="{07AF7D16-245C-4E4E-A979-DC6F821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L 230m</a:t>
            </a:r>
          </a:p>
        </p:txBody>
      </p:sp>
      <p:sp>
        <p:nvSpPr>
          <p:cNvPr id="48" name="融合文本_51">
            <a:extLst xmlns:a="http://schemas.openxmlformats.org/drawingml/2006/main">
              <a:ext uri="{FF2B5EF4-FFF2-40B4-BE49-F238E27FC236}">
                <a16:creationId xmlns:a16="http://schemas.microsoft.com/office/drawing/2014/main" id="{155A45AB-8F96-470C-A867-D3D24847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+330 m</a:t>
            </a:r>
          </a:p>
        </p:txBody>
      </p:sp>
      <p:sp>
        <p:nvSpPr>
          <p:cNvPr id="49" name="关系_52">
            <a:extLst xmlns:a="http://schemas.openxmlformats.org/drawingml/2006/main">
              <a:ext uri="{FF2B5EF4-FFF2-40B4-BE49-F238E27FC236}">
                <a16:creationId xmlns:a16="http://schemas.microsoft.com/office/drawing/2014/main" id="{7C776FA1-868A-48E5-A3E2-C79B0053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609850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50" name="关系_53">
            <a:extLst xmlns:a="http://schemas.openxmlformats.org/drawingml/2006/main">
              <a:ext uri="{FF2B5EF4-FFF2-40B4-BE49-F238E27FC236}">
                <a16:creationId xmlns:a16="http://schemas.microsoft.com/office/drawing/2014/main" id="{DB8D0F92-EC06-4975-8A13-E5158ED7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110" y="2089785"/>
            <a:ext cx="1040130" cy="1040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FF796"/>
            </a:solidFill>
          </a:ln>
        </p:spPr>
      </p:sp>
      <p:sp>
        <p:nvSpPr>
          <p:cNvPr id="51" name="融合文本_54">
            <a:extLst xmlns:a="http://schemas.openxmlformats.org/drawingml/2006/main">
              <a:ext uri="{FF2B5EF4-FFF2-40B4-BE49-F238E27FC236}">
                <a16:creationId xmlns:a16="http://schemas.microsoft.com/office/drawing/2014/main" id="{8D567197-9165-4056-8315-75AE2C2F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Hero 280m</a:t>
            </a:r>
          </a:p>
        </p:txBody>
      </p:sp>
      <p:sp>
        <p:nvSpPr>
          <p:cNvPr id="52" name="融合文本_55">
            <a:extLst xmlns:a="http://schemas.openxmlformats.org/drawingml/2006/main">
              <a:ext uri="{FF2B5EF4-FFF2-40B4-BE49-F238E27FC236}">
                <a16:creationId xmlns:a16="http://schemas.microsoft.com/office/drawing/2014/main" id="{30601179-EA3F-46DA-9CFE-8838E561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+400 m</a:t>
            </a:r>
          </a:p>
        </p:txBody>
      </p:sp>
      <p:sp>
        <p:nvSpPr>
          <p:cNvPr id="53" name="关系_56">
            <a:extLst xmlns:a="http://schemas.openxmlformats.org/drawingml/2006/main">
              <a:ext uri="{FF2B5EF4-FFF2-40B4-BE49-F238E27FC236}">
                <a16:creationId xmlns:a16="http://schemas.microsoft.com/office/drawing/2014/main" id="{9A5698F0-305A-439C-B0F5-8F68207F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54" name="关系_57">
            <a:extLst xmlns:a="http://schemas.openxmlformats.org/drawingml/2006/main">
              <a:ext uri="{FF2B5EF4-FFF2-40B4-BE49-F238E27FC236}">
                <a16:creationId xmlns:a16="http://schemas.microsoft.com/office/drawing/2014/main" id="{C0A87DBA-8BF7-40A7-AFEB-A460B8C6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55" name="融合文本_58">
            <a:extLst xmlns:a="http://schemas.openxmlformats.org/drawingml/2006/main">
              <a:ext uri="{FF2B5EF4-FFF2-40B4-BE49-F238E27FC236}">
                <a16:creationId xmlns:a16="http://schemas.microsoft.com/office/drawing/2014/main" id="{46C8842C-F612-4099-8865-A516467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花径 / 点距：约 1.5 倍可辨单花，约 2.3 倍形成花墙，3 倍容易糊。</a:t>
            </a:r>
          </a:p>
        </p:txBody>
      </p:sp>
      <p:sp>
        <p:nvSpPr>
          <p:cNvPr id="56" name="融合文本_59">
            <a:extLst xmlns:a="http://schemas.openxmlformats.org/drawingml/2006/main">
              <a:ext uri="{FF2B5EF4-FFF2-40B4-BE49-F238E27FC236}">
                <a16:creationId xmlns:a16="http://schemas.microsoft.com/office/drawing/2014/main" id="{B55A6576-F236-4E61-AAF5-E30B8739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项目构图经验与参考值，实际按机位、形态和时序校正。</a:t>
            </a:r>
          </a:p>
        </p:txBody>
      </p:sp>
      <p:sp>
        <p:nvSpPr>
          <p:cNvPr id="57" name="融合文本_180">
            <a:extLst xmlns:a="http://schemas.openxmlformats.org/drawingml/2006/main">
              <a:ext uri="{FF2B5EF4-FFF2-40B4-BE49-F238E27FC236}">
                <a16:creationId xmlns:a16="http://schemas.microsoft.com/office/drawing/2014/main" id="{65F13F1C-810C-4AF6-9D2E-6B1146C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8589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A5A2B6EC-EDA9-4241-9699-1AC2DE88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编排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8DA6E-9FE2-4BA8-82CD-44ADA34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一份时间线，按平台与画质输出导演表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B991F0EF-5FDD-485E-BCAC-B26C533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3029787-F0B4-453B-9684-4A332E1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36CCA-0C94-423C-BFBD-78DA3CF80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15ab95272446e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2514600"/>
          </a:xfrm>
          <a:prstGeom xmlns:a="http://schemas.openxmlformats.org/drawingml/2006/main" prst="rect">
            <a:avLst/>
          </a:prstGeom>
        </p:spPr>
      </p:pic>
      <p:sp>
        <p:nvSpPr>
          <p:cNvPr id="7" name="关系_60">
            <a:extLst xmlns:a="http://schemas.openxmlformats.org/drawingml/2006/main">
              <a:ext uri="{FF2B5EF4-FFF2-40B4-BE49-F238E27FC236}">
                <a16:creationId xmlns:a16="http://schemas.microsoft.com/office/drawing/2014/main" id="{B027E1AF-727B-40F1-9E14-71CE4E8F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融合文本_61">
            <a:extLst xmlns:a="http://schemas.openxmlformats.org/drawingml/2006/main">
              <a:ext uri="{FF2B5EF4-FFF2-40B4-BE49-F238E27FC236}">
                <a16:creationId xmlns:a16="http://schemas.microsoft.com/office/drawing/2014/main" id="{1449EB96-172C-4571-819F-37903AD3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编排工作台 · 音乐、点位与模板</a:t>
            </a:r>
          </a:p>
        </p:txBody>
      </p:sp>
      <p:sp>
        <p:nvSpPr>
          <p:cNvPr id="9" name="融合文本_62">
            <a:extLst xmlns:a="http://schemas.openxmlformats.org/drawingml/2006/main">
              <a:ext uri="{FF2B5EF4-FFF2-40B4-BE49-F238E27FC236}">
                <a16:creationId xmlns:a16="http://schemas.microsoft.com/office/drawing/2014/main" id="{D8A2C378-D8FC-49A0-B972-F0CDEFA5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649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改段落与节奏，再重新出表</a:t>
            </a:r>
          </a:p>
        </p:txBody>
      </p:sp>
      <p:sp>
        <p:nvSpPr>
          <p:cNvPr id="10" name="融合文本_63">
            <a:extLst xmlns:a="http://schemas.openxmlformats.org/drawingml/2006/main">
              <a:ext uri="{FF2B5EF4-FFF2-40B4-BE49-F238E27FC236}">
                <a16:creationId xmlns:a16="http://schemas.microsoft.com/office/drawing/2014/main" id="{75CEFE04-C107-4FA5-89CB-B4FA172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49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宪章检查、预算与音乐对拍共同约束编排。</a:t>
            </a:r>
          </a:p>
        </p:txBody>
      </p:sp>
      <p:sp>
        <p:nvSpPr>
          <p:cNvPr id="11" name="融合文本_64">
            <a:extLst xmlns:a="http://schemas.openxmlformats.org/drawingml/2006/main">
              <a:ext uri="{FF2B5EF4-FFF2-40B4-BE49-F238E27FC236}">
                <a16:creationId xmlns:a16="http://schemas.microsoft.com/office/drawing/2014/main" id="{28C7FB7B-A181-43B1-A55B-01CF95A9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43500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PC / 手游各高、中、低档</a:t>
            </a:r>
          </a:p>
        </p:txBody>
      </p:sp>
      <p:sp>
        <p:nvSpPr>
          <p:cNvPr id="12" name="融合文本_65">
            <a:extLst xmlns:a="http://schemas.openxmlformats.org/drawingml/2006/main">
              <a:ext uri="{FF2B5EF4-FFF2-40B4-BE49-F238E27FC236}">
                <a16:creationId xmlns:a16="http://schemas.microsoft.com/office/drawing/2014/main" id="{ABB97C08-1119-478E-A89D-3DBD0DCD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1975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同一编排生成各档导演表。</a:t>
            </a:r>
          </a:p>
        </p:txBody>
      </p:sp>
      <p:sp>
        <p:nvSpPr>
          <p:cNvPr id="13" name="融合文本_181">
            <a:extLst xmlns:a="http://schemas.openxmlformats.org/drawingml/2006/main">
              <a:ext uri="{FF2B5EF4-FFF2-40B4-BE49-F238E27FC236}">
                <a16:creationId xmlns:a16="http://schemas.microsoft.com/office/drawing/2014/main" id="{2F0CDA24-71E4-4CBC-993C-8106B3A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7672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25FAFC27-2A68-4924-A5B4-C6B3CDCB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B3D3D0-FB3D-4913-BA6D-DF933E8B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26 种 PC 开花花型，手游采用其中 12 种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0043340D-FD73-49CF-9F4B-49499E61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F127DD0-26DC-45ED-A6E9-8F861947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6B4B0-04AA-43F8-8898-187591B8C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89f779a234e46"/>
          <a:stretch xmlns:a="http://schemas.openxmlformats.org/drawingml/2006/main"/>
        </p:blipFill>
        <p:spPr>
          <a:xfrm xmlns:a="http://schemas.openxmlformats.org/drawingml/2006/main">
            <a:off x="1338263" y="135255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7" name="融合文本_66">
            <a:extLst xmlns:a="http://schemas.openxmlformats.org/drawingml/2006/main">
              <a:ext uri="{FF2B5EF4-FFF2-40B4-BE49-F238E27FC236}">
                <a16:creationId xmlns:a16="http://schemas.microsoft.com/office/drawing/2014/main" id="{38EEB88C-CFE9-4D9F-83EF-070FC446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金蕊柠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12939-4EA7-4DE5-A847-9FC7A9E60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70f33712c44e1"/>
          <a:stretch xmlns:a="http://schemas.openxmlformats.org/drawingml/2006/main"/>
        </p:blipFill>
        <p:spPr>
          <a:xfrm xmlns:a="http://schemas.openxmlformats.org/drawingml/2006/main">
            <a:off x="5072063" y="135255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融合文本_67">
            <a:extLst xmlns:a="http://schemas.openxmlformats.org/drawingml/2006/main">
              <a:ext uri="{FF2B5EF4-FFF2-40B4-BE49-F238E27FC236}">
                <a16:creationId xmlns:a16="http://schemas.microsoft.com/office/drawing/2014/main" id="{10507566-FA73-41F8-9CC2-26A6B130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金锦菊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5B94B-A6A3-438D-AE65-71A0DBCFF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769c69bc94851"/>
          <a:stretch xmlns:a="http://schemas.openxmlformats.org/drawingml/2006/main"/>
        </p:blipFill>
        <p:spPr>
          <a:xfrm xmlns:a="http://schemas.openxmlformats.org/drawingml/2006/main">
            <a:off x="8805863" y="135255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11" name="融合文本_68">
            <a:extLst xmlns:a="http://schemas.openxmlformats.org/drawingml/2006/main">
              <a:ext uri="{FF2B5EF4-FFF2-40B4-BE49-F238E27FC236}">
                <a16:creationId xmlns:a16="http://schemas.microsoft.com/office/drawing/2014/main" id="{537F904D-6DEF-43F1-9B48-C89E423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小青柠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879A8-D4FA-435D-AB29-4B87905DF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21d4896a64dde"/>
          <a:stretch xmlns:a="http://schemas.openxmlformats.org/drawingml/2006/main"/>
        </p:blipFill>
        <p:spPr>
          <a:xfrm xmlns:a="http://schemas.openxmlformats.org/drawingml/2006/main">
            <a:off x="1338263" y="371475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13" name="融合文本_69">
            <a:extLst xmlns:a="http://schemas.openxmlformats.org/drawingml/2006/main">
              <a:ext uri="{FF2B5EF4-FFF2-40B4-BE49-F238E27FC236}">
                <a16:creationId xmlns:a16="http://schemas.microsoft.com/office/drawing/2014/main" id="{88843D14-B396-4F62-B37D-C571E40D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小金花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4F6CB-6DDC-42BE-B0F5-02CB30B19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167cd47f1425b"/>
          <a:stretch xmlns:a="http://schemas.openxmlformats.org/drawingml/2006/main"/>
        </p:blipFill>
        <p:spPr>
          <a:xfrm xmlns:a="http://schemas.openxmlformats.org/drawingml/2006/main">
            <a:off x="5072063" y="371475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15" name="融合文本_70">
            <a:extLst xmlns:a="http://schemas.openxmlformats.org/drawingml/2006/main">
              <a:ext uri="{FF2B5EF4-FFF2-40B4-BE49-F238E27FC236}">
                <a16:creationId xmlns:a16="http://schemas.microsoft.com/office/drawing/2014/main" id="{D26B6692-406F-4728-BBBF-D873905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531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银白菊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BB61C-F070-45E5-BC57-78AD02792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cce0d88cb430e"/>
          <a:stretch xmlns:a="http://schemas.openxmlformats.org/drawingml/2006/main"/>
        </p:blipFill>
        <p:spPr>
          <a:xfrm xmlns:a="http://schemas.openxmlformats.org/drawingml/2006/main">
            <a:off x="8805863" y="371475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17" name="融合文本_71">
            <a:extLst xmlns:a="http://schemas.openxmlformats.org/drawingml/2006/main">
              <a:ext uri="{FF2B5EF4-FFF2-40B4-BE49-F238E27FC236}">
                <a16:creationId xmlns:a16="http://schemas.microsoft.com/office/drawing/2014/main" id="{82E89AD6-A93F-4563-A3DA-4C15083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爆裂星</a:t>
            </a:r>
          </a:p>
        </p:txBody>
      </p:sp>
      <p:sp>
        <p:nvSpPr>
          <p:cNvPr id="18" name="融合文本_72">
            <a:extLst xmlns:a="http://schemas.openxmlformats.org/drawingml/2006/main">
              <a:ext uri="{FF2B5EF4-FFF2-40B4-BE49-F238E27FC236}">
                <a16:creationId xmlns:a16="http://schemas.microsoft.com/office/drawing/2014/main" id="{6544B0CE-5D28-4FE5-BF2F-7F66066A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已有 UE 资产试放 · 尾缀与窜天猴组件另计</a:t>
            </a:r>
          </a:p>
        </p:txBody>
      </p:sp>
      <p:sp>
        <p:nvSpPr>
          <p:cNvPr id="19" name="融合文本_182">
            <a:extLst xmlns:a="http://schemas.openxmlformats.org/drawingml/2006/main">
              <a:ext uri="{FF2B5EF4-FFF2-40B4-BE49-F238E27FC236}">
                <a16:creationId xmlns:a16="http://schemas.microsoft.com/office/drawing/2014/main" id="{F59B160A-5083-4197-9E2A-EADC4F41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9522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AC4B4D33-7A86-4EA5-88AC-0998C443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经验与方法 · 技术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05951-4413-4EDE-BC1D-BED211E4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仙女棒：复杂层次留在烘焙阶段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F6CB9773-A80A-4B8C-AE1D-C1E928F0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C55B38A-A100-445E-BB5A-85B5F72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77F0B-06E2-43C3-83B3-072D5A0A9E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63256702c445b"/>
          <a:stretch xmlns:a="http://schemas.openxmlformats.org/drawingml/2006/main"/>
        </p:blipFill>
        <p:spPr>
          <a:xfrm xmlns:a="http://schemas.openxmlformats.org/drawingml/2006/main">
            <a:off x="995363" y="1352550"/>
            <a:ext cx="4524375" cy="4524375"/>
          </a:xfrm>
          <a:prstGeom xmlns:a="http://schemas.openxmlformats.org/drawingml/2006/main" prst="rect">
            <a:avLst/>
          </a:prstGeom>
        </p:spPr>
      </p:pic>
      <p:sp>
        <p:nvSpPr>
          <p:cNvPr id="7" name="关系_73">
            <a:extLst xmlns:a="http://schemas.openxmlformats.org/drawingml/2006/main">
              <a:ext uri="{FF2B5EF4-FFF2-40B4-BE49-F238E27FC236}">
                <a16:creationId xmlns:a16="http://schemas.microsoft.com/office/drawing/2014/main" id="{41722278-3392-452C-A382-912CF6AC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15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融合文本_74">
            <a:extLst xmlns:a="http://schemas.openxmlformats.org/drawingml/2006/main">
              <a:ext uri="{FF2B5EF4-FFF2-40B4-BE49-F238E27FC236}">
                <a16:creationId xmlns:a16="http://schemas.microsoft.com/office/drawing/2014/main" id="{1FE6DAB8-C020-455C-AA26-88EE15FF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烘焙器历史回放</a:t>
            </a:r>
          </a:p>
        </p:txBody>
      </p:sp>
      <p:sp>
        <p:nvSpPr>
          <p:cNvPr id="9" name="融合文本_75">
            <a:extLst xmlns:a="http://schemas.openxmlformats.org/drawingml/2006/main">
              <a:ext uri="{FF2B5EF4-FFF2-40B4-BE49-F238E27FC236}">
                <a16:creationId xmlns:a16="http://schemas.microsoft.com/office/drawing/2014/main" id="{7DC3B2CA-0959-4506-841C-644642A2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13 → 1</a:t>
            </a:r>
          </a:p>
        </p:txBody>
      </p:sp>
      <p:sp>
        <p:nvSpPr>
          <p:cNvPr id="10" name="融合文本_76">
            <a:extLst xmlns:a="http://schemas.openxmlformats.org/drawingml/2006/main">
              <a:ext uri="{FF2B5EF4-FFF2-40B4-BE49-F238E27FC236}">
                <a16:creationId xmlns:a16="http://schemas.microsoft.com/office/drawing/2014/main" id="{50FDDD86-2067-48C3-BEC4-DD9DF1B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13 类火星模拟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合成一张主序列</a:t>
            </a:r>
          </a:p>
        </p:txBody>
      </p:sp>
      <p:sp>
        <p:nvSpPr>
          <p:cNvPr id="11" name="关系_77">
            <a:extLst xmlns:a="http://schemas.openxmlformats.org/drawingml/2006/main">
              <a:ext uri="{FF2B5EF4-FFF2-40B4-BE49-F238E27FC236}">
                <a16:creationId xmlns:a16="http://schemas.microsoft.com/office/drawing/2014/main" id="{97100CA1-62F7-4211-9FEB-520DACD3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融合文本_78">
            <a:extLst xmlns:a="http://schemas.openxmlformats.org/drawingml/2006/main">
              <a:ext uri="{FF2B5EF4-FFF2-40B4-BE49-F238E27FC236}">
                <a16:creationId xmlns:a16="http://schemas.microsoft.com/office/drawing/2014/main" id="{9A2DE0AA-A864-42DB-BBC3-3A5956CF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48075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母粒、一级分叉、二级碎火星</a:t>
            </a:r>
          </a:p>
        </p:txBody>
      </p:sp>
      <p:sp>
        <p:nvSpPr>
          <p:cNvPr id="13" name="融合文本_79">
            <a:extLst xmlns:a="http://schemas.openxmlformats.org/drawingml/2006/main">
              <a:ext uri="{FF2B5EF4-FFF2-40B4-BE49-F238E27FC236}">
                <a16:creationId xmlns:a16="http://schemas.microsoft.com/office/drawing/2014/main" id="{198B3E66-8367-4184-A081-EBEE065F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437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事件位置与速度继承建立关联，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快门积分、深度与散焦组织层次。</a:t>
            </a:r>
          </a:p>
        </p:txBody>
      </p:sp>
      <p:sp>
        <p:nvSpPr>
          <p:cNvPr id="14" name="融合文本_80">
            <a:extLst xmlns:a="http://schemas.openxmlformats.org/drawingml/2006/main">
              <a:ext uri="{FF2B5EF4-FFF2-40B4-BE49-F238E27FC236}">
                <a16:creationId xmlns:a16="http://schemas.microsoft.com/office/drawing/2014/main" id="{7F6270F9-FCE6-4F1B-B462-EA4E6A93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816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4.9.118 包：每平台 1 个 CPU 发射器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候选效果仍待 UE 观感验收</a:t>
            </a:r>
          </a:p>
        </p:txBody>
      </p:sp>
      <p:sp>
        <p:nvSpPr>
          <p:cNvPr id="15" name="融合文本_183">
            <a:extLst xmlns:a="http://schemas.openxmlformats.org/drawingml/2006/main">
              <a:ext uri="{FF2B5EF4-FFF2-40B4-BE49-F238E27FC236}">
                <a16:creationId xmlns:a16="http://schemas.microsoft.com/office/drawing/2014/main" id="{DAB3517C-EF2D-4F03-A19B-73A3DFB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3574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FE68CE72-7E74-4A7D-AB20-EEA7EA6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经验与方法 · 技术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C3A58-C28B-4FF7-8968-5142321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尾缀：快处密采样，也要权衡单格清晰度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07474643-5D55-4534-88E6-4E0FAC9B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223693-9333-493C-82F5-25D32E95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0284-0368-4CD5-834C-EE42489D1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23ec508174475"/>
          <a:stretch xmlns:a="http://schemas.openxmlformats.org/drawingml/2006/main"/>
        </p:blipFill>
        <p:spPr>
          <a:xfrm xmlns:a="http://schemas.openxmlformats.org/drawingml/2006/main">
            <a:off x="609600" y="1382263"/>
            <a:ext cx="5362575" cy="4141100"/>
          </a:xfrm>
          <a:prstGeom xmlns:a="http://schemas.openxmlformats.org/drawingml/2006/main" prst="rect">
            <a:avLst/>
          </a:prstGeom>
        </p:spPr>
      </p:pic>
      <p:sp>
        <p:nvSpPr>
          <p:cNvPr id="7" name="关系_81">
            <a:extLst xmlns:a="http://schemas.openxmlformats.org/drawingml/2006/main">
              <a:ext uri="{FF2B5EF4-FFF2-40B4-BE49-F238E27FC236}">
                <a16:creationId xmlns:a16="http://schemas.microsoft.com/office/drawing/2014/main" id="{C875607D-17F1-40F0-9CBD-8F381FF0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融合文本_82">
            <a:extLst xmlns:a="http://schemas.openxmlformats.org/drawingml/2006/main">
              <a:ext uri="{FF2B5EF4-FFF2-40B4-BE49-F238E27FC236}">
                <a16:creationId xmlns:a16="http://schemas.microsoft.com/office/drawing/2014/main" id="{5F6F3714-BBBF-4B29-8CFE-7A954F6F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517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UE 实机 · 历史尾缀</a:t>
            </a:r>
          </a:p>
        </p:txBody>
      </p:sp>
      <p:sp>
        <p:nvSpPr>
          <p:cNvPr id="9" name="融合文本_83">
            <a:extLst xmlns:a="http://schemas.openxmlformats.org/drawingml/2006/main">
              <a:ext uri="{FF2B5EF4-FFF2-40B4-BE49-F238E27FC236}">
                <a16:creationId xmlns:a16="http://schemas.microsoft.com/office/drawing/2014/main" id="{3F27AA55-F84C-4AAF-AD65-BDF349E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近段跟随弹体，远段保留老火星</a:t>
            </a:r>
          </a:p>
        </p:txBody>
      </p:sp>
      <p:sp>
        <p:nvSpPr>
          <p:cNvPr id="10" name="融合文本_84">
            <a:extLst xmlns:a="http://schemas.openxmlformats.org/drawingml/2006/main">
              <a:ext uri="{FF2B5EF4-FFF2-40B4-BE49-F238E27FC236}">
                <a16:creationId xmlns:a16="http://schemas.microsoft.com/office/drawing/2014/main" id="{E96D833D-C300-4B0C-839F-D38C3EB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分段依据是火星年龄与表现范围，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与相机距离触发的 LOD 不同。</a:t>
            </a:r>
          </a:p>
        </p:txBody>
      </p:sp>
      <p:sp>
        <p:nvSpPr>
          <p:cNvPr id="11" name="融合文本_85">
            <a:extLst xmlns:a="http://schemas.openxmlformats.org/drawingml/2006/main">
              <a:ext uri="{FF2B5EF4-FFF2-40B4-BE49-F238E27FC236}">
                <a16:creationId xmlns:a16="http://schemas.microsoft.com/office/drawing/2014/main" id="{CE4AF304-A753-424F-A146-E0D9EF93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屏幕位移决定采样密度</a:t>
            </a:r>
          </a:p>
        </p:txBody>
      </p:sp>
      <p:sp>
        <p:nvSpPr>
          <p:cNvPr id="12" name="融合文本_86">
            <a:extLst xmlns:a="http://schemas.openxmlformats.org/drawingml/2006/main">
              <a:ext uri="{FF2B5EF4-FFF2-40B4-BE49-F238E27FC236}">
                <a16:creationId xmlns:a16="http://schemas.microsoft.com/office/drawing/2014/main" id="{7F2462B2-CA38-40AC-A31A-CCC33E5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800 m · 1080p 的设计条件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快处多留帧，慢处再减帧</a:t>
            </a:r>
          </a:p>
        </p:txBody>
      </p:sp>
      <p:sp>
        <p:nvSpPr>
          <p:cNvPr id="13" name="关系_87">
            <a:extLst xmlns:a="http://schemas.openxmlformats.org/drawingml/2006/main">
              <a:ext uri="{FF2B5EF4-FFF2-40B4-BE49-F238E27FC236}">
                <a16:creationId xmlns:a16="http://schemas.microsoft.com/office/drawing/2014/main" id="{C0B9196F-D212-4CBD-A27A-F80EA6CE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关系_88">
            <a:extLst xmlns:a="http://schemas.openxmlformats.org/drawingml/2006/main">
              <a:ext uri="{FF2B5EF4-FFF2-40B4-BE49-F238E27FC236}">
                <a16:creationId xmlns:a16="http://schemas.microsoft.com/office/drawing/2014/main" id="{A0B51146-67C1-43A4-8049-143B089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5" name="关系_89">
            <a:extLst xmlns:a="http://schemas.openxmlformats.org/drawingml/2006/main">
              <a:ext uri="{FF2B5EF4-FFF2-40B4-BE49-F238E27FC236}">
                <a16:creationId xmlns:a16="http://schemas.microsoft.com/office/drawing/2014/main" id="{7B25EDE8-8A36-41B6-AA7F-92AD8510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6" name="关系_90">
            <a:extLst xmlns:a="http://schemas.openxmlformats.org/drawingml/2006/main">
              <a:ext uri="{FF2B5EF4-FFF2-40B4-BE49-F238E27FC236}">
                <a16:creationId xmlns:a16="http://schemas.microsoft.com/office/drawing/2014/main" id="{E54315D6-C4F9-4C7E-8A91-A4144098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7" name="关系_91">
            <a:extLst xmlns:a="http://schemas.openxmlformats.org/drawingml/2006/main">
              <a:ext uri="{FF2B5EF4-FFF2-40B4-BE49-F238E27FC236}">
                <a16:creationId xmlns:a16="http://schemas.microsoft.com/office/drawing/2014/main" id="{B9B62862-AAB6-4EE9-8794-C5FA342D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8" name="关系_92">
            <a:extLst xmlns:a="http://schemas.openxmlformats.org/drawingml/2006/main">
              <a:ext uri="{FF2B5EF4-FFF2-40B4-BE49-F238E27FC236}">
                <a16:creationId xmlns:a16="http://schemas.microsoft.com/office/drawing/2014/main" id="{BF32F7A3-55A8-43F1-A92F-6B3DAF73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9" name="关系_93">
            <a:extLst xmlns:a="http://schemas.openxmlformats.org/drawingml/2006/main">
              <a:ext uri="{FF2B5EF4-FFF2-40B4-BE49-F238E27FC236}">
                <a16:creationId xmlns:a16="http://schemas.microsoft.com/office/drawing/2014/main" id="{E5B509F2-04E9-454B-8866-2B87439C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0" name="关系_94">
            <a:extLst xmlns:a="http://schemas.openxmlformats.org/drawingml/2006/main">
              <a:ext uri="{FF2B5EF4-FFF2-40B4-BE49-F238E27FC236}">
                <a16:creationId xmlns:a16="http://schemas.microsoft.com/office/drawing/2014/main" id="{8733CDB2-4F29-4E48-B35C-22D4C2E2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1" name="关系_95">
            <a:extLst xmlns:a="http://schemas.openxmlformats.org/drawingml/2006/main">
              <a:ext uri="{FF2B5EF4-FFF2-40B4-BE49-F238E27FC236}">
                <a16:creationId xmlns:a16="http://schemas.microsoft.com/office/drawing/2014/main" id="{B3EB62E6-DE00-48C3-9663-128A4F42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2" name="关系_96">
            <a:extLst xmlns:a="http://schemas.openxmlformats.org/drawingml/2006/main">
              <a:ext uri="{FF2B5EF4-FFF2-40B4-BE49-F238E27FC236}">
                <a16:creationId xmlns:a16="http://schemas.microsoft.com/office/drawing/2014/main" id="{CD80478B-3C8F-4492-AACC-91B9A231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3" name="关系_97">
            <a:extLst xmlns:a="http://schemas.openxmlformats.org/drawingml/2006/main">
              <a:ext uri="{FF2B5EF4-FFF2-40B4-BE49-F238E27FC236}">
                <a16:creationId xmlns:a16="http://schemas.microsoft.com/office/drawing/2014/main" id="{C9CA180C-60A5-43DB-A6A1-CB71B6F0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4" name="关系_98">
            <a:extLst xmlns:a="http://schemas.openxmlformats.org/drawingml/2006/main">
              <a:ext uri="{FF2B5EF4-FFF2-40B4-BE49-F238E27FC236}">
                <a16:creationId xmlns:a16="http://schemas.microsoft.com/office/drawing/2014/main" id="{EE3B1F0A-72A4-4DA1-BAE9-F73C63C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5" name="关系_99">
            <a:extLst xmlns:a="http://schemas.openxmlformats.org/drawingml/2006/main">
              <a:ext uri="{FF2B5EF4-FFF2-40B4-BE49-F238E27FC236}">
                <a16:creationId xmlns:a16="http://schemas.microsoft.com/office/drawing/2014/main" id="{C48B6556-A72C-426E-A52E-84278B75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6" name="关系_100">
            <a:extLst xmlns:a="http://schemas.openxmlformats.org/drawingml/2006/main">
              <a:ext uri="{FF2B5EF4-FFF2-40B4-BE49-F238E27FC236}">
                <a16:creationId xmlns:a16="http://schemas.microsoft.com/office/drawing/2014/main" id="{DB896D51-1FAF-45F2-A824-9180F8D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7" name="关系_101">
            <a:extLst xmlns:a="http://schemas.openxmlformats.org/drawingml/2006/main">
              <a:ext uri="{FF2B5EF4-FFF2-40B4-BE49-F238E27FC236}">
                <a16:creationId xmlns:a16="http://schemas.microsoft.com/office/drawing/2014/main" id="{B2DE4AF0-900C-4EE7-8349-591AF1B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8" name="关系_102">
            <a:extLst xmlns:a="http://schemas.openxmlformats.org/drawingml/2006/main">
              <a:ext uri="{FF2B5EF4-FFF2-40B4-BE49-F238E27FC236}">
                <a16:creationId xmlns:a16="http://schemas.microsoft.com/office/drawing/2014/main" id="{7076E097-4013-4DED-B383-35DDCDCE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9" name="关系_103">
            <a:extLst xmlns:a="http://schemas.openxmlformats.org/drawingml/2006/main">
              <a:ext uri="{FF2B5EF4-FFF2-40B4-BE49-F238E27FC236}">
                <a16:creationId xmlns:a16="http://schemas.microsoft.com/office/drawing/2014/main" id="{C39F3DD2-B684-4DE6-848C-69E7A869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30" name="关系_104">
            <a:extLst xmlns:a="http://schemas.openxmlformats.org/drawingml/2006/main">
              <a:ext uri="{FF2B5EF4-FFF2-40B4-BE49-F238E27FC236}">
                <a16:creationId xmlns:a16="http://schemas.microsoft.com/office/drawing/2014/main" id="{703B1E58-CF4E-47CB-97C1-40714FD1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482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31" name="关系_105">
            <a:extLst xmlns:a="http://schemas.openxmlformats.org/drawingml/2006/main">
              <a:ext uri="{FF2B5EF4-FFF2-40B4-BE49-F238E27FC236}">
                <a16:creationId xmlns:a16="http://schemas.microsoft.com/office/drawing/2014/main" id="{892685DA-9EC5-4902-9374-604E1EA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2" name="关系_106">
            <a:extLst xmlns:a="http://schemas.openxmlformats.org/drawingml/2006/main">
              <a:ext uri="{FF2B5EF4-FFF2-40B4-BE49-F238E27FC236}">
                <a16:creationId xmlns:a16="http://schemas.microsoft.com/office/drawing/2014/main" id="{17C58B8D-D7E1-4B6D-9764-650F45F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3" name="关系_107">
            <a:extLst xmlns:a="http://schemas.openxmlformats.org/drawingml/2006/main">
              <a:ext uri="{FF2B5EF4-FFF2-40B4-BE49-F238E27FC236}">
                <a16:creationId xmlns:a16="http://schemas.microsoft.com/office/drawing/2014/main" id="{8F068D8E-92A7-49CE-9A63-1FB8818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4" name="关系_108">
            <a:extLst xmlns:a="http://schemas.openxmlformats.org/drawingml/2006/main">
              <a:ext uri="{FF2B5EF4-FFF2-40B4-BE49-F238E27FC236}">
                <a16:creationId xmlns:a16="http://schemas.microsoft.com/office/drawing/2014/main" id="{70EE66A9-B47B-44FF-A767-2DFD4D4B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关系_109">
            <a:extLst xmlns:a="http://schemas.openxmlformats.org/drawingml/2006/main">
              <a:ext uri="{FF2B5EF4-FFF2-40B4-BE49-F238E27FC236}">
                <a16:creationId xmlns:a16="http://schemas.microsoft.com/office/drawing/2014/main" id="{7E688AD8-373F-4AA3-A9A0-1C03CE8A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关系_110">
            <a:extLst xmlns:a="http://schemas.openxmlformats.org/drawingml/2006/main">
              <a:ext uri="{FF2B5EF4-FFF2-40B4-BE49-F238E27FC236}">
                <a16:creationId xmlns:a16="http://schemas.microsoft.com/office/drawing/2014/main" id="{8763B083-6101-4B40-A8A2-A3A737D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7" name="关系_111">
            <a:extLst xmlns:a="http://schemas.openxmlformats.org/drawingml/2006/main">
              <a:ext uri="{FF2B5EF4-FFF2-40B4-BE49-F238E27FC236}">
                <a16:creationId xmlns:a16="http://schemas.microsoft.com/office/drawing/2014/main" id="{87E27580-EA0E-498E-AFCB-A92A986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6958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8" name="融合文本_112">
            <a:extLst xmlns:a="http://schemas.openxmlformats.org/drawingml/2006/main">
              <a:ext uri="{FF2B5EF4-FFF2-40B4-BE49-F238E27FC236}">
                <a16:creationId xmlns:a16="http://schemas.microsoft.com/office/drawing/2014/main" id="{2A4EEFC0-EFEA-4A1D-B56D-99953F5F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53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快速上升</a:t>
            </a:r>
          </a:p>
        </p:txBody>
      </p:sp>
      <p:sp>
        <p:nvSpPr>
          <p:cNvPr id="39" name="融合文本_113">
            <a:extLst xmlns:a="http://schemas.openxmlformats.org/drawingml/2006/main">
              <a:ext uri="{FF2B5EF4-FFF2-40B4-BE49-F238E27FC236}">
                <a16:creationId xmlns:a16="http://schemas.microsoft.com/office/drawing/2014/main" id="{1F9C8116-E4BF-44ED-84E0-361B1802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530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减速与余火</a:t>
            </a:r>
          </a:p>
        </p:txBody>
      </p:sp>
      <p:sp>
        <p:nvSpPr>
          <p:cNvPr id="40" name="融合文本_114">
            <a:extLst xmlns:a="http://schemas.openxmlformats.org/drawingml/2006/main">
              <a:ext uri="{FF2B5EF4-FFF2-40B4-BE49-F238E27FC236}">
                <a16:creationId xmlns:a16="http://schemas.microsoft.com/office/drawing/2014/main" id="{0E5E716C-2A99-4C3C-9CA6-F2D97FDC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时间采样更密，贴图预算不变时单格可能更小，近看也会更软。</a:t>
            </a:r>
          </a:p>
        </p:txBody>
      </p:sp>
      <p:sp>
        <p:nvSpPr>
          <p:cNvPr id="41" name="融合文本_184">
            <a:extLst xmlns:a="http://schemas.openxmlformats.org/drawingml/2006/main">
              <a:ext uri="{FF2B5EF4-FFF2-40B4-BE49-F238E27FC236}">
                <a16:creationId xmlns:a16="http://schemas.microsoft.com/office/drawing/2014/main" id="{9AF7D074-1B8F-4A42-B364-1DD6699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2059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E63CA709-193C-40B1-9711-E30C4E0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经验与方法 · UE 低档受控对照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3AB8D9-963E-426E-9BAC-5DA29952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同条件对比，分清方头与首次播放模糊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51ED763D-A8D6-4809-8969-1FD8828A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6DE590B-9162-47DD-86A9-4E0BA3C8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融合文本_115">
            <a:extLst xmlns:a="http://schemas.openxmlformats.org/drawingml/2006/main">
              <a:ext uri="{FF2B5EF4-FFF2-40B4-BE49-F238E27FC236}">
                <a16:creationId xmlns:a16="http://schemas.microsoft.com/office/drawing/2014/main" id="{007376B5-1D75-4D51-95D3-F28B687C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尾缀方头 · 同刻 6.8 s</a:t>
            </a:r>
          </a:p>
        </p:txBody>
      </p:sp>
      <p:sp>
        <p:nvSpPr>
          <p:cNvPr id="7" name="融合文本_116">
            <a:extLst xmlns:a="http://schemas.openxmlformats.org/drawingml/2006/main">
              <a:ext uri="{FF2B5EF4-FFF2-40B4-BE49-F238E27FC236}">
                <a16:creationId xmlns:a16="http://schemas.microsoft.com/office/drawing/2014/main" id="{D8CC7008-9D9A-4CD3-8B8B-06BE6D8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52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绽放模糊 · 同刻 0.29 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17669-3A85-4109-8FB0-EC37C2DDA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6552ef0e24443"/>
          <a:stretch xmlns:a="http://schemas.openxmlformats.org/drawingml/2006/main"/>
        </p:blipFill>
        <p:spPr>
          <a:xfrm xmlns:a="http://schemas.openxmlformats.org/drawingml/2006/main">
            <a:off x="633413" y="1857375"/>
            <a:ext cx="2286000" cy="30956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A3E64-CFD5-49B2-9E56-595598F6A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38fc25a5c44bc"/>
          <a:stretch xmlns:a="http://schemas.openxmlformats.org/drawingml/2006/main"/>
        </p:blipFill>
        <p:spPr>
          <a:xfrm xmlns:a="http://schemas.openxmlformats.org/drawingml/2006/main">
            <a:off x="3203575" y="1857375"/>
            <a:ext cx="2270125" cy="309562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8AA83-3445-4A16-977C-34D5956F4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abdf3bbc347df"/>
          <a:stretch xmlns:a="http://schemas.openxmlformats.org/drawingml/2006/main"/>
        </p:blipFill>
        <p:spPr>
          <a:xfrm xmlns:a="http://schemas.openxmlformats.org/drawingml/2006/main">
            <a:off x="6496050" y="1863857"/>
            <a:ext cx="2333625" cy="232066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C226D-D898-43A3-B430-7F8D834EB6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8e4db68344f90"/>
          <a:stretch xmlns:a="http://schemas.openxmlformats.org/drawingml/2006/main"/>
        </p:blipFill>
        <p:spPr>
          <a:xfrm xmlns:a="http://schemas.openxmlformats.org/drawingml/2006/main">
            <a:off x="9058275" y="1863857"/>
            <a:ext cx="2333625" cy="2320660"/>
          </a:xfrm>
          <a:prstGeom xmlns:a="http://schemas.openxmlformats.org/drawingml/2006/main" prst="rect">
            <a:avLst/>
          </a:prstGeom>
        </p:spPr>
      </p:pic>
      <p:sp>
        <p:nvSpPr>
          <p:cNvPr id="12" name="融合文本_117">
            <a:extLst xmlns:a="http://schemas.openxmlformats.org/drawingml/2006/main">
              <a:ext uri="{FF2B5EF4-FFF2-40B4-BE49-F238E27FC236}">
                <a16:creationId xmlns:a16="http://schemas.microsoft.com/office/drawing/2014/main" id="{06237341-2E4D-4394-AE31-20DB40B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融合文本_118">
            <a:extLst xmlns:a="http://schemas.openxmlformats.org/drawingml/2006/main">
              <a:ext uri="{FF2B5EF4-FFF2-40B4-BE49-F238E27FC236}">
                <a16:creationId xmlns:a16="http://schemas.microsoft.com/office/drawing/2014/main" id="{273C654D-9E4F-42CA-847F-A31B25B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0292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NoMip 对照</a:t>
            </a:r>
          </a:p>
        </p:txBody>
      </p:sp>
      <p:sp>
        <p:nvSpPr>
          <p:cNvPr id="14" name="融合文本_119">
            <a:extLst xmlns:a="http://schemas.openxmlformats.org/drawingml/2006/main">
              <a:ext uri="{FF2B5EF4-FFF2-40B4-BE49-F238E27FC236}">
                <a16:creationId xmlns:a16="http://schemas.microsoft.com/office/drawing/2014/main" id="{AA8B95FE-4503-4AF6-AE42-30D4084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76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流送</a:t>
            </a:r>
          </a:p>
        </p:txBody>
      </p:sp>
      <p:sp>
        <p:nvSpPr>
          <p:cNvPr id="15" name="融合文本_120">
            <a:extLst xmlns:a="http://schemas.openxmlformats.org/drawingml/2006/main">
              <a:ext uri="{FF2B5EF4-FFF2-40B4-BE49-F238E27FC236}">
                <a16:creationId xmlns:a16="http://schemas.microsoft.com/office/drawing/2014/main" id="{0DC6D267-10B2-46F7-96F5-4769164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76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NoMip 对照</a:t>
            </a:r>
          </a:p>
        </p:txBody>
      </p:sp>
      <p:sp>
        <p:nvSpPr>
          <p:cNvPr id="16" name="融合文本_121">
            <a:extLst xmlns:a="http://schemas.openxmlformats.org/drawingml/2006/main">
              <a:ext uri="{FF2B5EF4-FFF2-40B4-BE49-F238E27FC236}">
                <a16:creationId xmlns:a16="http://schemas.microsoft.com/office/drawing/2014/main" id="{93AB06ED-12D9-4A7F-B72E-F3042700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08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细长格受低 Mip 影响，星头变方。</a:t>
            </a:r>
          </a:p>
        </p:txBody>
      </p:sp>
      <p:sp>
        <p:nvSpPr>
          <p:cNvPr id="17" name="融合文本_122">
            <a:extLst xmlns:a="http://schemas.openxmlformats.org/drawingml/2006/main">
              <a:ext uri="{FF2B5EF4-FFF2-40B4-BE49-F238E27FC236}">
                <a16:creationId xmlns:a16="http://schemas.microsoft.com/office/drawing/2014/main" id="{AE3D834A-4B97-4ED9-8256-2D6CE29C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首次激活时，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主图分辨率还未到位。</a:t>
            </a:r>
          </a:p>
        </p:txBody>
      </p:sp>
      <p:sp>
        <p:nvSpPr>
          <p:cNvPr id="18" name="关系_123">
            <a:extLst xmlns:a="http://schemas.openxmlformats.org/drawingml/2006/main">
              <a:ext uri="{FF2B5EF4-FFF2-40B4-BE49-F238E27FC236}">
                <a16:creationId xmlns:a16="http://schemas.microsoft.com/office/drawing/2014/main" id="{B178087C-758D-441A-9B85-BE05E9F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9" name="融合文本_124">
            <a:extLst xmlns:a="http://schemas.openxmlformats.org/drawingml/2006/main">
              <a:ext uri="{FF2B5EF4-FFF2-40B4-BE49-F238E27FC236}">
                <a16:creationId xmlns:a16="http://schemas.microsoft.com/office/drawing/2014/main" id="{FF0EB400-D011-4746-8149-D70617E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PC 主序列 NoMip；手游保留 Mip 与流送，最大 1024。</a:t>
            </a:r>
          </a:p>
        </p:txBody>
      </p:sp>
      <p:sp>
        <p:nvSpPr>
          <p:cNvPr id="20" name="融合文本_185">
            <a:extLst xmlns:a="http://schemas.openxmlformats.org/drawingml/2006/main">
              <a:ext uri="{FF2B5EF4-FFF2-40B4-BE49-F238E27FC236}">
                <a16:creationId xmlns:a16="http://schemas.microsoft.com/office/drawing/2014/main" id="{3EC88B10-3C74-424F-A1D7-8D16ACA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377959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3B648D4E-ADB2-4869-94F9-A2A8A115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经验与方法 · 规则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6A2ABF-4FB8-48D1-B2A8-D5BF5369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参数按任务组织，界面共用设计基础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5B1E2E8E-726B-4775-9A81-9255A6E2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02511F-DF1E-4825-A385-FDDDC01C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62A6-1B2C-461C-8F1E-8FF59C98C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0c833c677454a"/>
          <a:stretch xmlns:a="http://schemas.openxmlformats.org/drawingml/2006/main"/>
        </p:blipFill>
        <p:spPr>
          <a:xfrm xmlns:a="http://schemas.openxmlformats.org/drawingml/2006/main">
            <a:off x="721874" y="1362075"/>
            <a:ext cx="2890128" cy="4714875"/>
          </a:xfrm>
          <a:prstGeom xmlns:a="http://schemas.openxmlformats.org/drawingml/2006/main" prst="rect">
            <a:avLst/>
          </a:prstGeom>
        </p:spPr>
      </p:pic>
      <p:sp>
        <p:nvSpPr>
          <p:cNvPr id="7" name="关系_125">
            <a:extLst xmlns:a="http://schemas.openxmlformats.org/drawingml/2006/main">
              <a:ext uri="{FF2B5EF4-FFF2-40B4-BE49-F238E27FC236}">
                <a16:creationId xmlns:a16="http://schemas.microsoft.com/office/drawing/2014/main" id="{24DFAF67-D68F-4D41-82AB-221FCEB2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2581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融合文本_126">
            <a:extLst xmlns:a="http://schemas.openxmlformats.org/drawingml/2006/main">
              <a:ext uri="{FF2B5EF4-FFF2-40B4-BE49-F238E27FC236}">
                <a16:creationId xmlns:a16="http://schemas.microsoft.com/office/drawing/2014/main" id="{266D0238-21D9-4921-8DB9-0E7D0C2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2924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生产版 4.9.124 · 参数区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3DFF8-1560-4C51-899E-970C73067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8cc4961844ab7"/>
          <a:stretch xmlns:a="http://schemas.openxmlformats.org/drawingml/2006/main"/>
        </p:blipFill>
        <p:spPr>
          <a:xfrm xmlns:a="http://schemas.openxmlformats.org/drawingml/2006/main">
            <a:off x="4043987" y="1362075"/>
            <a:ext cx="1932326" cy="4714875"/>
          </a:xfrm>
          <a:prstGeom xmlns:a="http://schemas.openxmlformats.org/drawingml/2006/main" prst="rect">
            <a:avLst/>
          </a:prstGeom>
        </p:spPr>
      </p:pic>
      <p:sp>
        <p:nvSpPr>
          <p:cNvPr id="10" name="关系_127">
            <a:extLst xmlns:a="http://schemas.openxmlformats.org/drawingml/2006/main">
              <a:ext uri="{FF2B5EF4-FFF2-40B4-BE49-F238E27FC236}">
                <a16:creationId xmlns:a16="http://schemas.microsoft.com/office/drawing/2014/main" id="{50C08D35-52CA-46F6-9BC6-A7E483F6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829300"/>
            <a:ext cx="115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融合文本_128">
            <a:extLst xmlns:a="http://schemas.openxmlformats.org/drawingml/2006/main">
              <a:ext uri="{FF2B5EF4-FFF2-40B4-BE49-F238E27FC236}">
                <a16:creationId xmlns:a16="http://schemas.microsoft.com/office/drawing/2014/main" id="{85C47C9D-A745-4D56-959F-D495B13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8388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资源状态与入口</a:t>
            </a:r>
          </a:p>
        </p:txBody>
      </p:sp>
      <p:sp>
        <p:nvSpPr>
          <p:cNvPr id="12" name="融合文本_129">
            <a:extLst xmlns:a="http://schemas.openxmlformats.org/drawingml/2006/main">
              <a:ext uri="{FF2B5EF4-FFF2-40B4-BE49-F238E27FC236}">
                <a16:creationId xmlns:a16="http://schemas.microsoft.com/office/drawing/2014/main" id="{4EA5DE99-E87A-4A04-B7D8-3585A1E6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954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按任务分组</a:t>
            </a:r>
          </a:p>
        </p:txBody>
      </p:sp>
      <p:sp>
        <p:nvSpPr>
          <p:cNvPr id="13" name="融合文本_130">
            <a:extLst xmlns:a="http://schemas.openxmlformats.org/drawingml/2006/main">
              <a:ext uri="{FF2B5EF4-FFF2-40B4-BE49-F238E27FC236}">
                <a16:creationId xmlns:a16="http://schemas.microsoft.com/office/drawing/2014/main" id="{D12CC057-1A0A-4E97-97F3-A11B66B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193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生成、形状、受力、寿命、亮度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顺着实际制作思路展开。</a:t>
            </a:r>
          </a:p>
        </p:txBody>
      </p:sp>
      <p:sp>
        <p:nvSpPr>
          <p:cNvPr id="14" name="融合文本_131">
            <a:extLst xmlns:a="http://schemas.openxmlformats.org/drawingml/2006/main">
              <a:ext uri="{FF2B5EF4-FFF2-40B4-BE49-F238E27FC236}">
                <a16:creationId xmlns:a16="http://schemas.microsoft.com/office/drawing/2014/main" id="{CD95955A-0EDC-4789-B4E0-2CA602D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3370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说明失效条件</a:t>
            </a:r>
          </a:p>
        </p:txBody>
      </p:sp>
      <p:sp>
        <p:nvSpPr>
          <p:cNvPr id="15" name="融合文本_132">
            <a:extLst xmlns:a="http://schemas.openxmlformats.org/drawingml/2006/main">
              <a:ext uri="{FF2B5EF4-FFF2-40B4-BE49-F238E27FC236}">
                <a16:creationId xmlns:a16="http://schemas.microsoft.com/office/drawing/2014/main" id="{C2EF5183-D81A-4B71-ACED-E6ED7838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575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启用状态、依赖与导出限制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让“为什么没变化”有处可查。</a:t>
            </a:r>
          </a:p>
        </p:txBody>
      </p:sp>
      <p:sp>
        <p:nvSpPr>
          <p:cNvPr id="16" name="融合文本_133">
            <a:extLst xmlns:a="http://schemas.openxmlformats.org/drawingml/2006/main">
              <a:ext uri="{FF2B5EF4-FFF2-40B4-BE49-F238E27FC236}">
                <a16:creationId xmlns:a16="http://schemas.microsoft.com/office/drawing/2014/main" id="{605A5642-0FBD-493D-9E6E-75CAED4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7197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共享颜色与交互规则</a:t>
            </a:r>
          </a:p>
        </p:txBody>
      </p:sp>
      <p:sp>
        <p:nvSpPr>
          <p:cNvPr id="17" name="融合文本_134">
            <a:extLst xmlns:a="http://schemas.openxmlformats.org/drawingml/2006/main">
              <a:ext uri="{FF2B5EF4-FFF2-40B4-BE49-F238E27FC236}">
                <a16:creationId xmlns:a16="http://schemas.microsoft.com/office/drawing/2014/main" id="{A002BFEB-35B6-43D8-8C11-A6625B0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958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宪章规定行为，令牌约束颜色，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逐步统一 DF 特效工作台。</a:t>
            </a:r>
          </a:p>
        </p:txBody>
      </p:sp>
      <p:sp>
        <p:nvSpPr>
          <p:cNvPr id="18" name="融合文本_186">
            <a:extLst xmlns:a="http://schemas.openxmlformats.org/drawingml/2006/main">
              <a:ext uri="{FF2B5EF4-FFF2-40B4-BE49-F238E27FC236}">
                <a16:creationId xmlns:a16="http://schemas.microsoft.com/office/drawing/2014/main" id="{38820F61-5E46-4AA6-9023-192C565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7417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F2148191-4C62-4B2C-9362-BFB2A58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05 · 分享 · 协作方法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C966E4-B340-41AB-BE89-08F9CF8A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批量需求中的 AI 协作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D356E722-85A4-49F5-8893-45C25A8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486392A-3E13-42DF-B8BC-E7AE19AE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融合文本_135">
            <a:extLst xmlns:a="http://schemas.openxmlformats.org/drawingml/2006/main">
              <a:ext uri="{FF2B5EF4-FFF2-40B4-BE49-F238E27FC236}">
                <a16:creationId xmlns:a16="http://schemas.microsoft.com/office/drawing/2014/main" id="{5792B925-06A3-492B-9B4C-1F4933C2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融合文本_136">
            <a:extLst xmlns:a="http://schemas.openxmlformats.org/drawingml/2006/main">
              <a:ext uri="{FF2B5EF4-FFF2-40B4-BE49-F238E27FC236}">
                <a16:creationId xmlns:a16="http://schemas.microsoft.com/office/drawing/2014/main" id="{6187DCBE-62EE-47DB-B79F-1B7F8B4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47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明确需求</a:t>
            </a:r>
          </a:p>
        </p:txBody>
      </p:sp>
      <p:sp>
        <p:nvSpPr>
          <p:cNvPr id="8" name="融合文本_137">
            <a:extLst xmlns:a="http://schemas.openxmlformats.org/drawingml/2006/main">
              <a:ext uri="{FF2B5EF4-FFF2-40B4-BE49-F238E27FC236}">
                <a16:creationId xmlns:a16="http://schemas.microsoft.com/office/drawing/2014/main" id="{1903E947-6D75-42EF-9E6E-BC3929D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9072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目标、限制与验收先写清楚。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AI 梳理技术，先拆结构再调参。</a:t>
            </a:r>
          </a:p>
        </p:txBody>
      </p:sp>
      <p:sp>
        <p:nvSpPr>
          <p:cNvPr id="9" name="关系_138">
            <a:extLst xmlns:a="http://schemas.openxmlformats.org/drawingml/2006/main">
              <a:ext uri="{FF2B5EF4-FFF2-40B4-BE49-F238E27FC236}">
                <a16:creationId xmlns:a16="http://schemas.microsoft.com/office/drawing/2014/main" id="{EAFBB3FA-48F7-401C-A6BF-3BF4DEC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813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融合文本_139">
            <a:extLst xmlns:a="http://schemas.openxmlformats.org/drawingml/2006/main">
              <a:ext uri="{FF2B5EF4-FFF2-40B4-BE49-F238E27FC236}">
                <a16:creationId xmlns:a16="http://schemas.microsoft.com/office/drawing/2014/main" id="{39BF022A-36E8-4BCF-BCBD-850D6D2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融合文本_140">
            <a:extLst xmlns:a="http://schemas.openxmlformats.org/drawingml/2006/main">
              <a:ext uri="{FF2B5EF4-FFF2-40B4-BE49-F238E27FC236}">
                <a16:creationId xmlns:a16="http://schemas.microsoft.com/office/drawing/2014/main" id="{AD61365B-9EDD-4B85-B895-82EBF9A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建立规范</a:t>
            </a:r>
          </a:p>
        </p:txBody>
      </p:sp>
      <p:sp>
        <p:nvSpPr>
          <p:cNvPr id="12" name="融合文本_141">
            <a:extLst xmlns:a="http://schemas.openxmlformats.org/drawingml/2006/main">
              <a:ext uri="{FF2B5EF4-FFF2-40B4-BE49-F238E27FC236}">
                <a16:creationId xmlns:a16="http://schemas.microsoft.com/office/drawing/2014/main" id="{CE17056D-BF20-46D0-9B74-45931AB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9567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按效果、底层工具、编排分负责人。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执行前读取宪章、任务边界与交接。</a:t>
            </a:r>
          </a:p>
        </p:txBody>
      </p:sp>
      <p:sp>
        <p:nvSpPr>
          <p:cNvPr id="13" name="关系_142">
            <a:extLst xmlns:a="http://schemas.openxmlformats.org/drawingml/2006/main">
              <a:ext uri="{FF2B5EF4-FFF2-40B4-BE49-F238E27FC236}">
                <a16:creationId xmlns:a16="http://schemas.microsoft.com/office/drawing/2014/main" id="{8B99ECBC-41C0-432B-A63F-7E3FAAF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86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融合文本_143">
            <a:extLst xmlns:a="http://schemas.openxmlformats.org/drawingml/2006/main">
              <a:ext uri="{FF2B5EF4-FFF2-40B4-BE49-F238E27FC236}">
                <a16:creationId xmlns:a16="http://schemas.microsoft.com/office/drawing/2014/main" id="{A124C8E6-0621-4C69-80C1-F3EE5A49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融合文本_144">
            <a:extLst xmlns:a="http://schemas.openxmlformats.org/drawingml/2006/main">
              <a:ext uri="{FF2B5EF4-FFF2-40B4-BE49-F238E27FC236}">
                <a16:creationId xmlns:a16="http://schemas.microsoft.com/office/drawing/2014/main" id="{4244AC8C-267B-4CF1-9E66-D6A144C6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57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结果把关</a:t>
            </a:r>
          </a:p>
        </p:txBody>
      </p:sp>
      <p:sp>
        <p:nvSpPr>
          <p:cNvPr id="16" name="融合文本_145">
            <a:extLst xmlns:a="http://schemas.openxmlformats.org/drawingml/2006/main">
              <a:ext uri="{FF2B5EF4-FFF2-40B4-BE49-F238E27FC236}">
                <a16:creationId xmlns:a16="http://schemas.microsoft.com/office/drawing/2014/main" id="{5EBC54EC-7CB9-4A1D-A893-56238175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0062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自动检查、引擎回放与 UE 验收分开。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通过后锁定版本，复用并派生。</a:t>
            </a:r>
          </a:p>
        </p:txBody>
      </p:sp>
      <p:sp>
        <p:nvSpPr>
          <p:cNvPr id="17" name="关系_146">
            <a:extLst xmlns:a="http://schemas.openxmlformats.org/drawingml/2006/main">
              <a:ext uri="{FF2B5EF4-FFF2-40B4-BE49-F238E27FC236}">
                <a16:creationId xmlns:a16="http://schemas.microsoft.com/office/drawing/2014/main" id="{AAEEF7A3-385B-4F98-8416-F1420D47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19225"/>
            <a:ext cx="9525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2000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融合文本_147">
            <a:extLst xmlns:a="http://schemas.openxmlformats.org/drawingml/2006/main">
              <a:ext uri="{FF2B5EF4-FFF2-40B4-BE49-F238E27FC236}">
                <a16:creationId xmlns:a16="http://schemas.microsoft.com/office/drawing/2014/main" id="{AC22B7B2-B750-4696-A946-09D1AF50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我负责的判断</a:t>
            </a:r>
          </a:p>
        </p:txBody>
      </p:sp>
      <p:sp>
        <p:nvSpPr>
          <p:cNvPr id="19" name="融合文本_148">
            <a:extLst xmlns:a="http://schemas.openxmlformats.org/drawingml/2006/main">
              <a:ext uri="{FF2B5EF4-FFF2-40B4-BE49-F238E27FC236}">
                <a16:creationId xmlns:a16="http://schemas.microsoft.com/office/drawing/2014/main" id="{92310C25-CC54-40A2-9211-BDC3179A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需求与方向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美术取舍与规范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整合与最终验收</a:t>
            </a:r>
          </a:p>
        </p:txBody>
      </p:sp>
      <p:sp>
        <p:nvSpPr>
          <p:cNvPr id="20" name="融合文本_149">
            <a:extLst xmlns:a="http://schemas.openxmlformats.org/drawingml/2006/main">
              <a:ext uri="{FF2B5EF4-FFF2-40B4-BE49-F238E27FC236}">
                <a16:creationId xmlns:a16="http://schemas.microsoft.com/office/drawing/2014/main" id="{7010E316-FB00-4C2F-8AD8-E4A35C3A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可以从一件重复工作开始</a:t>
            </a:r>
          </a:p>
        </p:txBody>
      </p:sp>
      <p:sp>
        <p:nvSpPr>
          <p:cNvPr id="21" name="融合文本_150">
            <a:extLst xmlns:a="http://schemas.openxmlformats.org/drawingml/2006/main">
              <a:ext uri="{FF2B5EF4-FFF2-40B4-BE49-F238E27FC236}">
                <a16:creationId xmlns:a16="http://schemas.microsoft.com/office/drawing/2014/main" id="{AA0BDC94-78C8-4CD2-A767-21B283E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053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批量设置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复杂效果拆层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一组重复播放的编排</a:t>
            </a:r>
          </a:p>
        </p:txBody>
      </p:sp>
      <p:sp>
        <p:nvSpPr>
          <p:cNvPr id="22" name="融合文本_187">
            <a:extLst xmlns:a="http://schemas.openxmlformats.org/drawingml/2006/main">
              <a:ext uri="{FF2B5EF4-FFF2-40B4-BE49-F238E27FC236}">
                <a16:creationId xmlns:a16="http://schemas.microsoft.com/office/drawing/2014/main" id="{49EE58CE-0708-42D0-8073-5431F802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52495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2A15E8AE-55CB-44C7-A16F-DC5EB95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05 · 分享 · 工具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BB145A-057F-4C65-ACCC-346C9F6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从一个案例开始，跑通完整流程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9E1B059-EA06-46F3-BC32-C4217AEE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D7C15E-660E-48BA-A5BA-31427DF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EE248-1AF0-4856-AA44-DF9675A02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03c19bf164087"/>
          <a:stretch xmlns:a="http://schemas.openxmlformats.org/drawingml/2006/main"/>
        </p:blipFill>
        <p:spPr>
          <a:xfrm xmlns:a="http://schemas.openxmlformats.org/drawingml/2006/main">
            <a:off x="609600" y="1453515"/>
            <a:ext cx="7048500" cy="3665220"/>
          </a:xfrm>
          <a:prstGeom xmlns:a="http://schemas.openxmlformats.org/drawingml/2006/main" prst="rect">
            <a:avLst/>
          </a:prstGeom>
        </p:spPr>
      </p:pic>
      <p:sp>
        <p:nvSpPr>
          <p:cNvPr id="7" name="关系_151">
            <a:extLst xmlns:a="http://schemas.openxmlformats.org/drawingml/2006/main">
              <a:ext uri="{FF2B5EF4-FFF2-40B4-BE49-F238E27FC236}">
                <a16:creationId xmlns:a16="http://schemas.microsoft.com/office/drawing/2014/main" id="{10DD7B72-8287-4953-98DE-3460C39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15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融合文本_152">
            <a:extLst xmlns:a="http://schemas.openxmlformats.org/drawingml/2006/main">
              <a:ext uri="{FF2B5EF4-FFF2-40B4-BE49-F238E27FC236}">
                <a16:creationId xmlns:a16="http://schemas.microsoft.com/office/drawing/2014/main" id="{A1694057-69AA-4107-A0A4-03B8D559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UE 秀场回放</a:t>
            </a:r>
          </a:p>
        </p:txBody>
      </p:sp>
      <p:sp>
        <p:nvSpPr>
          <p:cNvPr id="9" name="融合文本_153">
            <a:extLst xmlns:a="http://schemas.openxmlformats.org/drawingml/2006/main">
              <a:ext uri="{FF2B5EF4-FFF2-40B4-BE49-F238E27FC236}">
                <a16:creationId xmlns:a16="http://schemas.microsoft.com/office/drawing/2014/main" id="{0B1B0FDC-32B6-4B2D-90C2-067D6511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烘焙器与 18 个案例</a:t>
            </a:r>
          </a:p>
        </p:txBody>
      </p:sp>
      <p:sp>
        <p:nvSpPr>
          <p:cNvPr id="10" name="融合文本_154">
            <a:extLst xmlns:a="http://schemas.openxmlformats.org/drawingml/2006/main">
              <a:ext uri="{FF2B5EF4-FFF2-40B4-BE49-F238E27FC236}">
                <a16:creationId xmlns:a16="http://schemas.microsoft.com/office/drawing/2014/main" id="{68470545-03F7-43BF-835B-E6C0A27C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346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选择一个效果，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完成调参、回放与导出。</a:t>
            </a:r>
          </a:p>
        </p:txBody>
      </p:sp>
      <p:sp>
        <p:nvSpPr>
          <p:cNvPr id="11" name="融合文本_155">
            <a:extLst xmlns:a="http://schemas.openxmlformats.org/drawingml/2006/main">
              <a:ext uri="{FF2B5EF4-FFF2-40B4-BE49-F238E27FC236}">
                <a16:creationId xmlns:a16="http://schemas.microsoft.com/office/drawing/2014/main" id="{15FB9439-C214-4483-9870-4543FCF1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14725"/>
            <a:ext cx="3467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已有分享包可先试用。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导入器与编排工具的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完整分发包后续补齐。</a:t>
            </a:r>
          </a:p>
        </p:txBody>
      </p:sp>
      <p:sp>
        <p:nvSpPr>
          <p:cNvPr id="12" name="融合文本_156">
            <a:extLst xmlns:a="http://schemas.openxmlformats.org/drawingml/2006/main">
              <a:ext uri="{FF2B5EF4-FFF2-40B4-BE49-F238E27FC236}">
                <a16:creationId xmlns:a16="http://schemas.microsoft.com/office/drawing/2014/main" id="{827C5DD1-57A0-4C06-8526-02D26A15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重复工作交给工具，方向与结果由人把关。</a:t>
            </a:r>
          </a:p>
        </p:txBody>
      </p:sp>
      <p:sp>
        <p:nvSpPr>
          <p:cNvPr id="13" name="融合文本_157">
            <a:extLst xmlns:a="http://schemas.openxmlformats.org/drawingml/2006/main">
              <a:ext uri="{FF2B5EF4-FFF2-40B4-BE49-F238E27FC236}">
                <a16:creationId xmlns:a16="http://schemas.microsoft.com/office/drawing/2014/main" id="{C8AF489D-FF2A-4297-9958-4CF8769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4" name="融合文本_188">
            <a:extLst xmlns:a="http://schemas.openxmlformats.org/drawingml/2006/main">
              <a:ext uri="{FF2B5EF4-FFF2-40B4-BE49-F238E27FC236}">
                <a16:creationId xmlns:a16="http://schemas.microsoft.com/office/drawing/2014/main" id="{CAB6BF24-7A9C-41B0-9920-9B7F0C7C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1725219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BE26D784-0D0D-45E6-B615-2686E45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附录 · 技术答疑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3A17F5-8D93-4AEA-A52B-D340249E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黑点与 Ramp 末格：修复与验证分开记录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9B75F798-1A3B-4721-A530-7D3172A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E2B6DE7-E907-402E-8CF1-6D392E3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融合文本_158">
            <a:extLst xmlns:a="http://schemas.openxmlformats.org/drawingml/2006/main">
              <a:ext uri="{FF2B5EF4-FFF2-40B4-BE49-F238E27FC236}">
                <a16:creationId xmlns:a16="http://schemas.microsoft.com/office/drawing/2014/main" id="{9C71EC56-D21A-46F9-A4B0-E8456088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黑点：让透明度负责消失</a:t>
            </a:r>
          </a:p>
        </p:txBody>
      </p:sp>
      <p:sp>
        <p:nvSpPr>
          <p:cNvPr id="7" name="融合文本_159">
            <a:extLst xmlns:a="http://schemas.openxmlformats.org/drawingml/2006/main">
              <a:ext uri="{FF2B5EF4-FFF2-40B4-BE49-F238E27FC236}">
                <a16:creationId xmlns:a16="http://schemas.microsoft.com/office/drawing/2014/main" id="{B86CD7D7-A719-4513-9476-379D967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9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实际导出参数变化</a:t>
            </a:r>
          </a:p>
        </p:txBody>
      </p:sp>
      <p:sp>
        <p:nvSpPr>
          <p:cNvPr id="8" name="关系_160">
            <a:extLst xmlns:a="http://schemas.openxmlformats.org/drawingml/2006/main">
              <a:ext uri="{FF2B5EF4-FFF2-40B4-BE49-F238E27FC236}">
                <a16:creationId xmlns:a16="http://schemas.microsoft.com/office/drawing/2014/main" id="{6B1A6855-101F-4CA1-BA94-BBFEAC66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362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9" name="关系_161">
            <a:extLst xmlns:a="http://schemas.openxmlformats.org/drawingml/2006/main">
              <a:ext uri="{FF2B5EF4-FFF2-40B4-BE49-F238E27FC236}">
                <a16:creationId xmlns:a16="http://schemas.microsoft.com/office/drawing/2014/main" id="{4DA6CD6B-46F6-4CB1-AAC7-3C3FA714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2362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0" name="融合文本_162">
            <a:extLst xmlns:a="http://schemas.openxmlformats.org/drawingml/2006/main">
              <a:ext uri="{FF2B5EF4-FFF2-40B4-BE49-F238E27FC236}">
                <a16:creationId xmlns:a16="http://schemas.microsoft.com/office/drawing/2014/main" id="{B9B1328F-0E4B-483D-8EBA-370D7CE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旧写法</a:t>
            </a:r>
          </a:p>
        </p:txBody>
      </p:sp>
      <p:sp>
        <p:nvSpPr>
          <p:cNvPr id="11" name="融合文本_163">
            <a:extLst xmlns:a="http://schemas.openxmlformats.org/drawingml/2006/main">
              <a:ext uri="{FF2B5EF4-FFF2-40B4-BE49-F238E27FC236}">
                <a16:creationId xmlns:a16="http://schemas.microsoft.com/office/drawing/2014/main" id="{EAED4CC7-FF67-4DF4-863D-6F2EEF14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新写法</a:t>
            </a:r>
          </a:p>
        </p:txBody>
      </p:sp>
      <p:sp>
        <p:nvSpPr>
          <p:cNvPr id="12" name="融合文本_164">
            <a:extLst xmlns:a="http://schemas.openxmlformats.org/drawingml/2006/main">
              <a:ext uri="{FF2B5EF4-FFF2-40B4-BE49-F238E27FC236}">
                <a16:creationId xmlns:a16="http://schemas.microsoft.com/office/drawing/2014/main" id="{B475A338-45D4-45C8-AE07-29AB7F05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RGB 变黑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Alpha = 1</a:t>
            </a:r>
          </a:p>
        </p:txBody>
      </p:sp>
      <p:sp>
        <p:nvSpPr>
          <p:cNvPr id="13" name="融合文本_165">
            <a:extLst xmlns:a="http://schemas.openxmlformats.org/drawingml/2006/main">
              <a:ext uri="{FF2B5EF4-FFF2-40B4-BE49-F238E27FC236}">
                <a16:creationId xmlns:a16="http://schemas.microsoft.com/office/drawing/2014/main" id="{C59B8057-5845-4C4F-AFDA-FA1D1D93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RGB 保持颜色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Alpha 淡出至 0</a:t>
            </a:r>
          </a:p>
        </p:txBody>
      </p:sp>
      <p:sp>
        <p:nvSpPr>
          <p:cNvPr id="14" name="融合文本_166">
            <a:extLst xmlns:a="http://schemas.openxmlformats.org/drawingml/2006/main">
              <a:ext uri="{FF2B5EF4-FFF2-40B4-BE49-F238E27FC236}">
                <a16:creationId xmlns:a16="http://schemas.microsoft.com/office/drawing/2014/main" id="{5A552415-3D6F-4C98-A1D0-61185EE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010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淡出与闪烁写进 Alpha，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加入 Scale Color/Life。</a:t>
            </a:r>
          </a:p>
        </p:txBody>
      </p:sp>
      <p:sp>
        <p:nvSpPr>
          <p:cNvPr id="15" name="融合文本_167">
            <a:extLst xmlns:a="http://schemas.openxmlformats.org/drawingml/2006/main">
              <a:ext uri="{FF2B5EF4-FFF2-40B4-BE49-F238E27FC236}">
                <a16:creationId xmlns:a16="http://schemas.microsoft.com/office/drawing/2014/main" id="{799C26C7-72FE-4FE8-A2E8-D7A1FCE0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501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参数已修订，新写法待 UE 验证。</a:t>
            </a:r>
          </a:p>
        </p:txBody>
      </p:sp>
      <p:sp>
        <p:nvSpPr>
          <p:cNvPr id="16" name="关系_168">
            <a:extLst xmlns:a="http://schemas.openxmlformats.org/drawingml/2006/main">
              <a:ext uri="{FF2B5EF4-FFF2-40B4-BE49-F238E27FC236}">
                <a16:creationId xmlns:a16="http://schemas.microsoft.com/office/drawing/2014/main" id="{8B8CBBFB-80C5-44F5-BFF2-DC2F7FC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9700"/>
            <a:ext cx="9525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融合文本_169">
            <a:extLst xmlns:a="http://schemas.openxmlformats.org/drawingml/2006/main">
              <a:ext uri="{FF2B5EF4-FFF2-40B4-BE49-F238E27FC236}">
                <a16:creationId xmlns:a16="http://schemas.microsoft.com/office/drawing/2014/main" id="{A5F176F9-4071-4238-9A0B-559C7215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10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Ramp：避开黑色采样端点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C24EB-7513-4D78-9CC4-2F061899D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57d6305924f3d"/>
          <a:stretch xmlns:a="http://schemas.openxmlformats.org/drawingml/2006/main"/>
        </p:blipFill>
        <p:spPr>
          <a:xfrm xmlns:a="http://schemas.openxmlformats.org/drawingml/2006/main">
            <a:off x="7291234" y="1952625"/>
            <a:ext cx="3476932" cy="2628900"/>
          </a:xfrm>
          <a:prstGeom xmlns:a="http://schemas.openxmlformats.org/drawingml/2006/main" prst="rect">
            <a:avLst/>
          </a:prstGeom>
        </p:spPr>
      </p:pic>
      <p:sp>
        <p:nvSpPr>
          <p:cNvPr id="19" name="关系_170">
            <a:extLst xmlns:a="http://schemas.openxmlformats.org/drawingml/2006/main">
              <a:ext uri="{FF2B5EF4-FFF2-40B4-BE49-F238E27FC236}">
                <a16:creationId xmlns:a16="http://schemas.microsoft.com/office/drawing/2014/main" id="{01293329-E47A-4B64-9AB9-429C69C4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338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20" name="融合文本_171">
            <a:extLst xmlns:a="http://schemas.openxmlformats.org/drawingml/2006/main">
              <a:ext uri="{FF2B5EF4-FFF2-40B4-BE49-F238E27FC236}">
                <a16:creationId xmlns:a16="http://schemas.microsoft.com/office/drawing/2014/main" id="{DA788CE1-A056-40B9-B585-13F59C5F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规则应用后的 UE 实播</a:t>
            </a:r>
          </a:p>
        </p:txBody>
      </p:sp>
      <p:sp>
        <p:nvSpPr>
          <p:cNvPr id="21" name="融合文本_172">
            <a:extLst xmlns:a="http://schemas.openxmlformats.org/drawingml/2006/main">
              <a:ext uri="{FF2B5EF4-FFF2-40B4-BE49-F238E27FC236}">
                <a16:creationId xmlns:a16="http://schemas.microsoft.com/office/drawing/2014/main" id="{0CFB2101-DF1A-4756-ACE6-7092A60C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29175"/>
            <a:ext cx="1762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0.98</a:t>
            </a:r>
          </a:p>
        </p:txBody>
      </p:sp>
      <p:sp>
        <p:nvSpPr>
          <p:cNvPr id="22" name="融合文本_173">
            <a:extLst xmlns:a="http://schemas.openxmlformats.org/drawingml/2006/main">
              <a:ext uri="{FF2B5EF4-FFF2-40B4-BE49-F238E27FC236}">
                <a16:creationId xmlns:a16="http://schemas.microsoft.com/office/drawing/2014/main" id="{5C8DA351-741F-4029-886C-337DCC2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05375"/>
            <a:ext cx="30765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EmissiveDissolve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写入导出与导入规则</a:t>
            </a:r>
          </a:p>
        </p:txBody>
      </p:sp>
      <p:sp>
        <p:nvSpPr>
          <p:cNvPr id="23" name="融合文本_174">
            <a:extLst xmlns:a="http://schemas.openxmlformats.org/drawingml/2006/main">
              <a:ext uri="{FF2B5EF4-FFF2-40B4-BE49-F238E27FC236}">
                <a16:creationId xmlns:a16="http://schemas.microsoft.com/office/drawing/2014/main" id="{7AD5F8C2-798E-478C-A9AE-C3F4CC6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816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用户确认有效；现存图为修后单侧。</a:t>
            </a:r>
          </a:p>
        </p:txBody>
      </p:sp>
      <p:sp>
        <p:nvSpPr>
          <p:cNvPr id="24" name="融合文本_189">
            <a:extLst xmlns:a="http://schemas.openxmlformats.org/drawingml/2006/main">
              <a:ext uri="{FF2B5EF4-FFF2-40B4-BE49-F238E27FC236}">
                <a16:creationId xmlns:a16="http://schemas.microsoft.com/office/drawing/2014/main" id="{CBF7CDA5-66C9-4C0E-A3C3-20C1849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865481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2026-10-30T01:28:43.9040000Z</dcterms:created>
  <dcterms:modified xsi:type="dcterms:W3CDTF">2026-10-30T01:28:43.9040000Z</dcterms:modified>
</coreProperties>
</file>